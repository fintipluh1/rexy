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Good afternoon. My name is Nikita Shutov, and this is my colleague Ilya Roldugin. We are cadets of the Ulyanovsk Civil Aviation Institute. Our topic is “Cosmic radiation exposure of aircraft crew members and their legal protection in Russia”. Our supervisor is Professor Natalia Boyko.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Why is this topic important? Our measurements show that at cruising level radiation is 11 to 22 times higher than on the ground. Since 1990, the International Commission on Radiological Protection has treated this exposure as part of the job. Two sanitary rules with special parts on aircrew were cancelled in 2021 and 2025. And with 900 flight hours a year, the dose can reach about 3.6 millisieverts. That is more than 70 percent of the limit. So our question is simple: does the law really protect each crew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Here you can see where this radiation comes from. Particles from the Sun and from deep space hit the atmosphere and create many secondary particles, for example neutrons. The higher we fly, the more radiation we get. On the right you can see how radiation can damage cells and DNA in the human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Our aim is to find gaps in the law and to suggest how to close them. We used legal analysis, the history of the law and comparison with foreign law. We had four tasks: to study the current rules, to see how they changed, to compare them with the European Union and Germany, and to make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First, our measurements. We measured radiation on two flights with a home-made Geiger counter. Near the ground the average reading was about 8 to 15 microroentgens per hour. At cruising level the average was 170 to 184. But a Geiger counter does not see neutrons, and neutrons give a large part of the dose. So the real annual dose must be calculated, not just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Here are single readings from the Novokuznetsk – Irkutsk flight: 13.2 before take-off, about 195 at flight level three-five-zero, and 9.9 after landing. These are single readings, so they are a little different from the averages in the table. Now Ilya will explain how the law regulates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Thank you, Nikita. This diagram shows the current system. At the top are federal laws: the law on radiation safety, the Air Code and the Labour Code. Below them are three groups of rules. The radiation safety standards set the limit: 5 millisieverts a year. The Ministry of Labour sets the rules for checking working conditions. The Ministry of Transport limits flight time. But no rule that we found says who must calculate the dose of each person,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Here are the exact texts. Clause 4.1 of the radiation safety standards sets the limit of 5 millisieverts a year. Clause 4.3 says that aircrew exposure is limited in the same way. And Article 56 of the Air Code says that the crew includes the flight crew and the cabin crew. So the limit covers pilots and flight attendants.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This table shows how the rules changed. Two sanitary rules had special parts about aircrew. The first was cancelled in 2021, the second in 2025. Only one short clause is left. It says that aircrew exposure is limited to 5 millisieverts a year. So the limit is still there, but we did not find any rules on how to keep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We found several gaps. First, apart from that one clause, we did not find any special rules for aircrew. Second, we did not find a rule that says who must calculate the dose of each crew member, or how. Third, the Federal Law requires records of individual doses, but we did not find a way for crew doses to get into the state dose register. As a result, nobody can check if a person stays under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This is Article 18 of the Federal Law on radiation safety. It says that individual doses must be recorded, also doses from natural radiation. Cosmic radiation is natural radiation. So the law asks for records, but there is no special procedure for aircrew.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There are more gaps. The check of working conditions is done on one sample flight. It cannot show the dose for a whole year on different routes. Flight time limits — 800 hours, or 900 with consent — do not take the dose into account. A crew member agrees to fly more without knowing his or her dose. The employer must tell workers about risks in general, but no rule says it must tell each crew member his or her personal dose. And for pregnant crew members there is only the general protection of the Labour Code. Nikita will now talk about foreign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Thank you, Ilya. This is the European rule, Article 35, paragraph 3 of the Euratom Directive. If a crew member may get more than 1 millisievert a year, the airline must assess the dose, take it into account in work schedules, and tell the worker his or her dose.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This table compares Russia, the European Union and Germany. In Europe and in Germany the dose is calculated for each person. It is used in work schedules, and the worker gets his or her dose. For a pregnant crew member, the dose to the baby must not be more than 1 millisievert. In Russia we did not find such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So what do we propose? First, the sanitary rules should say: if a crew member may get more than 1 millisievert a year, the airline must calculate the personal dose, appoint a responsible person and keep records. Second, there should be a control level below the limit. When a person reaches it, the airline must change his or her schedule. Third, the sanitary service should approve one method to calculate the dose from real routes, flight levels and flight time. Ilya will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We also propose four more steps. Crew doses should go into the state dose register, and each worker should get his or her dose every year. The order of the Ministry of Transport should include the dose in work schedules. A crew member should agree to 900 hours only after he or she knows his or her dose. A pregnant crew member should be able to move to ground work or to low-dose flights. And the rules for checking working conditions should include cosmic radiation when they are revised before 2029.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To sum up. Russia has a dose limit for aircrew: 5 millisieverts a year. But we did not find any rule that says how to keep to this limit: who must calculate each crew member's dose and how to record it. The check of working conditions and the flight time limits do not solve this. We propose to fix this, using the European rules as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Here is the list of our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Thank you for your attention. We are ready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Титульный слайд">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Заголовок и объект">
    <p:bg>
      <p:bgPr>
        <a:solidFill>
          <a:schemeClr val="bg1"/>
        </a:solidFill>
      </p:bgPr>
    </p:bg>
    <p:spTree>
      <p:nvGrpSpPr>
        <p:cNvPr id="1" name=""/>
        <p:cNvGrpSpPr/>
        <p:nvPr/>
      </p:nvGrpSpPr>
      <p:grpSpPr>
        <a:xfrm>
          <a:off x="0" y="0"/>
          <a:ext cx="0" cy="0"/>
          <a:chOff x="0" y="0"/>
          <a:chExt cx="0" cy="0"/>
        </a:xfrm>
      </p:grpSpPr>
      <p:pic>
        <p:nvPicPr>
          <p:cNvPr id="2" name="Image 0" descr="Эмблема УИ ГА">    </p:cNvPr>
          <p:cNvPicPr>
            <a:picLocks noChangeAspect="1"/>
          </p:cNvPicPr>
          <p:nvPr/>
        </p:nvPicPr>
        <p:blipFill>
          <a:blip r:embed="rId1"/>
          <a:stretch>
            <a:fillRect/>
          </a:stretch>
        </p:blipFill>
        <p:spPr>
          <a:xfrm>
            <a:off x="365760" y="320040"/>
            <a:ext cx="822960" cy="822960"/>
          </a:xfrm>
          <a:prstGeom prst="rect">
            <a:avLst/>
          </a:prstGeom>
        </p:spPr>
      </p:pic>
      <p:sp>
        <p:nvSpPr>
          <p:cNvPr id="3" name="Shape 0"/>
          <p:cNvSpPr/>
          <p:nvPr/>
        </p:nvSpPr>
        <p:spPr>
          <a:xfrm>
            <a:off x="1325880" y="1115568"/>
            <a:ext cx="10317175" cy="0"/>
          </a:xfrm>
          <a:prstGeom prst="line">
            <a:avLst/>
          </a:prstGeom>
          <a:noFill/>
          <a:ln w="19050">
            <a:solidFill>
              <a:schemeClr val="tx2"/>
            </a:solidFill>
            <a:prstDash val="solid"/>
          </a:ln>
        </p:spPr>
      </p:sp>
      <p:sp>
        <p:nvSpPr>
          <p:cNvPr id="4" name="Text 1"/>
          <p:cNvSpPr/>
          <p:nvPr>
            <p:ph idx="102" type="title" hasCustomPrompt="1"/>
          </p:nvPr>
        </p:nvSpPr>
        <p:spPr>
          <a:xfrm>
            <a:off x="1325880" y="274320"/>
            <a:ext cx="9539935" cy="914400"/>
          </a:xfrm>
          <a:prstGeom prst="rect">
            <a:avLst/>
          </a:prstGeom>
          <a:noFill/>
          <a:ln/>
        </p:spPr>
        <p:txBody>
          <a:bodyPr wrap="square" rtlCol="0"/>
          <a:lstStyle>
            <a:lvl1pPr algn="l" indent="0" marL="0">
              <a:buNone/>
              <a:defRPr lang="ru-RU" altLang="en-US" sz="2800" b="1" dirty="0">
                <a:solidFill>
                  <a:schemeClr val="tx2"/>
                </a:solidFill>
              </a:defRPr>
            </a:lvl1pPr>
          </a:lstStyle>
          <a:p>
            <a:pPr algn="l" indent="0" marL="0">
              <a:buNone/>
            </a:pPr>
            <a:endParaRPr lang="ru-RU" sz="2800" dirty="0"/>
          </a:p>
        </p:txBody>
      </p:sp>
      <p:sp>
        <p:nvSpPr>
          <p:cNvPr id="5" name="Text 1"/>
          <p:cNvSpPr/>
          <p:nvPr>
            <p:ph idx="103" type="body" hasCustomPrompt="1"/>
          </p:nvPr>
        </p:nvSpPr>
        <p:spPr>
          <a:xfrm>
            <a:off x="548640" y="1371600"/>
            <a:ext cx="11094415" cy="4846320"/>
          </a:xfrm>
          <a:prstGeom prst="rect">
            <a:avLst/>
          </a:prstGeom>
          <a:noFill/>
          <a:ln/>
        </p:spPr>
        <p:txBody>
          <a:bodyPr wrap="square" rtlCol="0"/>
          <a:lstStyle>
            <a:lvl1pPr algn="l" indent="0" marL="0">
              <a:buNone/>
              <a:defRPr lang="ru-RU" altLang="en-US" sz="2400" dirty="0">
                <a:solidFill>
                  <a:schemeClr val="tx1"/>
                </a:solidFill>
              </a:defRPr>
            </a:lvl1pPr>
          </a:lstStyle>
          <a:p>
            <a:pPr algn="l" indent="0" marL="0">
              <a:buNone/>
            </a:pP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1003</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Только заголовок">
    <p:bg>
      <p:bgPr>
        <a:solidFill>
          <a:schemeClr val="bg1"/>
        </a:solidFill>
      </p:bgPr>
    </p:bg>
    <p:spTree>
      <p:nvGrpSpPr>
        <p:cNvPr id="1" name=""/>
        <p:cNvGrpSpPr/>
        <p:nvPr/>
      </p:nvGrpSpPr>
      <p:grpSpPr>
        <a:xfrm>
          <a:off x="0" y="0"/>
          <a:ext cx="0" cy="0"/>
          <a:chOff x="0" y="0"/>
          <a:chExt cx="0" cy="0"/>
        </a:xfrm>
      </p:grpSpPr>
      <p:pic>
        <p:nvPicPr>
          <p:cNvPr id="2" name="Image 0" descr="Эмблема УИ ГА">    </p:cNvPr>
          <p:cNvPicPr>
            <a:picLocks noChangeAspect="1"/>
          </p:cNvPicPr>
          <p:nvPr/>
        </p:nvPicPr>
        <p:blipFill>
          <a:blip r:embed="rId1"/>
          <a:stretch>
            <a:fillRect/>
          </a:stretch>
        </p:blipFill>
        <p:spPr>
          <a:xfrm>
            <a:off x="365760" y="320040"/>
            <a:ext cx="822960" cy="822960"/>
          </a:xfrm>
          <a:prstGeom prst="rect">
            <a:avLst/>
          </a:prstGeom>
        </p:spPr>
      </p:pic>
      <p:sp>
        <p:nvSpPr>
          <p:cNvPr id="3" name="Shape 0"/>
          <p:cNvSpPr/>
          <p:nvPr/>
        </p:nvSpPr>
        <p:spPr>
          <a:xfrm>
            <a:off x="1325880" y="1115568"/>
            <a:ext cx="10317175" cy="0"/>
          </a:xfrm>
          <a:prstGeom prst="line">
            <a:avLst/>
          </a:prstGeom>
          <a:noFill/>
          <a:ln w="19050">
            <a:solidFill>
              <a:schemeClr val="tx2"/>
            </a:solidFill>
            <a:prstDash val="solid"/>
          </a:ln>
        </p:spPr>
      </p:sp>
      <p:sp>
        <p:nvSpPr>
          <p:cNvPr id="4" name="Text 1"/>
          <p:cNvSpPr/>
          <p:nvPr>
            <p:ph idx="102" type="title" hasCustomPrompt="1"/>
          </p:nvPr>
        </p:nvSpPr>
        <p:spPr>
          <a:xfrm>
            <a:off x="1325880" y="274320"/>
            <a:ext cx="9539935" cy="914400"/>
          </a:xfrm>
          <a:prstGeom prst="rect">
            <a:avLst/>
          </a:prstGeom>
          <a:noFill/>
          <a:ln/>
        </p:spPr>
        <p:txBody>
          <a:bodyPr wrap="square" rtlCol="0"/>
          <a:lstStyle>
            <a:lvl1pPr algn="l" indent="0" marL="0">
              <a:buNone/>
              <a:defRPr lang="ru-RU" altLang="en-US" sz="2800" b="1" dirty="0">
                <a:solidFill>
                  <a:schemeClr val="tx2"/>
                </a:solidFill>
              </a:defRPr>
            </a:lvl1pPr>
          </a:lstStyle>
          <a:p>
            <a:pPr algn="l" indent="0" marL="0">
              <a:buNone/>
            </a:pPr>
            <a:endParaRPr lang="ru-RU" sz="28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1004</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null</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Эмблема УИ ГА">    </p:cNvPr>
          <p:cNvPicPr>
            <a:picLocks noChangeAspect="1"/>
          </p:cNvPicPr>
          <p:nvPr/>
        </p:nvPicPr>
        <p:blipFill>
          <a:blip r:embed="rId1"/>
          <a:stretch>
            <a:fillRect/>
          </a:stretch>
        </p:blipFill>
        <p:spPr>
          <a:xfrm>
            <a:off x="411480" y="274320"/>
            <a:ext cx="914400" cy="914400"/>
          </a:xfrm>
          <a:prstGeom prst="rect">
            <a:avLst/>
          </a:prstGeom>
        </p:spPr>
      </p:pic>
      <p:sp>
        <p:nvSpPr>
          <p:cNvPr id="3" name="Text 0"/>
          <p:cNvSpPr txBox="1"/>
          <p:nvPr/>
        </p:nvSpPr>
        <p:spPr>
          <a:xfrm>
            <a:off x="1417320" y="274320"/>
            <a:ext cx="9692640" cy="1417320"/>
          </a:xfrm>
          <a:prstGeom prst="rect">
            <a:avLst/>
          </a:prstGeom>
          <a:noFill/>
          <a:ln/>
        </p:spPr>
        <p:txBody>
          <a:bodyPr wrap="square" lIns="635" tIns="635" rIns="635" bIns="635" rtlCol="0" anchor="t"/>
          <a:lstStyle/>
          <a:p>
            <a:pPr algn="ctr" indent="0" marL="0">
              <a:lnSpc>
                <a:spcPct val="100000"/>
              </a:lnSpc>
              <a:buNone/>
            </a:pPr>
            <a:r>
              <a:rPr lang="ru-RU" altLang="en-US" sz="1300" dirty="0">
                <a:solidFill>
                  <a:schemeClr val="tx1"/>
                </a:solidFill>
              </a:rPr>
              <a:t>МИНИСТЕРСТВО ТРАНСПОРТА РОССИЙСКОЙ ФЕДЕРАЦИИ</a:t>
            </a:r>
            <a:endParaRPr lang="ru-RU" sz="1300" dirty="0"/>
          </a:p>
          <a:p>
            <a:pPr algn="ctr" indent="0" marL="0">
              <a:lnSpc>
                <a:spcPct val="100000"/>
              </a:lnSpc>
              <a:buNone/>
            </a:pPr>
            <a:r>
              <a:rPr lang="ru-RU" altLang="en-US" sz="1300" dirty="0">
                <a:solidFill>
                  <a:schemeClr val="tx1"/>
                </a:solidFill>
              </a:rPr>
              <a:t>ФЕДЕРАЛЬНОЕ АГЕНТСТВО ВОЗДУШНОГО ТРАНСПОРТА</a:t>
            </a:r>
            <a:endParaRPr lang="ru-RU" sz="1300" dirty="0"/>
          </a:p>
          <a:p>
            <a:pPr algn="ctr" indent="0" marL="0">
              <a:lnSpc>
                <a:spcPct val="100000"/>
              </a:lnSpc>
              <a:buNone/>
            </a:pPr>
            <a:r>
              <a:rPr lang="ru-RU" altLang="en-US" sz="1300" dirty="0">
                <a:solidFill>
                  <a:schemeClr val="tx1"/>
                </a:solidFill>
              </a:rPr>
              <a:t>ФЕДЕРАЛЬНОЕ ГОСУДАРСТВЕННОЕ БЮДЖЕТНОЕ ОБРАЗОВАТЕЛЬНОЕ УЧРЕЖДЕНИЕ ВЫСШЕГО ОБРАЗОВАНИЯ</a:t>
            </a:r>
            <a:endParaRPr lang="ru-RU" sz="1300" dirty="0"/>
          </a:p>
          <a:p>
            <a:pPr algn="ctr" indent="0" marL="0">
              <a:lnSpc>
                <a:spcPct val="100000"/>
              </a:lnSpc>
              <a:buNone/>
            </a:pPr>
            <a:r>
              <a:rPr lang="ru-RU" altLang="en-US" sz="1300" dirty="0">
                <a:solidFill>
                  <a:schemeClr val="tx1"/>
                </a:solidFill>
              </a:rPr>
              <a:t>«УЛЬЯНОВСКИЙ ИНСТИТУТ ГРАЖДАНСКОЙ АВИАЦИИ ИМЕНИ ГЛАВНОГО МАРШАЛА АВИАЦИИ Б. П. БУГАЕВА»</a:t>
            </a:r>
            <a:endParaRPr lang="ru-RU" sz="1300" dirty="0"/>
          </a:p>
        </p:txBody>
      </p:sp>
      <p:sp>
        <p:nvSpPr>
          <p:cNvPr id="4" name="Text 1"/>
          <p:cNvSpPr txBox="1"/>
          <p:nvPr/>
        </p:nvSpPr>
        <p:spPr>
          <a:xfrm>
            <a:off x="1463040" y="1783080"/>
            <a:ext cx="9262872" cy="36576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Кафедра лётной эксплуатации и безопасности полётов</a:t>
            </a:r>
            <a:endParaRPr lang="ru-RU" sz="1600" dirty="0"/>
          </a:p>
        </p:txBody>
      </p:sp>
      <p:sp>
        <p:nvSpPr>
          <p:cNvPr id="5" name="Text 2"/>
          <p:cNvSpPr txBox="1"/>
          <p:nvPr/>
        </p:nvSpPr>
        <p:spPr>
          <a:xfrm>
            <a:off x="1463040" y="2240280"/>
            <a:ext cx="9262872" cy="411480"/>
          </a:xfrm>
          <a:prstGeom prst="rect">
            <a:avLst/>
          </a:prstGeom>
          <a:noFill/>
          <a:ln/>
        </p:spPr>
        <p:txBody>
          <a:bodyPr wrap="square" lIns="635" tIns="635" rIns="635" bIns="635" rtlCol="0" anchor="t"/>
          <a:lstStyle/>
          <a:p>
            <a:pPr algn="ctr" indent="0" marL="0">
              <a:buNone/>
            </a:pPr>
            <a:r>
              <a:rPr lang="ru-RU" altLang="en-US" sz="2000" b="1" dirty="0">
                <a:solidFill>
                  <a:schemeClr val="tx1"/>
                </a:solidFill>
              </a:rPr>
              <a:t>ДОКЛАД</a:t>
            </a:r>
            <a:endParaRPr lang="ru-RU" sz="2000" dirty="0"/>
          </a:p>
        </p:txBody>
      </p:sp>
      <p:sp>
        <p:nvSpPr>
          <p:cNvPr id="6" name="Text 3"/>
          <p:cNvSpPr txBox="1"/>
          <p:nvPr/>
        </p:nvSpPr>
        <p:spPr>
          <a:xfrm>
            <a:off x="731520" y="2651760"/>
            <a:ext cx="10725912" cy="1097280"/>
          </a:xfrm>
          <a:prstGeom prst="rect">
            <a:avLst/>
          </a:prstGeom>
          <a:noFill/>
          <a:ln/>
        </p:spPr>
        <p:txBody>
          <a:bodyPr wrap="square" lIns="635" tIns="635" rIns="635" bIns="635" rtlCol="0" anchor="ctr"/>
          <a:lstStyle/>
          <a:p>
            <a:pPr algn="ctr" indent="0" marL="0">
              <a:buNone/>
            </a:pPr>
            <a:r>
              <a:rPr lang="ru-RU" altLang="en-US" sz="2400" b="1" dirty="0">
                <a:solidFill>
                  <a:schemeClr val="tx2"/>
                </a:solidFill>
                <a:latin typeface="Cambria" pitchFamily="34" charset="0"/>
                <a:ea typeface="Cambria" pitchFamily="34" charset="-122"/>
                <a:cs typeface="Cambria" pitchFamily="34" charset="-120"/>
              </a:rPr>
              <a:t>«Космическое облучение членов экипажей воздушных судов и их правовая защита в Российской Федерации»</a:t>
            </a:r>
            <a:endParaRPr lang="ru-RU" sz="2400" dirty="0"/>
          </a:p>
        </p:txBody>
      </p:sp>
      <p:sp>
        <p:nvSpPr>
          <p:cNvPr id="7" name="Text 4"/>
          <p:cNvSpPr txBox="1"/>
          <p:nvPr/>
        </p:nvSpPr>
        <p:spPr>
          <a:xfrm>
            <a:off x="1463040" y="3703320"/>
            <a:ext cx="9262872" cy="36576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по дисциплине «Воздушное право»</a:t>
            </a:r>
            <a:endParaRPr lang="ru-RU" sz="1600" dirty="0"/>
          </a:p>
        </p:txBody>
      </p:sp>
      <p:sp>
        <p:nvSpPr>
          <p:cNvPr id="8" name="Text 5"/>
          <p:cNvSpPr txBox="1"/>
          <p:nvPr/>
        </p:nvSpPr>
        <p:spPr>
          <a:xfrm>
            <a:off x="6675120" y="4206240"/>
            <a:ext cx="4983480" cy="1783080"/>
          </a:xfrm>
          <a:prstGeom prst="rect">
            <a:avLst/>
          </a:prstGeom>
          <a:noFill/>
          <a:ln/>
        </p:spPr>
        <p:txBody>
          <a:bodyPr wrap="square" lIns="635" tIns="635" rIns="635" bIns="635" rtlCol="0" anchor="t"/>
          <a:lstStyle/>
          <a:p>
            <a:pPr algn="l" indent="0" marL="0">
              <a:buNone/>
            </a:pPr>
            <a:r>
              <a:rPr lang="ru-RU" altLang="en-US" sz="1600" b="1" dirty="0">
                <a:solidFill>
                  <a:schemeClr val="tx1"/>
                </a:solidFill>
              </a:rPr>
              <a:t>Выполнили:</a:t>
            </a:r>
            <a:endParaRPr lang="ru-RU" sz="1600" dirty="0"/>
          </a:p>
          <a:p>
            <a:pPr algn="l" indent="0" marL="0">
              <a:buNone/>
            </a:pPr>
            <a:r>
              <a:rPr lang="ru-RU" altLang="en-US" sz="1600" dirty="0">
                <a:solidFill>
                  <a:schemeClr val="tx1"/>
                </a:solidFill>
              </a:rPr>
              <a:t>курсанты группы П-24-4</a:t>
            </a:r>
            <a:endParaRPr lang="ru-RU" sz="1600" dirty="0"/>
          </a:p>
          <a:p>
            <a:pPr algn="l" indent="0" marL="0">
              <a:buNone/>
            </a:pPr>
            <a:r>
              <a:rPr lang="ru-RU" altLang="en-US" sz="1600" dirty="0">
                <a:solidFill>
                  <a:schemeClr val="tx1"/>
                </a:solidFill>
              </a:rPr>
              <a:t>Шутов Н. Р., Ролдугин И. Д.</a:t>
            </a:r>
            <a:endParaRPr lang="ru-RU" sz="1600" dirty="0"/>
          </a:p>
          <a:p>
            <a:pPr algn="l" indent="0" marL="0">
              <a:buNone/>
            </a:pPr>
            <a:r>
              <a:rPr lang="ru-RU" altLang="en-US" sz="1600" b="1" dirty="0">
                <a:solidFill>
                  <a:schemeClr val="tx1"/>
                </a:solidFill>
              </a:rPr>
              <a:t>Научный руководитель:</a:t>
            </a:r>
            <a:endParaRPr lang="ru-RU" sz="1600" dirty="0"/>
          </a:p>
          <a:p>
            <a:pPr algn="l" indent="0" marL="0">
              <a:buNone/>
            </a:pPr>
            <a:r>
              <a:rPr lang="ru-RU" altLang="en-US" sz="1600" dirty="0">
                <a:solidFill>
                  <a:schemeClr val="tx1"/>
                </a:solidFill>
              </a:rPr>
              <a:t>профессор кафедры ЛЭиБП, д-р ист. наук,</a:t>
            </a:r>
            <a:endParaRPr lang="ru-RU" sz="1600" dirty="0"/>
          </a:p>
          <a:p>
            <a:pPr algn="l" indent="0" marL="0">
              <a:buNone/>
            </a:pPr>
            <a:r>
              <a:rPr lang="ru-RU" altLang="en-US" sz="1600" dirty="0">
                <a:solidFill>
                  <a:schemeClr val="tx1"/>
                </a:solidFill>
              </a:rPr>
              <a:t>канд. юрид. наук, доцент Бойко Н. С.</a:t>
            </a:r>
            <a:endParaRPr lang="ru-RU" sz="1600" dirty="0"/>
          </a:p>
        </p:txBody>
      </p:sp>
      <p:sp>
        <p:nvSpPr>
          <p:cNvPr id="9" name="Text 6"/>
          <p:cNvSpPr txBox="1"/>
          <p:nvPr/>
        </p:nvSpPr>
        <p:spPr>
          <a:xfrm>
            <a:off x="4270248" y="6263640"/>
            <a:ext cx="3657600" cy="36576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Ульяновск 2026</a:t>
            </a:r>
            <a:endParaRPr lang="ru-RU"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Актуальность темы</a:t>
            </a:r>
            <a:endParaRPr lang="ru-RU" sz="2800" dirty="0"/>
          </a:p>
        </p:txBody>
      </p:sp>
      <p:sp>
        <p:nvSpPr>
          <p:cNvPr id="3" name="Text 1"/>
          <p:cNvSpPr/>
          <p:nvPr>
            <p:ph idx="103"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dirty="0">
                <a:solidFill>
                  <a:schemeClr val="tx1"/>
                </a:solidFill>
              </a:rPr>
              <a:t>На эшелоне радиационный фон в 11–⁠22 раза выше, чем у земли (по нашим измерениям)</a:t>
            </a:r>
            <a:endParaRPr lang="ru-RU" sz="2400" dirty="0"/>
          </a:p>
          <a:p>
            <a:pPr algn="l" marL="304800" indent="-304800">
              <a:spcAft>
                <a:spcPts val="1000"/>
              </a:spcAft>
              <a:buSzPct val="100000"/>
              <a:buChar char="–"/>
            </a:pPr>
            <a:r>
              <a:rPr lang="ru-RU" altLang="en-US" sz="2400" dirty="0">
                <a:solidFill>
                  <a:schemeClr val="tx1"/>
                </a:solidFill>
              </a:rPr>
              <a:t>С 1990 года Международная комиссия по радиологической защите (МКРЗ) относит облучение экипажей к профессиональному [1]</a:t>
            </a:r>
            <a:endParaRPr lang="ru-RU" sz="2400" dirty="0"/>
          </a:p>
          <a:p>
            <a:pPr algn="l" marL="304800" indent="-304800">
              <a:spcAft>
                <a:spcPts val="1000"/>
              </a:spcAft>
              <a:buSzPct val="100000"/>
              <a:buChar char="–"/>
            </a:pPr>
            <a:r>
              <a:rPr lang="ru-RU" altLang="en-US" sz="2400" dirty="0">
                <a:solidFill>
                  <a:schemeClr val="tx1"/>
                </a:solidFill>
              </a:rPr>
              <a:t>Утратили силу санитарные правила, содержавшие специальные нормы об облучении экипажей (2021 и 2025 годы) [7, 8]</a:t>
            </a:r>
            <a:endParaRPr lang="ru-RU" sz="2400" dirty="0"/>
          </a:p>
          <a:p>
            <a:pPr algn="l" marL="304800" indent="-304800">
              <a:spcAft>
                <a:spcPts val="1000"/>
              </a:spcAft>
              <a:buSzPct val="100000"/>
              <a:buChar char="–"/>
            </a:pPr>
            <a:r>
              <a:rPr lang="ru-RU" altLang="en-US" sz="2400" dirty="0">
                <a:solidFill>
                  <a:schemeClr val="tx1"/>
                </a:solidFill>
              </a:rPr>
              <a:t>По модельной оценке, при налёте 900 часов в год доза может составить около 3,6 мЗв – более 70 % предела [2]</a:t>
            </a:r>
            <a:endParaRPr lang="ru-RU" sz="2400" dirty="0"/>
          </a:p>
          <a:p>
            <a:pPr algn="l" marL="304800" indent="-304800">
              <a:spcAft>
                <a:spcPts val="1000"/>
              </a:spcAft>
              <a:buSzPct val="100000"/>
              <a:buChar char="–"/>
            </a:pPr>
            <a:r>
              <a:rPr lang="ru-RU" altLang="en-US" sz="2400" dirty="0">
                <a:solidFill>
                  <a:schemeClr val="tx1"/>
                </a:solidFill>
              </a:rPr>
              <a:t>Вопрос: обеспечено ли правом соблюдение предела дозы для каждого члена экипажа?</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2</a:t>
            </a:fld>
            <a:endParaRPr lang="ru-R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Воздействие космического излучения</a:t>
            </a:r>
            <a:endParaRPr lang="ru-RU" sz="2800" dirty="0"/>
          </a:p>
        </p:txBody>
      </p:sp>
      <p:pic>
        <p:nvPicPr>
          <p:cNvPr id="3" name="Image 0" descr="Схема: солнечные и галактические космические лучи, геомагнитное поле, каскад вторичных частиц в атмосфере — протоны, нейтроны, мюоны">    </p:cNvPr>
          <p:cNvPicPr>
            <a:picLocks noChangeAspect="1"/>
          </p:cNvPicPr>
          <p:nvPr/>
        </p:nvPicPr>
        <p:blipFill>
          <a:blip r:embed="rId1"/>
          <a:stretch>
            <a:fillRect/>
          </a:stretch>
        </p:blipFill>
        <p:spPr>
          <a:xfrm>
            <a:off x="1610203" y="1325880"/>
            <a:ext cx="2214833" cy="4206240"/>
          </a:xfrm>
          <a:prstGeom prst="rect">
            <a:avLst/>
          </a:prstGeom>
        </p:spPr>
      </p:pic>
      <p:sp>
        <p:nvSpPr>
          <p:cNvPr id="4" name="Подпись"/>
          <p:cNvSpPr txBox="1"/>
          <p:nvPr/>
        </p:nvSpPr>
        <p:spPr>
          <a:xfrm>
            <a:off x="1518763" y="5605272"/>
            <a:ext cx="2397713" cy="68580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Рисунок 1 – Космическое излучение в атмосфере Земли</a:t>
            </a:r>
            <a:endParaRPr lang="ru-RU" sz="1600" dirty="0"/>
          </a:p>
        </p:txBody>
      </p:sp>
      <p:pic>
        <p:nvPicPr>
          <p:cNvPr id="5" name="Image 1" descr="Инфографика: ионизация, повреждение ДНК и клеток, последствия различных доз">    </p:cNvPr>
          <p:cNvPicPr>
            <a:picLocks noChangeAspect="1"/>
          </p:cNvPicPr>
          <p:nvPr/>
        </p:nvPicPr>
        <p:blipFill>
          <a:blip r:embed="rId2"/>
          <a:stretch>
            <a:fillRect/>
          </a:stretch>
        </p:blipFill>
        <p:spPr>
          <a:xfrm>
            <a:off x="4190796" y="1325880"/>
            <a:ext cx="6390696" cy="4206240"/>
          </a:xfrm>
          <a:prstGeom prst="rect">
            <a:avLst/>
          </a:prstGeom>
        </p:spPr>
      </p:pic>
      <p:sp>
        <p:nvSpPr>
          <p:cNvPr id="6" name="Подпись"/>
          <p:cNvSpPr txBox="1"/>
          <p:nvPr/>
        </p:nvSpPr>
        <p:spPr>
          <a:xfrm>
            <a:off x="4099356" y="5605272"/>
            <a:ext cx="6573576" cy="68580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Рисунок 2 – Биологическое действие ионизирующего излучения (дозы в зивертах)</a:t>
            </a:r>
            <a:endParaRPr lang="ru-RU" sz="16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3</a:t>
            </a:fld>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Цель и задачи исследования</a:t>
            </a:r>
            <a:endParaRPr lang="ru-RU" sz="2800" dirty="0"/>
          </a:p>
        </p:txBody>
      </p:sp>
      <p:sp>
        <p:nvSpPr>
          <p:cNvPr id="3" name="Text 1"/>
          <p:cNvSpPr txBox="1"/>
          <p:nvPr/>
        </p:nvSpPr>
        <p:spPr>
          <a:xfrm>
            <a:off x="548640" y="1371600"/>
            <a:ext cx="11094415" cy="2194560"/>
          </a:xfrm>
          <a:prstGeom prst="rect">
            <a:avLst/>
          </a:prstGeom>
          <a:noFill/>
          <a:ln/>
        </p:spPr>
        <p:txBody>
          <a:bodyPr wrap="square" lIns="635" tIns="635" rIns="635" bIns="635" rtlCol="0" anchor="t"/>
          <a:lstStyle/>
          <a:p>
            <a:pPr algn="l" indent="0" marL="0">
              <a:spcAft>
                <a:spcPts val="1000"/>
              </a:spcAft>
              <a:buNone/>
            </a:pPr>
            <a:r>
              <a:rPr lang="ru-RU" altLang="en-US" sz="2400" b="1" dirty="0">
                <a:solidFill>
                  <a:schemeClr val="tx1"/>
                </a:solidFill>
              </a:rPr>
              <a:t>Цель: </a:t>
            </a:r>
            <a:pPr algn="l" indent="0" marL="0">
              <a:spcAft>
                <a:spcPts val="1000"/>
              </a:spcAft>
              <a:buNone/>
            </a:pPr>
            <a:r>
              <a:rPr lang="ru-RU" altLang="en-US" sz="2400" dirty="0">
                <a:solidFill>
                  <a:schemeClr val="tx1"/>
                </a:solidFill>
              </a:rPr>
              <a:t>выявить пробелы в правовом регулировании защиты членов экипажей воздушных судов от космического излучения и предложить пути их устранения.</a:t>
            </a:r>
            <a:endParaRPr lang="ru-RU" sz="2400" dirty="0"/>
          </a:p>
          <a:p>
            <a:pPr algn="l" indent="0" marL="0">
              <a:spcAft>
                <a:spcPts val="1000"/>
              </a:spcAft>
              <a:buNone/>
            </a:pPr>
            <a:r>
              <a:rPr lang="ru-RU" altLang="en-US" sz="2400" b="1" dirty="0">
                <a:solidFill>
                  <a:schemeClr val="tx1"/>
                </a:solidFill>
              </a:rPr>
              <a:t>Методы: </a:t>
            </a:r>
            <a:pPr algn="l" indent="0" marL="0">
              <a:spcAft>
                <a:spcPts val="1000"/>
              </a:spcAft>
              <a:buNone/>
            </a:pPr>
            <a:r>
              <a:rPr lang="ru-RU" altLang="en-US" sz="2400" dirty="0">
                <a:solidFill>
                  <a:schemeClr val="tx1"/>
                </a:solidFill>
              </a:rPr>
              <a:t>формально-юридический, историко-правовой, сравнительно-правовой.</a:t>
            </a:r>
            <a:endParaRPr lang="ru-RU" sz="2400" dirty="0"/>
          </a:p>
        </p:txBody>
      </p:sp>
      <p:sp>
        <p:nvSpPr>
          <p:cNvPr id="4" name="Text 2"/>
          <p:cNvSpPr txBox="1"/>
          <p:nvPr/>
        </p:nvSpPr>
        <p:spPr>
          <a:xfrm>
            <a:off x="548640" y="3611880"/>
            <a:ext cx="11094415" cy="411480"/>
          </a:xfrm>
          <a:prstGeom prst="rect">
            <a:avLst/>
          </a:prstGeom>
          <a:noFill/>
          <a:ln/>
        </p:spPr>
        <p:txBody>
          <a:bodyPr wrap="square" lIns="635" tIns="635" rIns="635" bIns="635" rtlCol="0" anchor="t"/>
          <a:lstStyle/>
          <a:p>
            <a:pPr indent="0" marL="0">
              <a:buNone/>
            </a:pPr>
            <a:r>
              <a:rPr lang="ru-RU" altLang="en-US" sz="2400" b="1" dirty="0">
                <a:solidFill>
                  <a:schemeClr val="tx1"/>
                </a:solidFill>
              </a:rPr>
              <a:t>Задачи:</a:t>
            </a:r>
            <a:endParaRPr lang="ru-RU" sz="2400" dirty="0"/>
          </a:p>
        </p:txBody>
      </p:sp>
      <p:sp>
        <p:nvSpPr>
          <p:cNvPr id="5" name="Text 3"/>
          <p:cNvSpPr txBox="1"/>
          <p:nvPr/>
        </p:nvSpPr>
        <p:spPr>
          <a:xfrm>
            <a:off x="548640" y="4069080"/>
            <a:ext cx="11094415" cy="2240280"/>
          </a:xfrm>
          <a:prstGeom prst="rect">
            <a:avLst/>
          </a:prstGeom>
          <a:noFill/>
          <a:ln/>
        </p:spPr>
        <p:txBody>
          <a:bodyPr wrap="square" lIns="635" tIns="635" rIns="635" bIns="635" rtlCol="0" anchor="t"/>
          <a:lstStyle/>
          <a:p>
            <a:pPr marL="342900" indent="-342900">
              <a:spcAft>
                <a:spcPts val="400"/>
              </a:spcAft>
              <a:buSzPct val="100000"/>
              <a:buFont typeface="+mj-lt"/>
              <a:buAutoNum type="arabicParenR" startAt="1"/>
            </a:pPr>
            <a:r>
              <a:rPr lang="ru-RU" altLang="en-US" sz="2400" dirty="0">
                <a:solidFill>
                  <a:schemeClr val="tx1"/>
                </a:solidFill>
              </a:rPr>
              <a:t>проанализировать действующие нормы российского права;</a:t>
            </a:r>
            <a:endParaRPr lang="ru-RU" sz="2400" dirty="0"/>
          </a:p>
          <a:p>
            <a:pPr marL="342900" indent="-342900">
              <a:spcAft>
                <a:spcPts val="400"/>
              </a:spcAft>
              <a:buSzPct val="100000"/>
              <a:buFont typeface="+mj-lt"/>
              <a:buAutoNum type="arabicParenR" startAt="1"/>
            </a:pPr>
            <a:r>
              <a:rPr lang="ru-RU" altLang="en-US" sz="2400" dirty="0">
                <a:solidFill>
                  <a:schemeClr val="tx1"/>
                </a:solidFill>
              </a:rPr>
              <a:t>проследить изменения законодательства в 2021–⁠2026 годах;</a:t>
            </a:r>
            <a:endParaRPr lang="ru-RU" sz="2400" dirty="0"/>
          </a:p>
          <a:p>
            <a:pPr marL="342900" indent="-342900">
              <a:spcAft>
                <a:spcPts val="400"/>
              </a:spcAft>
              <a:buSzPct val="100000"/>
              <a:buFont typeface="+mj-lt"/>
              <a:buAutoNum type="arabicParenR" startAt="1"/>
            </a:pPr>
            <a:r>
              <a:rPr lang="ru-RU" altLang="en-US" sz="2400" dirty="0">
                <a:solidFill>
                  <a:schemeClr val="tx1"/>
                </a:solidFill>
              </a:rPr>
              <a:t>сравнить российское регулирование с правом ЕС и Германии;</a:t>
            </a:r>
            <a:endParaRPr lang="ru-RU" sz="2400" dirty="0"/>
          </a:p>
          <a:p>
            <a:pPr marL="342900" indent="-342900">
              <a:spcAft>
                <a:spcPts val="400"/>
              </a:spcAft>
              <a:buSzPct val="100000"/>
              <a:buFont typeface="+mj-lt"/>
              <a:buAutoNum type="arabicParenR" startAt="1"/>
            </a:pPr>
            <a:r>
              <a:rPr lang="ru-RU" altLang="en-US" sz="2400" dirty="0">
                <a:solidFill>
                  <a:schemeClr val="tx1"/>
                </a:solidFill>
              </a:rPr>
              <a:t>сформулировать предложения по совершенствованию законодательства.</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4</a:t>
            </a:fld>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Измерения на борту</a:t>
            </a:r>
            <a:endParaRPr lang="ru-RU" sz="2800" dirty="0"/>
          </a:p>
        </p:txBody>
      </p:sp>
      <p:sp>
        <p:nvSpPr>
          <p:cNvPr id="3" name="Text 1"/>
          <p:cNvSpPr txBox="1"/>
          <p:nvPr/>
        </p:nvSpPr>
        <p:spPr>
          <a:xfrm>
            <a:off x="548640" y="1280160"/>
            <a:ext cx="6675120" cy="411480"/>
          </a:xfrm>
          <a:prstGeom prst="rect">
            <a:avLst/>
          </a:prstGeom>
          <a:noFill/>
          <a:ln/>
        </p:spPr>
        <p:txBody>
          <a:bodyPr wrap="square" lIns="635" tIns="635" rIns="635" bIns="635" rtlCol="0" anchor="t"/>
          <a:lstStyle/>
          <a:p>
            <a:pPr indent="0" marL="0">
              <a:buNone/>
            </a:pPr>
            <a:r>
              <a:rPr lang="ru-RU" altLang="en-US" sz="2000" dirty="0">
                <a:solidFill>
                  <a:schemeClr val="tx1"/>
                </a:solidFill>
              </a:rPr>
              <a:t>Таблица 1 – Показания дозиметра на этапах полёта</a:t>
            </a:r>
            <a:endParaRPr lang="ru-RU"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675120" cy="914400"/>
        </p:xfrm>
        <a:graphic>
          <a:graphicData uri="http://schemas.openxmlformats.org/drawingml/2006/table">
            <a:tbl>
              <a:tblPr/>
              <a:tblGrid>
                <a:gridCol w="2194560"/>
                <a:gridCol w="1417320"/>
                <a:gridCol w="1417320"/>
                <a:gridCol w="1645920"/>
              </a:tblGrid>
              <a:tr h="502920">
                <a:tc>
                  <a:txBody>
                    <a:bodyPr/>
                    <a:lstStyle/>
                    <a:p>
                      <a:pPr algn="ctr" indent="0" marL="0">
                        <a:buNone/>
                      </a:pPr>
                      <a:r>
                        <a:rPr lang="ru-RU" sz="1800" b="1" dirty="0">
                          <a:solidFill>
                            <a:schemeClr val="bg1"/>
                          </a:solidFill>
                          <a:latin typeface="Calibri" pitchFamily="34" charset="0"/>
                          <a:ea typeface="Calibri" pitchFamily="34" charset="-122"/>
                          <a:cs typeface="Calibri" pitchFamily="34" charset="-120"/>
                        </a:rPr>
                        <a:t>Место измерения</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c>
                  <a:txBody>
                    <a:bodyPr/>
                    <a:lstStyle/>
                    <a:p>
                      <a:pPr algn="ctr" indent="0" marL="0">
                        <a:buNone/>
                      </a:pPr>
                      <a:r>
                        <a:rPr lang="ru-RU" sz="1800" b="1" dirty="0">
                          <a:solidFill>
                            <a:schemeClr val="bg1"/>
                          </a:solidFill>
                          <a:latin typeface="Calibri" pitchFamily="34" charset="0"/>
                          <a:ea typeface="Calibri" pitchFamily="34" charset="-122"/>
                          <a:cs typeface="Calibri" pitchFamily="34" charset="-120"/>
                        </a:rPr>
                        <a:t>Этап полёта</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c>
                  <a:txBody>
                    <a:bodyPr/>
                    <a:lstStyle/>
                    <a:p>
                      <a:pPr algn="ctr" indent="0" marL="0">
                        <a:buNone/>
                      </a:pPr>
                      <a:r>
                        <a:rPr lang="ru-RU" sz="1800" b="1" dirty="0">
                          <a:solidFill>
                            <a:schemeClr val="bg1"/>
                          </a:solidFill>
                          <a:latin typeface="Calibri" pitchFamily="34" charset="0"/>
                          <a:ea typeface="Calibri" pitchFamily="34" charset="-122"/>
                          <a:cs typeface="Calibri" pitchFamily="34" charset="-120"/>
                        </a:rPr>
                        <a:t>Высота, фут</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c>
                  <a:txBody>
                    <a:bodyPr/>
                    <a:lstStyle/>
                    <a:p>
                      <a:pPr algn="ctr" indent="0" marL="0">
                        <a:buNone/>
                      </a:pPr>
                      <a:r>
                        <a:rPr lang="ru-RU" sz="1800" b="1" dirty="0">
                          <a:solidFill>
                            <a:schemeClr val="bg1"/>
                          </a:solidFill>
                          <a:latin typeface="Calibri" pitchFamily="34" charset="0"/>
                          <a:ea typeface="Calibri" pitchFamily="34" charset="-122"/>
                          <a:cs typeface="Calibri" pitchFamily="34" charset="-120"/>
                        </a:rPr>
                        <a:t>Средние показания, мкР/ч</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r>
              <a:tr h="502920">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Новокузнецк</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взлёт</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1023</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10,8</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r>
              <a:tr h="502920">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т. NILRA</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полёт</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35 000</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184,0</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r>
              <a:tr h="502920">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Иркутск</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посадка</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1575</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11,0</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r>
              <a:tr h="502920">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Екатеринбург</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взлёт</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740</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7,8</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r>
              <a:tr h="502920">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т. NAPOR</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полёт</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33 055</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170,0</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r>
              <a:tr h="502920">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Чита</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посадка</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2220</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ctr" indent="0" marL="0">
                        <a:buNone/>
                      </a:pPr>
                      <a:r>
                        <a:rPr lang="ru-RU" sz="1800" dirty="0">
                          <a:solidFill>
                            <a:schemeClr val="tx1"/>
                          </a:solidFill>
                          <a:latin typeface="Calibri" pitchFamily="34" charset="0"/>
                          <a:ea typeface="Calibri" pitchFamily="34" charset="-122"/>
                          <a:cs typeface="Calibri" pitchFamily="34" charset="-120"/>
                        </a:rPr>
                        <a:t>15,0</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7543800" y="1737360"/>
            <a:ext cx="4099255" cy="448056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200" dirty="0">
                <a:solidFill>
                  <a:schemeClr val="tx1"/>
                </a:solidFill>
              </a:rPr>
              <a:t>на эшелоне показания в 11–⁠22 раза выше, чем у земли</a:t>
            </a:r>
            <a:endParaRPr lang="ru-RU" sz="2200" dirty="0"/>
          </a:p>
          <a:p>
            <a:pPr algn="l" marL="304800" indent="-304800">
              <a:spcAft>
                <a:spcPts val="1000"/>
              </a:spcAft>
              <a:buSzPct val="100000"/>
              <a:buChar char="–"/>
            </a:pPr>
            <a:r>
              <a:rPr lang="ru-RU" altLang="en-US" sz="2200" dirty="0">
                <a:solidFill>
                  <a:schemeClr val="tx1"/>
                </a:solidFill>
              </a:rPr>
              <a:t>счётчик Гейгера почти не регистрирует нейтроны</a:t>
            </a:r>
            <a:endParaRPr lang="ru-RU" sz="2200" dirty="0"/>
          </a:p>
          <a:p>
            <a:pPr algn="l" marL="304800" indent="-304800">
              <a:spcAft>
                <a:spcPts val="1000"/>
              </a:spcAft>
              <a:buSzPct val="100000"/>
              <a:buChar char="–"/>
            </a:pPr>
            <a:r>
              <a:rPr lang="ru-RU" altLang="en-US" sz="2200" dirty="0">
                <a:solidFill>
                  <a:schemeClr val="tx1"/>
                </a:solidFill>
              </a:rPr>
              <a:t>поэтому годовую дозу определяют расчётом по маршрутам и времени полёта [2]</a:t>
            </a:r>
            <a:endParaRPr lang="ru-RU" sz="22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5</a:t>
            </a:fld>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Показания на рейсе Новокузнецк – Иркутск</a:t>
            </a:r>
            <a:endParaRPr lang="ru-RU" sz="2800" dirty="0"/>
          </a:p>
        </p:txBody>
      </p:sp>
      <p:pic>
        <p:nvPicPr>
          <p:cNvPr id="3" name="Image 0" descr="Дозиметр перед взлётом в аэропорту Новокузнецк: 13,2 мкР/ч">    </p:cNvPr>
          <p:cNvPicPr>
            <a:picLocks noChangeAspect="1"/>
          </p:cNvPicPr>
          <p:nvPr/>
        </p:nvPicPr>
        <p:blipFill>
          <a:blip r:embed="rId1"/>
          <a:stretch>
            <a:fillRect/>
          </a:stretch>
        </p:blipFill>
        <p:spPr>
          <a:xfrm>
            <a:off x="548640" y="1234440"/>
            <a:ext cx="2606040" cy="3694176"/>
          </a:xfrm>
          <a:prstGeom prst="rect">
            <a:avLst/>
          </a:prstGeom>
        </p:spPr>
      </p:pic>
      <p:sp>
        <p:nvSpPr>
          <p:cNvPr id="4" name="Text 1"/>
          <p:cNvSpPr txBox="1"/>
          <p:nvPr/>
        </p:nvSpPr>
        <p:spPr>
          <a:xfrm>
            <a:off x="457200" y="4974336"/>
            <a:ext cx="2788920" cy="320040"/>
          </a:xfrm>
          <a:prstGeom prst="rect">
            <a:avLst/>
          </a:prstGeom>
          <a:noFill/>
          <a:ln/>
        </p:spPr>
        <p:txBody>
          <a:bodyPr wrap="square" lIns="635" tIns="635" rIns="635" bIns="635" rtlCol="0" anchor="t"/>
          <a:lstStyle/>
          <a:p>
            <a:pPr algn="ctr" indent="0" marL="0">
              <a:buNone/>
            </a:pPr>
            <a:r>
              <a:rPr lang="ru-RU" altLang="en-US" sz="1400" dirty="0">
                <a:solidFill>
                  <a:schemeClr val="tx1"/>
                </a:solidFill>
              </a:rPr>
              <a:t>а</a:t>
            </a:r>
            <a:endParaRPr lang="ru-RU" sz="1400" dirty="0"/>
          </a:p>
        </p:txBody>
      </p:sp>
      <p:pic>
        <p:nvPicPr>
          <p:cNvPr id="5" name="Image 1" descr="Дозиметр на эшелоне FL350: 194,8 мкР/ч">    </p:cNvPr>
          <p:cNvPicPr>
            <a:picLocks noChangeAspect="1"/>
          </p:cNvPicPr>
          <p:nvPr/>
        </p:nvPicPr>
        <p:blipFill>
          <a:blip r:embed="rId2"/>
          <a:stretch>
            <a:fillRect/>
          </a:stretch>
        </p:blipFill>
        <p:spPr>
          <a:xfrm>
            <a:off x="3378098" y="1234440"/>
            <a:ext cx="2606040" cy="3694176"/>
          </a:xfrm>
          <a:prstGeom prst="rect">
            <a:avLst/>
          </a:prstGeom>
        </p:spPr>
      </p:pic>
      <p:sp>
        <p:nvSpPr>
          <p:cNvPr id="6" name="Text 2"/>
          <p:cNvSpPr txBox="1"/>
          <p:nvPr/>
        </p:nvSpPr>
        <p:spPr>
          <a:xfrm>
            <a:off x="3286658" y="4974336"/>
            <a:ext cx="2788920" cy="320040"/>
          </a:xfrm>
          <a:prstGeom prst="rect">
            <a:avLst/>
          </a:prstGeom>
          <a:noFill/>
          <a:ln/>
        </p:spPr>
        <p:txBody>
          <a:bodyPr wrap="square" lIns="635" tIns="635" rIns="635" bIns="635" rtlCol="0" anchor="t"/>
          <a:lstStyle/>
          <a:p>
            <a:pPr algn="ctr" indent="0" marL="0">
              <a:buNone/>
            </a:pPr>
            <a:r>
              <a:rPr lang="ru-RU" altLang="en-US" sz="1400" dirty="0">
                <a:solidFill>
                  <a:schemeClr val="tx1"/>
                </a:solidFill>
              </a:rPr>
              <a:t>б</a:t>
            </a:r>
            <a:endParaRPr lang="ru-RU" sz="1400" dirty="0"/>
          </a:p>
        </p:txBody>
      </p:sp>
      <p:pic>
        <p:nvPicPr>
          <p:cNvPr id="7" name="Image 2" descr="Дозиметр после посадки в аэропорту Иркутск: 9,9 мкР/ч">    </p:cNvPr>
          <p:cNvPicPr>
            <a:picLocks noChangeAspect="1"/>
          </p:cNvPicPr>
          <p:nvPr/>
        </p:nvPicPr>
        <p:blipFill>
          <a:blip r:embed="rId3"/>
          <a:stretch>
            <a:fillRect/>
          </a:stretch>
        </p:blipFill>
        <p:spPr>
          <a:xfrm>
            <a:off x="6207557" y="1234440"/>
            <a:ext cx="2606040" cy="3694176"/>
          </a:xfrm>
          <a:prstGeom prst="rect">
            <a:avLst/>
          </a:prstGeom>
        </p:spPr>
      </p:pic>
      <p:sp>
        <p:nvSpPr>
          <p:cNvPr id="8" name="Text 3"/>
          <p:cNvSpPr txBox="1"/>
          <p:nvPr/>
        </p:nvSpPr>
        <p:spPr>
          <a:xfrm>
            <a:off x="6116117" y="4974336"/>
            <a:ext cx="2788920" cy="320040"/>
          </a:xfrm>
          <a:prstGeom prst="rect">
            <a:avLst/>
          </a:prstGeom>
          <a:noFill/>
          <a:ln/>
        </p:spPr>
        <p:txBody>
          <a:bodyPr wrap="square" lIns="635" tIns="635" rIns="635" bIns="635" rtlCol="0" anchor="t"/>
          <a:lstStyle/>
          <a:p>
            <a:pPr algn="ctr" indent="0" marL="0">
              <a:buNone/>
            </a:pPr>
            <a:r>
              <a:rPr lang="ru-RU" altLang="en-US" sz="1400" dirty="0">
                <a:solidFill>
                  <a:schemeClr val="tx1"/>
                </a:solidFill>
              </a:rPr>
              <a:t>в</a:t>
            </a:r>
            <a:endParaRPr lang="ru-RU" sz="1400" dirty="0"/>
          </a:p>
        </p:txBody>
      </p:sp>
      <p:pic>
        <p:nvPicPr>
          <p:cNvPr id="9" name="Image 3" descr="Пилотажный дисплей: эшелон FL350, точка NILRA в 0,6 NM">    </p:cNvPr>
          <p:cNvPicPr>
            <a:picLocks noChangeAspect="1"/>
          </p:cNvPicPr>
          <p:nvPr/>
        </p:nvPicPr>
        <p:blipFill>
          <a:blip r:embed="rId4"/>
          <a:stretch>
            <a:fillRect/>
          </a:stretch>
        </p:blipFill>
        <p:spPr>
          <a:xfrm>
            <a:off x="9037015" y="1234440"/>
            <a:ext cx="2606040" cy="3694176"/>
          </a:xfrm>
          <a:prstGeom prst="rect">
            <a:avLst/>
          </a:prstGeom>
        </p:spPr>
      </p:pic>
      <p:sp>
        <p:nvSpPr>
          <p:cNvPr id="10" name="Text 4"/>
          <p:cNvSpPr txBox="1"/>
          <p:nvPr/>
        </p:nvSpPr>
        <p:spPr>
          <a:xfrm>
            <a:off x="8945575" y="4974336"/>
            <a:ext cx="2788920" cy="320040"/>
          </a:xfrm>
          <a:prstGeom prst="rect">
            <a:avLst/>
          </a:prstGeom>
          <a:noFill/>
          <a:ln/>
        </p:spPr>
        <p:txBody>
          <a:bodyPr wrap="square" lIns="635" tIns="635" rIns="635" bIns="635" rtlCol="0" anchor="t"/>
          <a:lstStyle/>
          <a:p>
            <a:pPr algn="ctr" indent="0" marL="0">
              <a:buNone/>
            </a:pPr>
            <a:r>
              <a:rPr lang="ru-RU" altLang="en-US" sz="1400" dirty="0">
                <a:solidFill>
                  <a:schemeClr val="tx1"/>
                </a:solidFill>
              </a:rPr>
              <a:t>г</a:t>
            </a:r>
            <a:endParaRPr lang="ru-RU" sz="1400" dirty="0"/>
          </a:p>
        </p:txBody>
      </p:sp>
      <p:sp>
        <p:nvSpPr>
          <p:cNvPr id="11" name="Подпись"/>
          <p:cNvSpPr txBox="1"/>
          <p:nvPr/>
        </p:nvSpPr>
        <p:spPr>
          <a:xfrm>
            <a:off x="548640" y="5440680"/>
            <a:ext cx="11094415" cy="73152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Рисунок 3 – Текущие показания дозиметра: а – перед взлётом (13,2 мкР/ч); б – на эшелоне FL350 (194,8 мкР/ч); в – после посадки (9,9 мкР/ч); г – точка NILRA на пилотажном дисплее</a:t>
            </a:r>
            <a:endParaRPr lang="ru-RU" sz="16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6</a:t>
            </a:fld>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Действующее правовое регулирование</a:t>
            </a:r>
            <a:endParaRPr lang="ru-RU" sz="2800" dirty="0"/>
          </a:p>
        </p:txBody>
      </p:sp>
      <p:sp>
        <p:nvSpPr>
          <p:cNvPr id="3" name="Shape 1"/>
          <p:cNvSpPr/>
          <p:nvPr/>
        </p:nvSpPr>
        <p:spPr>
          <a:xfrm>
            <a:off x="1737360" y="1234440"/>
            <a:ext cx="8714232" cy="777240"/>
          </a:xfrm>
          <a:prstGeom prst="roundRect">
            <a:avLst>
              <a:gd name="adj" fmla="val 9412"/>
            </a:avLst>
          </a:prstGeom>
          <a:solidFill>
            <a:schemeClr val="bg2"/>
          </a:solidFill>
          <a:ln w="12700">
            <a:solidFill>
              <a:schemeClr val="tx2"/>
            </a:solidFill>
            <a:prstDash val="solid"/>
          </a:ln>
        </p:spPr>
      </p:sp>
      <p:sp>
        <p:nvSpPr>
          <p:cNvPr id="4" name="Text 2"/>
          <p:cNvSpPr txBox="1"/>
          <p:nvPr/>
        </p:nvSpPr>
        <p:spPr>
          <a:xfrm>
            <a:off x="1828800" y="1271016"/>
            <a:ext cx="8531352" cy="70408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Федеральные законы</a:t>
            </a:r>
            <a:endParaRPr lang="ru-RU" sz="1600" dirty="0"/>
          </a:p>
          <a:p>
            <a:pPr algn="ctr" indent="0" marL="0">
              <a:buNone/>
            </a:pPr>
            <a:r>
              <a:rPr lang="ru-RU" altLang="en-US" sz="1600" dirty="0">
                <a:solidFill>
                  <a:schemeClr val="tx1"/>
                </a:solidFill>
              </a:rPr>
              <a:t>№ 3‑ФЗ (ст. 18), № 52‑ФЗ, Воздушный кодекс РФ (ст. 56), Трудовой кодекс РФ (ст. 214, 254, 329)</a:t>
            </a:r>
            <a:endParaRPr lang="ru-RU" sz="1600" dirty="0"/>
          </a:p>
        </p:txBody>
      </p:sp>
      <p:sp>
        <p:nvSpPr>
          <p:cNvPr id="5" name="Shape 3"/>
          <p:cNvSpPr/>
          <p:nvPr/>
        </p:nvSpPr>
        <p:spPr>
          <a:xfrm>
            <a:off x="548640" y="2423160"/>
            <a:ext cx="3429000" cy="1097280"/>
          </a:xfrm>
          <a:prstGeom prst="roundRect">
            <a:avLst>
              <a:gd name="adj" fmla="val 6667"/>
            </a:avLst>
          </a:prstGeom>
          <a:solidFill>
            <a:schemeClr val="bg2"/>
          </a:solidFill>
          <a:ln w="12700">
            <a:solidFill>
              <a:schemeClr val="tx2"/>
            </a:solidFill>
            <a:prstDash val="solid"/>
          </a:ln>
        </p:spPr>
      </p:sp>
      <p:sp>
        <p:nvSpPr>
          <p:cNvPr id="6" name="Text 4"/>
          <p:cNvSpPr txBox="1"/>
          <p:nvPr/>
        </p:nvSpPr>
        <p:spPr>
          <a:xfrm>
            <a:off x="640080" y="2459736"/>
            <a:ext cx="3246120" cy="102412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Санитарные нормы</a:t>
            </a:r>
            <a:endParaRPr lang="ru-RU" sz="1600" dirty="0"/>
          </a:p>
          <a:p>
            <a:pPr algn="ctr" indent="0" marL="0">
              <a:buNone/>
            </a:pPr>
            <a:r>
              <a:rPr lang="ru-RU" altLang="en-US" sz="1600" dirty="0">
                <a:solidFill>
                  <a:schemeClr val="tx1"/>
                </a:solidFill>
              </a:rPr>
              <a:t>Нормы радиационной безопасности (НРБ‑99/2009), пп. 4.1, 4.3: не более 5 мЗв в год</a:t>
            </a:r>
            <a:endParaRPr lang="ru-RU" sz="1600" dirty="0"/>
          </a:p>
        </p:txBody>
      </p:sp>
      <p:sp>
        <p:nvSpPr>
          <p:cNvPr id="7" name="Shape 5"/>
          <p:cNvSpPr/>
          <p:nvPr/>
        </p:nvSpPr>
        <p:spPr>
          <a:xfrm>
            <a:off x="2263140" y="2011680"/>
            <a:ext cx="0" cy="411480"/>
          </a:xfrm>
          <a:prstGeom prst="line">
            <a:avLst/>
          </a:prstGeom>
          <a:noFill/>
          <a:ln w="15875">
            <a:solidFill>
              <a:schemeClr val="tx2"/>
            </a:solidFill>
            <a:prstDash val="solid"/>
            <a:tailEnd type="triangle"/>
          </a:ln>
        </p:spPr>
      </p:sp>
      <p:sp>
        <p:nvSpPr>
          <p:cNvPr id="8" name="Shape 6"/>
          <p:cNvSpPr/>
          <p:nvPr/>
        </p:nvSpPr>
        <p:spPr>
          <a:xfrm>
            <a:off x="2263140" y="3520440"/>
            <a:ext cx="2601468" cy="411480"/>
          </a:xfrm>
          <a:prstGeom prst="line">
            <a:avLst/>
          </a:prstGeom>
          <a:noFill/>
          <a:ln w="15875">
            <a:solidFill>
              <a:schemeClr val="tx2"/>
            </a:solidFill>
            <a:prstDash val="solid"/>
            <a:tailEnd type="triangle"/>
          </a:ln>
        </p:spPr>
      </p:sp>
      <p:sp>
        <p:nvSpPr>
          <p:cNvPr id="9" name="Shape 7"/>
          <p:cNvSpPr/>
          <p:nvPr/>
        </p:nvSpPr>
        <p:spPr>
          <a:xfrm>
            <a:off x="4381348" y="2423160"/>
            <a:ext cx="3429000" cy="1097280"/>
          </a:xfrm>
          <a:prstGeom prst="roundRect">
            <a:avLst>
              <a:gd name="adj" fmla="val 6667"/>
            </a:avLst>
          </a:prstGeom>
          <a:solidFill>
            <a:schemeClr val="bg2"/>
          </a:solidFill>
          <a:ln w="12700">
            <a:solidFill>
              <a:schemeClr val="tx2"/>
            </a:solidFill>
            <a:prstDash val="solid"/>
          </a:ln>
        </p:spPr>
      </p:sp>
      <p:sp>
        <p:nvSpPr>
          <p:cNvPr id="10" name="Text 8"/>
          <p:cNvSpPr txBox="1"/>
          <p:nvPr/>
        </p:nvSpPr>
        <p:spPr>
          <a:xfrm>
            <a:off x="4472788" y="2459736"/>
            <a:ext cx="3246120" cy="102412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Охрана труда</a:t>
            </a:r>
            <a:endParaRPr lang="ru-RU" sz="1600" dirty="0"/>
          </a:p>
          <a:p>
            <a:pPr algn="ctr" indent="0" marL="0">
              <a:buNone/>
            </a:pPr>
            <a:r>
              <a:rPr lang="ru-RU" altLang="en-US" sz="1600" dirty="0">
                <a:solidFill>
                  <a:schemeClr val="tx1"/>
                </a:solidFill>
              </a:rPr>
              <a:t>приказ Минтруда № 255н: специальная оценка условий труда (СОУТ)</a:t>
            </a:r>
            <a:endParaRPr lang="ru-RU" sz="1600" dirty="0"/>
          </a:p>
        </p:txBody>
      </p:sp>
      <p:sp>
        <p:nvSpPr>
          <p:cNvPr id="11" name="Shape 9"/>
          <p:cNvSpPr/>
          <p:nvPr/>
        </p:nvSpPr>
        <p:spPr>
          <a:xfrm>
            <a:off x="6095848" y="2011680"/>
            <a:ext cx="0" cy="411480"/>
          </a:xfrm>
          <a:prstGeom prst="line">
            <a:avLst/>
          </a:prstGeom>
          <a:noFill/>
          <a:ln w="15875">
            <a:solidFill>
              <a:schemeClr val="tx2"/>
            </a:solidFill>
            <a:prstDash val="solid"/>
            <a:tailEnd type="triangle"/>
          </a:ln>
        </p:spPr>
      </p:sp>
      <p:sp>
        <p:nvSpPr>
          <p:cNvPr id="12" name="Shape 10"/>
          <p:cNvSpPr/>
          <p:nvPr/>
        </p:nvSpPr>
        <p:spPr>
          <a:xfrm>
            <a:off x="6095848" y="3520440"/>
            <a:ext cx="3200" cy="411480"/>
          </a:xfrm>
          <a:prstGeom prst="line">
            <a:avLst/>
          </a:prstGeom>
          <a:noFill/>
          <a:ln w="15875">
            <a:solidFill>
              <a:schemeClr val="tx2"/>
            </a:solidFill>
            <a:prstDash val="solid"/>
            <a:tailEnd type="triangle"/>
          </a:ln>
        </p:spPr>
      </p:sp>
      <p:sp>
        <p:nvSpPr>
          <p:cNvPr id="13" name="Shape 11"/>
          <p:cNvSpPr/>
          <p:nvPr/>
        </p:nvSpPr>
        <p:spPr>
          <a:xfrm>
            <a:off x="8214055" y="2423160"/>
            <a:ext cx="3429000" cy="1097280"/>
          </a:xfrm>
          <a:prstGeom prst="roundRect">
            <a:avLst>
              <a:gd name="adj" fmla="val 6667"/>
            </a:avLst>
          </a:prstGeom>
          <a:solidFill>
            <a:schemeClr val="bg2"/>
          </a:solidFill>
          <a:ln w="12700">
            <a:solidFill>
              <a:schemeClr val="tx2"/>
            </a:solidFill>
            <a:prstDash val="solid"/>
          </a:ln>
        </p:spPr>
      </p:sp>
      <p:sp>
        <p:nvSpPr>
          <p:cNvPr id="14" name="Text 12"/>
          <p:cNvSpPr txBox="1"/>
          <p:nvPr/>
        </p:nvSpPr>
        <p:spPr>
          <a:xfrm>
            <a:off x="8305495" y="2459736"/>
            <a:ext cx="3246120" cy="102412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Режим труда</a:t>
            </a:r>
            <a:endParaRPr lang="ru-RU" sz="1600" dirty="0"/>
          </a:p>
          <a:p>
            <a:pPr algn="ctr" indent="0" marL="0">
              <a:buNone/>
            </a:pPr>
            <a:r>
              <a:rPr lang="ru-RU" altLang="en-US" sz="1600" dirty="0">
                <a:solidFill>
                  <a:schemeClr val="tx1"/>
                </a:solidFill>
              </a:rPr>
              <a:t>приказ Минтранса № 381: до 800 ч в год, с согласия – до 900 ч</a:t>
            </a:r>
            <a:endParaRPr lang="ru-RU" sz="1600" dirty="0"/>
          </a:p>
        </p:txBody>
      </p:sp>
      <p:sp>
        <p:nvSpPr>
          <p:cNvPr id="15" name="Shape 13"/>
          <p:cNvSpPr/>
          <p:nvPr/>
        </p:nvSpPr>
        <p:spPr>
          <a:xfrm>
            <a:off x="9928555" y="2011680"/>
            <a:ext cx="0" cy="411480"/>
          </a:xfrm>
          <a:prstGeom prst="line">
            <a:avLst/>
          </a:prstGeom>
          <a:noFill/>
          <a:ln w="15875">
            <a:solidFill>
              <a:schemeClr val="tx2"/>
            </a:solidFill>
            <a:prstDash val="solid"/>
            <a:tailEnd type="triangle"/>
          </a:ln>
        </p:spPr>
      </p:sp>
      <p:sp>
        <p:nvSpPr>
          <p:cNvPr id="16" name="Shape 14"/>
          <p:cNvSpPr/>
          <p:nvPr/>
        </p:nvSpPr>
        <p:spPr>
          <a:xfrm flipH="1">
            <a:off x="7333488" y="3520440"/>
            <a:ext cx="2595067" cy="411480"/>
          </a:xfrm>
          <a:prstGeom prst="line">
            <a:avLst/>
          </a:prstGeom>
          <a:noFill/>
          <a:ln w="15875">
            <a:solidFill>
              <a:schemeClr val="tx2"/>
            </a:solidFill>
            <a:prstDash val="solid"/>
            <a:tailEnd type="triangle"/>
          </a:ln>
        </p:spPr>
      </p:sp>
      <p:sp>
        <p:nvSpPr>
          <p:cNvPr id="17" name="Shape 15"/>
          <p:cNvSpPr/>
          <p:nvPr/>
        </p:nvSpPr>
        <p:spPr>
          <a:xfrm>
            <a:off x="4041648" y="3931920"/>
            <a:ext cx="4114800" cy="685800"/>
          </a:xfrm>
          <a:prstGeom prst="roundRect">
            <a:avLst>
              <a:gd name="adj" fmla="val 10667"/>
            </a:avLst>
          </a:prstGeom>
          <a:solidFill>
            <a:schemeClr val="bg2"/>
          </a:solidFill>
          <a:ln w="12700">
            <a:solidFill>
              <a:schemeClr val="tx2"/>
            </a:solidFill>
            <a:prstDash val="solid"/>
          </a:ln>
        </p:spPr>
      </p:sp>
      <p:sp>
        <p:nvSpPr>
          <p:cNvPr id="18" name="Text 16"/>
          <p:cNvSpPr txBox="1"/>
          <p:nvPr/>
        </p:nvSpPr>
        <p:spPr>
          <a:xfrm>
            <a:off x="4133088" y="3968496"/>
            <a:ext cx="3931920" cy="61264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Член экипажа</a:t>
            </a:r>
            <a:endParaRPr lang="ru-RU" sz="1600" dirty="0"/>
          </a:p>
          <a:p>
            <a:pPr algn="ctr" indent="0" marL="0">
              <a:buNone/>
            </a:pPr>
            <a:r>
              <a:rPr lang="ru-RU" altLang="en-US" sz="1600" dirty="0">
                <a:solidFill>
                  <a:schemeClr val="tx1"/>
                </a:solidFill>
              </a:rPr>
              <a:t>лётный и кабинный экипаж</a:t>
            </a:r>
            <a:endParaRPr lang="ru-RU" sz="1600" dirty="0"/>
          </a:p>
        </p:txBody>
      </p:sp>
      <p:sp>
        <p:nvSpPr>
          <p:cNvPr id="19" name="Shape 17"/>
          <p:cNvSpPr/>
          <p:nvPr/>
        </p:nvSpPr>
        <p:spPr>
          <a:xfrm>
            <a:off x="548640" y="4892040"/>
            <a:ext cx="5349240" cy="777240"/>
          </a:xfrm>
          <a:prstGeom prst="roundRect">
            <a:avLst>
              <a:gd name="adj" fmla="val 9412"/>
            </a:avLst>
          </a:prstGeom>
          <a:solidFill>
            <a:schemeClr val="bg1"/>
          </a:solidFill>
          <a:ln w="12700">
            <a:solidFill>
              <a:schemeClr val="tx2"/>
            </a:solidFill>
            <a:prstDash val="dash"/>
          </a:ln>
        </p:spPr>
      </p:sp>
      <p:sp>
        <p:nvSpPr>
          <p:cNvPr id="20" name="Text 18"/>
          <p:cNvSpPr txBox="1"/>
          <p:nvPr/>
        </p:nvSpPr>
        <p:spPr>
          <a:xfrm>
            <a:off x="640080" y="4928616"/>
            <a:ext cx="5166360" cy="70408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Утратили силу:</a:t>
            </a:r>
            <a:endParaRPr lang="ru-RU" sz="1600" dirty="0"/>
          </a:p>
          <a:p>
            <a:pPr algn="ctr" indent="0" marL="0">
              <a:buNone/>
            </a:pPr>
            <a:r>
              <a:rPr lang="ru-RU" altLang="en-US" sz="1600" dirty="0">
                <a:solidFill>
                  <a:schemeClr val="tx1"/>
                </a:solidFill>
              </a:rPr>
              <a:t>СанПиН 2.5.1.2423‑08 (2021), СанПиН 2.6.1.2800‑10 (2025)</a:t>
            </a:r>
            <a:endParaRPr lang="ru-RU" sz="1600" dirty="0"/>
          </a:p>
        </p:txBody>
      </p:sp>
      <p:sp>
        <p:nvSpPr>
          <p:cNvPr id="21" name="Shape 19"/>
          <p:cNvSpPr/>
          <p:nvPr/>
        </p:nvSpPr>
        <p:spPr>
          <a:xfrm>
            <a:off x="6293815" y="4892040"/>
            <a:ext cx="5349240" cy="777240"/>
          </a:xfrm>
          <a:prstGeom prst="roundRect">
            <a:avLst>
              <a:gd name="adj" fmla="val 9412"/>
            </a:avLst>
          </a:prstGeom>
          <a:solidFill>
            <a:schemeClr val="bg1"/>
          </a:solidFill>
          <a:ln w="12700">
            <a:solidFill>
              <a:schemeClr val="tx2"/>
            </a:solidFill>
            <a:prstDash val="dash"/>
          </a:ln>
        </p:spPr>
      </p:sp>
      <p:sp>
        <p:nvSpPr>
          <p:cNvPr id="22" name="Text 20"/>
          <p:cNvSpPr txBox="1"/>
          <p:nvPr/>
        </p:nvSpPr>
        <p:spPr>
          <a:xfrm>
            <a:off x="6385255" y="4928616"/>
            <a:ext cx="5166360" cy="70408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Не обнаружено:</a:t>
            </a:r>
            <a:endParaRPr lang="ru-RU" sz="1600" dirty="0"/>
          </a:p>
          <a:p>
            <a:pPr algn="ctr" indent="0" marL="0">
              <a:buNone/>
            </a:pPr>
            <a:r>
              <a:rPr lang="ru-RU" altLang="en-US" sz="1600" dirty="0">
                <a:solidFill>
                  <a:schemeClr val="tx1"/>
                </a:solidFill>
              </a:rPr>
              <a:t>норм о том, кто и как рассчитывает индивидуальную дозу</a:t>
            </a:r>
            <a:endParaRPr lang="ru-RU" sz="1600" dirty="0"/>
          </a:p>
        </p:txBody>
      </p:sp>
      <p:sp>
        <p:nvSpPr>
          <p:cNvPr id="23" name="Подпись"/>
          <p:cNvSpPr txBox="1"/>
          <p:nvPr/>
        </p:nvSpPr>
        <p:spPr>
          <a:xfrm>
            <a:off x="548640" y="5760720"/>
            <a:ext cx="11094415" cy="59436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Рисунок 4 – Система правового регулирования защиты членов экипажей от космического излучения (составлено авторами)</a:t>
            </a:r>
            <a:endParaRPr lang="ru-RU" sz="16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7</a:t>
            </a:fld>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Тексты действующих норм</a:t>
            </a:r>
            <a:endParaRPr lang="ru-RU" sz="2800" dirty="0"/>
          </a:p>
        </p:txBody>
      </p:sp>
      <p:pic>
        <p:nvPicPr>
          <p:cNvPr id="3" name="Image 0" descr="Фрагмент текста НРБ-99/2009, пп. 4.1 и 4.3">    </p:cNvPr>
          <p:cNvPicPr>
            <a:picLocks noChangeAspect="1"/>
          </p:cNvPicPr>
          <p:nvPr/>
        </p:nvPicPr>
        <p:blipFill>
          <a:blip r:embed="rId1"/>
          <a:stretch>
            <a:fillRect/>
          </a:stretch>
        </p:blipFill>
        <p:spPr>
          <a:xfrm>
            <a:off x="1889608" y="1325880"/>
            <a:ext cx="8412480" cy="2976724"/>
          </a:xfrm>
          <a:prstGeom prst="rect">
            <a:avLst/>
          </a:prstGeom>
        </p:spPr>
      </p:pic>
      <p:pic>
        <p:nvPicPr>
          <p:cNvPr id="4" name="Image 1" descr="Фрагмент текста ст. 56 Воздушного кодекса РФ">    </p:cNvPr>
          <p:cNvPicPr>
            <a:picLocks noChangeAspect="1"/>
          </p:cNvPicPr>
          <p:nvPr/>
        </p:nvPicPr>
        <p:blipFill>
          <a:blip r:embed="rId2"/>
          <a:stretch>
            <a:fillRect/>
          </a:stretch>
        </p:blipFill>
        <p:spPr>
          <a:xfrm>
            <a:off x="1889608" y="4439764"/>
            <a:ext cx="8412480" cy="1811919"/>
          </a:xfrm>
          <a:prstGeom prst="rect">
            <a:avLst/>
          </a:prstGeom>
        </p:spPr>
      </p:pic>
      <p:sp>
        <p:nvSpPr>
          <p:cNvPr id="5" name="Подпись"/>
          <p:cNvSpPr txBox="1"/>
          <p:nvPr/>
        </p:nvSpPr>
        <p:spPr>
          <a:xfrm>
            <a:off x="548640" y="6388842"/>
            <a:ext cx="11094415" cy="64008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Рисунок 5 – Фрагменты текста НРБ‑99/2009 (пп. 4.1, 4.3) [5] и Воздушного кодекса РФ (ст. 56) [6]</a:t>
            </a:r>
            <a:endParaRPr lang="ru-RU" sz="16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8</a:t>
            </a:fld>
            <a:endParaRPr lang="ru-R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Изменения специального регулирования</a:t>
            </a:r>
            <a:endParaRPr lang="ru-RU" sz="2800" dirty="0"/>
          </a:p>
        </p:txBody>
      </p:sp>
      <p:sp>
        <p:nvSpPr>
          <p:cNvPr id="3" name="Text 1"/>
          <p:cNvSpPr txBox="1"/>
          <p:nvPr/>
        </p:nvSpPr>
        <p:spPr>
          <a:xfrm>
            <a:off x="548640" y="1280160"/>
            <a:ext cx="11094415" cy="411480"/>
          </a:xfrm>
          <a:prstGeom prst="rect">
            <a:avLst/>
          </a:prstGeom>
          <a:noFill/>
          <a:ln/>
        </p:spPr>
        <p:txBody>
          <a:bodyPr wrap="square" lIns="635" tIns="635" rIns="635" bIns="635" rtlCol="0" anchor="t"/>
          <a:lstStyle/>
          <a:p>
            <a:pPr indent="0" marL="0">
              <a:buNone/>
            </a:pPr>
            <a:r>
              <a:rPr lang="ru-RU" altLang="en-US" sz="2000" dirty="0">
                <a:solidFill>
                  <a:schemeClr val="tx1"/>
                </a:solidFill>
              </a:rPr>
              <a:t>Таблица 2 – Акты, в которых выделялись экипажи воздушных судов</a:t>
            </a:r>
            <a:endParaRPr lang="ru-RU"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251960"/>
                <a:gridCol w="4526280"/>
                <a:gridCol w="2313432"/>
              </a:tblGrid>
              <a:tr h="0">
                <a:tc>
                  <a:txBody>
                    <a:bodyPr/>
                    <a:lstStyle/>
                    <a:p>
                      <a:pPr algn="ctr" indent="0" marL="0">
                        <a:buNone/>
                      </a:pPr>
                      <a:r>
                        <a:rPr lang="ru-RU" sz="2000" b="1" dirty="0">
                          <a:solidFill>
                            <a:schemeClr val="bg1"/>
                          </a:solidFill>
                          <a:latin typeface="Calibri" pitchFamily="34" charset="0"/>
                          <a:ea typeface="Calibri" pitchFamily="34" charset="-122"/>
                          <a:cs typeface="Calibri" pitchFamily="34" charset="-120"/>
                        </a:rPr>
                        <a:t>Акт</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c>
                  <a:txBody>
                    <a:bodyPr/>
                    <a:lstStyle/>
                    <a:p>
                      <a:pPr algn="ctr" indent="0" marL="0">
                        <a:buNone/>
                      </a:pPr>
                      <a:r>
                        <a:rPr lang="ru-RU" sz="2000" b="1" dirty="0">
                          <a:solidFill>
                            <a:schemeClr val="bg1"/>
                          </a:solidFill>
                          <a:latin typeface="Calibri" pitchFamily="34" charset="0"/>
                          <a:ea typeface="Calibri" pitchFamily="34" charset="-122"/>
                          <a:cs typeface="Calibri" pitchFamily="34" charset="-120"/>
                        </a:rPr>
                        <a:t>Что устанавливал</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c>
                  <a:txBody>
                    <a:bodyPr/>
                    <a:lstStyle/>
                    <a:p>
                      <a:pPr algn="ctr" indent="0" marL="0">
                        <a:buNone/>
                      </a:pPr>
                      <a:r>
                        <a:rPr lang="ru-RU" sz="2000" b="1" dirty="0">
                          <a:solidFill>
                            <a:schemeClr val="bg1"/>
                          </a:solidFill>
                          <a:latin typeface="Calibri" pitchFamily="34" charset="0"/>
                          <a:ea typeface="Calibri" pitchFamily="34" charset="-122"/>
                          <a:cs typeface="Calibri" pitchFamily="34" charset="-120"/>
                        </a:rPr>
                        <a:t>Статус</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r>
              <a:tr h="0">
                <a:tc>
                  <a:txBody>
                    <a:bodyPr/>
                    <a:lstStyle/>
                    <a:p>
                      <a:pPr algn="l" indent="0" marL="0">
                        <a:buNone/>
                      </a:pPr>
                      <a:r>
                        <a:rPr lang="ru-RU" sz="2000" dirty="0">
                          <a:solidFill>
                            <a:schemeClr val="tx1"/>
                          </a:solidFill>
                          <a:latin typeface="Calibri" pitchFamily="34" charset="0"/>
                          <a:ea typeface="Calibri" pitchFamily="34" charset="-122"/>
                          <a:cs typeface="Calibri" pitchFamily="34" charset="-120"/>
                        </a:rPr>
                        <a:t>СанПиН 2.5.1.2423‑08 (условия труда и отдыха лётного состава гражданской авиации)</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2000" dirty="0">
                          <a:solidFill>
                            <a:schemeClr val="tx1"/>
                          </a:solidFill>
                          <a:latin typeface="Calibri" pitchFamily="34" charset="0"/>
                          <a:ea typeface="Calibri" pitchFamily="34" charset="-122"/>
                          <a:cs typeface="Calibri" pitchFamily="34" charset="-120"/>
                        </a:rPr>
                        <a:t>доза космического облучения экипажей – не более 5 мЗв в год</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2000" dirty="0">
                          <a:solidFill>
                            <a:schemeClr val="tx1"/>
                          </a:solidFill>
                          <a:latin typeface="Calibri" pitchFamily="34" charset="0"/>
                          <a:ea typeface="Calibri" pitchFamily="34" charset="-122"/>
                          <a:cs typeface="Calibri" pitchFamily="34" charset="-120"/>
                        </a:rPr>
                        <a:t>утратил силу с 01.01.2021 [7]</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r>
              <a:tr h="0">
                <a:tc>
                  <a:txBody>
                    <a:bodyPr/>
                    <a:lstStyle/>
                    <a:p>
                      <a:pPr algn="l" indent="0" marL="0">
                        <a:buNone/>
                      </a:pPr>
                      <a:r>
                        <a:rPr lang="ru-RU" sz="2000" dirty="0">
                          <a:solidFill>
                            <a:schemeClr val="tx1"/>
                          </a:solidFill>
                          <a:latin typeface="Calibri" pitchFamily="34" charset="0"/>
                          <a:ea typeface="Calibri" pitchFamily="34" charset="-122"/>
                          <a:cs typeface="Calibri" pitchFamily="34" charset="-120"/>
                        </a:rPr>
                        <a:t>СанПиН 2.6.1.2800‑10 (природные источники излучения)</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l" indent="0" marL="0">
                        <a:buNone/>
                      </a:pPr>
                      <a:r>
                        <a:rPr lang="ru-RU" sz="2000" dirty="0">
                          <a:solidFill>
                            <a:schemeClr val="tx1"/>
                          </a:solidFill>
                          <a:latin typeface="Calibri" pitchFamily="34" charset="0"/>
                          <a:ea typeface="Calibri" pitchFamily="34" charset="-122"/>
                          <a:cs typeface="Calibri" pitchFamily="34" charset="-120"/>
                        </a:rPr>
                        <a:t>отдельный раздел об облучении экипажей воздушных судов гражданской авиации</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l" indent="0" marL="0">
                        <a:buNone/>
                      </a:pPr>
                      <a:r>
                        <a:rPr lang="ru-RU" sz="2000" dirty="0">
                          <a:solidFill>
                            <a:schemeClr val="tx1"/>
                          </a:solidFill>
                          <a:latin typeface="Calibri" pitchFamily="34" charset="0"/>
                          <a:ea typeface="Calibri" pitchFamily="34" charset="-122"/>
                          <a:cs typeface="Calibri" pitchFamily="34" charset="-120"/>
                        </a:rPr>
                        <a:t>утратил силу с 01.09.2025 [8]</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r>
              <a:tr h="0">
                <a:tc>
                  <a:txBody>
                    <a:bodyPr/>
                    <a:lstStyle/>
                    <a:p>
                      <a:pPr algn="l" indent="0" marL="0">
                        <a:buNone/>
                      </a:pPr>
                      <a:r>
                        <a:rPr lang="ru-RU" sz="2000" dirty="0">
                          <a:solidFill>
                            <a:schemeClr val="tx1"/>
                          </a:solidFill>
                          <a:latin typeface="Calibri" pitchFamily="34" charset="0"/>
                          <a:ea typeface="Calibri" pitchFamily="34" charset="-122"/>
                          <a:cs typeface="Calibri" pitchFamily="34" charset="-120"/>
                        </a:rPr>
                        <a:t>НРБ‑99/2009, п. 4.3</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2000" dirty="0">
                          <a:solidFill>
                            <a:schemeClr val="tx1"/>
                          </a:solidFill>
                          <a:latin typeface="Calibri" pitchFamily="34" charset="0"/>
                          <a:ea typeface="Calibri" pitchFamily="34" charset="-122"/>
                          <a:cs typeface="Calibri" pitchFamily="34" charset="-120"/>
                        </a:rPr>
                        <a:t>облучение экипажей нормируется по п. 4.1 (5 мЗв в год)</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2000" dirty="0">
                          <a:solidFill>
                            <a:schemeClr val="tx1"/>
                          </a:solidFill>
                          <a:latin typeface="Calibri" pitchFamily="34" charset="0"/>
                          <a:ea typeface="Calibri" pitchFamily="34" charset="-122"/>
                          <a:cs typeface="Calibri" pitchFamily="34" charset="-120"/>
                        </a:rPr>
                        <a:t>действует [5]</a:t>
                      </a:r>
                      <a:endParaRPr lang="ru-RU" sz="20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r>
            </a:tbl>
          </a:graphicData>
        </a:graphic>
      </p:graphicFrame>
      <p:sp>
        <p:nvSpPr>
          <p:cNvPr id="5" name="Text 2"/>
          <p:cNvSpPr txBox="1"/>
          <p:nvPr/>
        </p:nvSpPr>
        <p:spPr>
          <a:xfrm>
            <a:off x="548640" y="5257800"/>
            <a:ext cx="11094415" cy="822960"/>
          </a:xfrm>
          <a:prstGeom prst="rect">
            <a:avLst/>
          </a:prstGeom>
          <a:noFill/>
          <a:ln/>
        </p:spPr>
        <p:txBody>
          <a:bodyPr wrap="square" lIns="635" tIns="635" rIns="635" bIns="635" rtlCol="0" anchor="t"/>
          <a:lstStyle/>
          <a:p>
            <a:pPr indent="0" marL="0">
              <a:buNone/>
            </a:pPr>
            <a:r>
              <a:rPr lang="ru-RU" altLang="en-US" sz="2000" b="1" dirty="0">
                <a:solidFill>
                  <a:schemeClr val="tx1"/>
                </a:solidFill>
              </a:rPr>
              <a:t>Итог: предел дозы сохранился, но специальных требований к его соблюдению в действующих актах не обнаружено</a:t>
            </a:r>
            <a:endParaRPr lang="ru-RU" sz="20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9</a:t>
            </a:fld>
            <a:endParaRPr lang="ru-R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Выявленные пробелы</a:t>
            </a:r>
            <a:endParaRPr lang="ru-RU" sz="2800" dirty="0"/>
          </a:p>
        </p:txBody>
      </p:sp>
      <p:sp>
        <p:nvSpPr>
          <p:cNvPr id="3" name="Text 1"/>
          <p:cNvSpPr/>
          <p:nvPr>
            <p:ph idx="103"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dirty="0">
                <a:solidFill>
                  <a:schemeClr val="tx1"/>
                </a:solidFill>
              </a:rPr>
              <a:t>Кроме п. 4.3 НРБ‑99/2009, специальных норм об облучении экипажей в действующих актах не обнаружено</a:t>
            </a:r>
            <a:endParaRPr lang="ru-RU" sz="2400" dirty="0"/>
          </a:p>
          <a:p>
            <a:pPr algn="l" marL="304800" indent="-304800">
              <a:spcAft>
                <a:spcPts val="1000"/>
              </a:spcAft>
              <a:buSzPct val="100000"/>
              <a:buChar char="–"/>
            </a:pPr>
            <a:r>
              <a:rPr lang="ru-RU" altLang="en-US" sz="2400" dirty="0">
                <a:solidFill>
                  <a:schemeClr val="tx1"/>
                </a:solidFill>
              </a:rPr>
              <a:t>Не обнаружено нормы, определяющей, кто обязан рассчитывать индивидуальную дозу члена экипажа и по какой методике</a:t>
            </a:r>
            <a:endParaRPr lang="ru-RU" sz="2400" dirty="0"/>
          </a:p>
          <a:p>
            <a:pPr algn="l" marL="304800" indent="-304800">
              <a:spcAft>
                <a:spcPts val="1000"/>
              </a:spcAft>
              <a:buSzPct val="100000"/>
              <a:buChar char="–"/>
            </a:pPr>
            <a:r>
              <a:rPr lang="ru-RU" altLang="en-US" sz="2400" dirty="0">
                <a:solidFill>
                  <a:schemeClr val="tx1"/>
                </a:solidFill>
              </a:rPr>
              <a:t>Не обнаружен порядок передачи доз экипажей в единую систему учёта доз (ЕСКИД), хотя ст. 18 закона № 3‑ФЗ требует учёта доз [3]</a:t>
            </a:r>
            <a:endParaRPr lang="ru-RU" sz="2400" dirty="0"/>
          </a:p>
          <a:p>
            <a:pPr algn="l" marL="304800" indent="-304800">
              <a:spcAft>
                <a:spcPts val="1000"/>
              </a:spcAft>
              <a:buSzPct val="100000"/>
              <a:buChar char="–"/>
            </a:pPr>
            <a:r>
              <a:rPr lang="ru-RU" altLang="en-US" sz="2400" dirty="0">
                <a:solidFill>
                  <a:schemeClr val="tx1"/>
                </a:solidFill>
              </a:rPr>
              <a:t>Следствие: соблюдение предела 5 мЗв в год для конкретного человека проверить нельзя</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10</a:t>
            </a:fld>
            <a:endParaRPr 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Учёт индивидуальных доз</a:t>
            </a:r>
            <a:endParaRPr lang="ru-RU" sz="2800" dirty="0"/>
          </a:p>
        </p:txBody>
      </p:sp>
      <p:pic>
        <p:nvPicPr>
          <p:cNvPr id="3" name="Image 0" descr="Фрагмент текста ст. 18 Федерального закона № 3-ФЗ">    </p:cNvPr>
          <p:cNvPicPr>
            <a:picLocks noChangeAspect="1"/>
          </p:cNvPicPr>
          <p:nvPr/>
        </p:nvPicPr>
        <p:blipFill>
          <a:blip r:embed="rId1"/>
          <a:stretch>
            <a:fillRect/>
          </a:stretch>
        </p:blipFill>
        <p:spPr>
          <a:xfrm>
            <a:off x="1295248" y="1325880"/>
            <a:ext cx="9601200" cy="2933114"/>
          </a:xfrm>
          <a:prstGeom prst="rect">
            <a:avLst/>
          </a:prstGeom>
        </p:spPr>
      </p:pic>
      <p:sp>
        <p:nvSpPr>
          <p:cNvPr id="4" name="Подпись"/>
          <p:cNvSpPr txBox="1"/>
          <p:nvPr/>
        </p:nvSpPr>
        <p:spPr>
          <a:xfrm>
            <a:off x="548640" y="4396154"/>
            <a:ext cx="11094415" cy="64008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Рисунок 6 – Фрагмент текста ст. 18 Федерального закона № 3‑ФЗ [3]: закон требует учёта доз и от природного фона</a:t>
            </a:r>
            <a:endParaRPr lang="ru-RU" sz="16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11</a:t>
            </a:fld>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Выявленные пробелы</a:t>
            </a:r>
            <a:endParaRPr lang="ru-RU" sz="2800" dirty="0"/>
          </a:p>
        </p:txBody>
      </p:sp>
      <p:sp>
        <p:nvSpPr>
          <p:cNvPr id="3" name="Text 1"/>
          <p:cNvSpPr/>
          <p:nvPr>
            <p:ph idx="103"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dirty="0">
                <a:solidFill>
                  <a:schemeClr val="tx1"/>
                </a:solidFill>
              </a:rPr>
              <a:t>Специальная оценка условий труда (СОУТ) проводится в одном контрольном полёте и не отражает годовую дозу на разных маршрутах [10]</a:t>
            </a:r>
            <a:endParaRPr lang="ru-RU" sz="2400" dirty="0"/>
          </a:p>
          <a:p>
            <a:pPr algn="l" marL="304800" indent="-304800">
              <a:spcAft>
                <a:spcPts val="1000"/>
              </a:spcAft>
              <a:buSzPct val="100000"/>
              <a:buChar char="–"/>
            </a:pPr>
            <a:r>
              <a:rPr lang="ru-RU" altLang="en-US" sz="2400" dirty="0">
                <a:solidFill>
                  <a:schemeClr val="tx1"/>
                </a:solidFill>
              </a:rPr>
              <a:t>Лимиты налёта (800 ч, с согласия – 900 ч в год) не учитывают дозу; согласие даётся без знания своей дозы [11]</a:t>
            </a:r>
            <a:endParaRPr lang="ru-RU" sz="2400" dirty="0"/>
          </a:p>
          <a:p>
            <a:pPr algn="l" marL="304800" indent="-304800">
              <a:spcAft>
                <a:spcPts val="1000"/>
              </a:spcAft>
              <a:buSzPct val="100000"/>
              <a:buChar char="–"/>
            </a:pPr>
            <a:r>
              <a:rPr lang="ru-RU" altLang="en-US" sz="2400" dirty="0">
                <a:solidFill>
                  <a:schemeClr val="tx1"/>
                </a:solidFill>
              </a:rPr>
              <a:t>Общая обязанность информировать о рисках есть (ст. 214 ТК РФ), но сообщать работнику его индивидуальную дозу никто не обязан</a:t>
            </a:r>
            <a:endParaRPr lang="ru-RU" sz="2400" dirty="0"/>
          </a:p>
          <a:p>
            <a:pPr algn="l" marL="304800" indent="-304800">
              <a:spcAft>
                <a:spcPts val="1000"/>
              </a:spcAft>
              <a:buSzPct val="100000"/>
              <a:buChar char="–"/>
            </a:pPr>
            <a:r>
              <a:rPr lang="ru-RU" altLang="en-US" sz="2400" dirty="0">
                <a:solidFill>
                  <a:schemeClr val="tx1"/>
                </a:solidFill>
              </a:rPr>
              <a:t>Для беременных членов экипажа нет дозового правила – действуют только общие гарантии ст. 254 ТК РФ</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12</a:t>
            </a:fld>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Право Европейского союза</a:t>
            </a:r>
            <a:endParaRPr lang="ru-RU" sz="2800" dirty="0"/>
          </a:p>
        </p:txBody>
      </p:sp>
      <p:pic>
        <p:nvPicPr>
          <p:cNvPr id="3" name="Image 0" descr="Фрагмент текста ст. 35(3) Директивы 2013/59/Евратом">    </p:cNvPr>
          <p:cNvPicPr>
            <a:picLocks noChangeAspect="1"/>
          </p:cNvPicPr>
          <p:nvPr/>
        </p:nvPicPr>
        <p:blipFill>
          <a:blip r:embed="rId1"/>
          <a:stretch>
            <a:fillRect/>
          </a:stretch>
        </p:blipFill>
        <p:spPr>
          <a:xfrm>
            <a:off x="1798168" y="1325880"/>
            <a:ext cx="8595360" cy="4231562"/>
          </a:xfrm>
          <a:prstGeom prst="rect">
            <a:avLst/>
          </a:prstGeom>
        </p:spPr>
      </p:pic>
      <p:sp>
        <p:nvSpPr>
          <p:cNvPr id="4" name="Подпись"/>
          <p:cNvSpPr txBox="1"/>
          <p:nvPr/>
        </p:nvSpPr>
        <p:spPr>
          <a:xfrm>
            <a:off x="548640" y="5694602"/>
            <a:ext cx="11094415" cy="64008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Рисунок 7 – Фрагмент текста ст. 35, п. 3 Директивы 2013/59/Евратом [12]</a:t>
            </a:r>
            <a:endParaRPr lang="ru-RU" sz="16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13</a:t>
            </a:fld>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Зарубежный опыт</a:t>
            </a:r>
            <a:endParaRPr lang="ru-RU" sz="2800" dirty="0"/>
          </a:p>
        </p:txBody>
      </p:sp>
      <p:sp>
        <p:nvSpPr>
          <p:cNvPr id="3" name="Text 1"/>
          <p:cNvSpPr txBox="1"/>
          <p:nvPr/>
        </p:nvSpPr>
        <p:spPr>
          <a:xfrm>
            <a:off x="548640" y="1280160"/>
            <a:ext cx="11094415" cy="411480"/>
          </a:xfrm>
          <a:prstGeom prst="rect">
            <a:avLst/>
          </a:prstGeom>
          <a:noFill/>
          <a:ln/>
        </p:spPr>
        <p:txBody>
          <a:bodyPr wrap="square" lIns="635" tIns="635" rIns="635" bIns="635" rtlCol="0" anchor="t"/>
          <a:lstStyle/>
          <a:p>
            <a:pPr indent="0" marL="0">
              <a:buNone/>
            </a:pPr>
            <a:r>
              <a:rPr lang="ru-RU" altLang="en-US" sz="2000" dirty="0">
                <a:solidFill>
                  <a:schemeClr val="tx1"/>
                </a:solidFill>
              </a:rPr>
              <a:t>Таблица 3 – Сравнение правового регулирования облучения экипажей</a:t>
            </a:r>
            <a:endParaRPr lang="ru-RU" sz="2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108960"/>
                <a:gridCol w="2514600"/>
                <a:gridCol w="2834640"/>
                <a:gridCol w="2633472"/>
              </a:tblGrid>
              <a:tr h="566928">
                <a:tc>
                  <a:txBody>
                    <a:bodyPr/>
                    <a:lstStyle/>
                    <a:p>
                      <a:pPr algn="ctr" indent="0" marL="0">
                        <a:buNone/>
                      </a:pPr>
                      <a:r>
                        <a:rPr lang="ru-RU" sz="1800" b="1" dirty="0">
                          <a:solidFill>
                            <a:schemeClr val="bg1"/>
                          </a:solidFill>
                          <a:latin typeface="Calibri" pitchFamily="34" charset="0"/>
                          <a:ea typeface="Calibri" pitchFamily="34" charset="-122"/>
                          <a:cs typeface="Calibri" pitchFamily="34" charset="-120"/>
                        </a:rPr>
                        <a:t>Требование</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c>
                  <a:txBody>
                    <a:bodyPr/>
                    <a:lstStyle/>
                    <a:p>
                      <a:pPr algn="ctr" indent="0" marL="0">
                        <a:buNone/>
                      </a:pPr>
                      <a:r>
                        <a:rPr lang="ru-RU" sz="1800" b="1" dirty="0">
                          <a:solidFill>
                            <a:schemeClr val="bg1"/>
                          </a:solidFill>
                          <a:latin typeface="Calibri" pitchFamily="34" charset="0"/>
                          <a:ea typeface="Calibri" pitchFamily="34" charset="-122"/>
                          <a:cs typeface="Calibri" pitchFamily="34" charset="-120"/>
                        </a:rPr>
                        <a:t>Россия</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c>
                  <a:txBody>
                    <a:bodyPr/>
                    <a:lstStyle/>
                    <a:p>
                      <a:pPr algn="ctr" indent="0" marL="0">
                        <a:buNone/>
                      </a:pPr>
                      <a:r>
                        <a:rPr lang="ru-RU" sz="1800" b="1" dirty="0">
                          <a:solidFill>
                            <a:schemeClr val="bg1"/>
                          </a:solidFill>
                          <a:latin typeface="Calibri" pitchFamily="34" charset="0"/>
                          <a:ea typeface="Calibri" pitchFamily="34" charset="-122"/>
                          <a:cs typeface="Calibri" pitchFamily="34" charset="-120"/>
                        </a:rPr>
                        <a:t>ЕС (Директива 2013/59/Евратом) [12]</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c>
                  <a:txBody>
                    <a:bodyPr/>
                    <a:lstStyle/>
                    <a:p>
                      <a:pPr algn="ctr" indent="0" marL="0">
                        <a:buNone/>
                      </a:pPr>
                      <a:r>
                        <a:rPr lang="ru-RU" sz="1800" b="1" dirty="0">
                          <a:solidFill>
                            <a:schemeClr val="bg1"/>
                          </a:solidFill>
                          <a:latin typeface="Calibri" pitchFamily="34" charset="0"/>
                          <a:ea typeface="Calibri" pitchFamily="34" charset="-122"/>
                          <a:cs typeface="Calibri" pitchFamily="34" charset="-120"/>
                        </a:rPr>
                        <a:t>Германия [13, 14]</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tx2"/>
                    </a:solidFill>
                  </a:tcPr>
                </a:tc>
              </a:tr>
              <a:tr h="566928">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Порог обязательных мер</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не установлен</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более 1 мЗв в год (ст. 35, п. 3)</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более 1 мЗв в год</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r>
              <a:tr h="566928">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Расчёт индивидуальной дозы</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не обнаружен</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обязателен</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признанной программой</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r>
              <a:tr h="566928">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Учёт дозы при составлении графиков</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не обнаружен</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обязателен</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обязателен</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r>
              <a:tr h="566928">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Сообщение работнику его дозы</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только общая обязанность информировать о рисках (ст. 214 ТК РФ)</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обязательно</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ежегодно, письменно</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solidFill>
                      <a:schemeClr val="bg2"/>
                    </a:solidFill>
                  </a:tcPr>
                </a:tc>
              </a:tr>
              <a:tr h="566928">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Защита беременных</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общие гарантии ТК РФ</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доза плоду не более 1 мЗв</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c>
                  <a:txBody>
                    <a:bodyPr/>
                    <a:lstStyle/>
                    <a:p>
                      <a:pPr algn="l" indent="0" marL="0">
                        <a:buNone/>
                      </a:pPr>
                      <a:r>
                        <a:rPr lang="ru-RU" sz="1800" dirty="0">
                          <a:solidFill>
                            <a:schemeClr val="tx1"/>
                          </a:solidFill>
                          <a:latin typeface="Calibri" pitchFamily="34" charset="0"/>
                          <a:ea typeface="Calibri" pitchFamily="34" charset="-122"/>
                          <a:cs typeface="Calibri" pitchFamily="34" charset="-120"/>
                        </a:rPr>
                        <a:t>доза плоду не более 1 мЗв</a:t>
                      </a:r>
                      <a:endParaRPr lang="ru-RU" sz="1800" dirty="0">
                        <a:latin typeface="Calibri" charset="0"/>
                        <a:ea typeface="Calibri" charset="0"/>
                        <a:cs typeface="Calibri" charset="0"/>
                      </a:endParaRPr>
                    </a:p>
                  </a:txBody>
                  <a:tcPr marL="73152" marR="73152" marT="36576" marB="36576" anchor="ctr">
                    <a:lnL w="9525" cap="flat" cmpd="sng" algn="ctr">
                      <a:solidFill>
                        <a:srgbClr val="8EA9DB"/>
                      </a:solidFill>
                      <a:prstDash val="solid"/>
                      <a:round/>
                      <a:headEnd type="none" w="med" len="med"/>
                      <a:tailEnd type="none" w="med" len="med"/>
                    </a:lnL>
                    <a:lnR w="9525" cap="flat" cmpd="sng" algn="ctr">
                      <a:solidFill>
                        <a:srgbClr val="8EA9DB"/>
                      </a:solidFill>
                      <a:prstDash val="solid"/>
                      <a:round/>
                      <a:headEnd type="none" w="med" len="med"/>
                      <a:tailEnd type="none" w="med" len="med"/>
                    </a:lnR>
                    <a:lnT w="9525" cap="flat" cmpd="sng" algn="ctr">
                      <a:solidFill>
                        <a:srgbClr val="8EA9DB"/>
                      </a:solidFill>
                      <a:prstDash val="solid"/>
                      <a:round/>
                      <a:headEnd type="none" w="med" len="med"/>
                      <a:tailEnd type="none" w="med" len="med"/>
                    </a:lnT>
                    <a:lnB w="9525" cap="flat" cmpd="sng" algn="ctr">
                      <a:solidFill>
                        <a:srgbClr val="8EA9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14</a:t>
            </a:fld>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Предложения по совершенствованию</a:t>
            </a:r>
            <a:endParaRPr lang="ru-RU" sz="2800" dirty="0"/>
          </a:p>
        </p:txBody>
      </p:sp>
      <p:sp>
        <p:nvSpPr>
          <p:cNvPr id="3" name="Text 1"/>
          <p:cNvSpPr/>
          <p:nvPr>
            <p:ph idx="103"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b="1" dirty="0">
                <a:solidFill>
                  <a:schemeClr val="tx1"/>
                </a:solidFill>
              </a:rPr>
              <a:t>Санитарные правила: </a:t>
            </a:r>
            <a:pPr algn="l" marL="304800" indent="-304800">
              <a:spcAft>
                <a:spcPts val="1000"/>
              </a:spcAft>
              <a:buSzPct val="100000"/>
              <a:buChar char="–"/>
            </a:pPr>
            <a:r>
              <a:rPr lang="ru-RU" altLang="en-US" sz="2400" dirty="0">
                <a:solidFill>
                  <a:schemeClr val="tx1"/>
                </a:solidFill>
              </a:rPr>
              <a:t>если доза члена экипажа может превысить 1 мЗв в год, эксплуатант рассчитывает индивидуальную дозу, назначает ответственного и ведёт учёт</a:t>
            </a:r>
            <a:endParaRPr lang="ru-RU" sz="2400" dirty="0"/>
          </a:p>
          <a:p>
            <a:pPr algn="l" marL="304800" indent="-304800">
              <a:spcAft>
                <a:spcPts val="1000"/>
              </a:spcAft>
              <a:buSzPct val="100000"/>
              <a:buChar char="–"/>
            </a:pPr>
            <a:r>
              <a:rPr lang="ru-RU" altLang="en-US" sz="2400" b="1" dirty="0">
                <a:solidFill>
                  <a:schemeClr val="tx1"/>
                </a:solidFill>
              </a:rPr>
              <a:t>Контрольный уровень: </a:t>
            </a:r>
            <a:pPr algn="l" marL="304800" indent="-304800">
              <a:spcAft>
                <a:spcPts val="1000"/>
              </a:spcAft>
              <a:buSzPct val="100000"/>
              <a:buChar char="–"/>
            </a:pPr>
            <a:r>
              <a:rPr lang="ru-RU" altLang="en-US" sz="2400" dirty="0">
                <a:solidFill>
                  <a:schemeClr val="tx1"/>
                </a:solidFill>
              </a:rPr>
              <a:t>ниже предела 5 мЗв в год; при его достижении график члена экипажа корректируется</a:t>
            </a:r>
            <a:endParaRPr lang="ru-RU" sz="2400" dirty="0"/>
          </a:p>
          <a:p>
            <a:pPr algn="l" marL="304800" indent="-304800">
              <a:spcAft>
                <a:spcPts val="1000"/>
              </a:spcAft>
              <a:buSzPct val="100000"/>
              <a:buChar char="–"/>
            </a:pPr>
            <a:r>
              <a:rPr lang="ru-RU" altLang="en-US" sz="2400" b="1" dirty="0">
                <a:solidFill>
                  <a:schemeClr val="tx1"/>
                </a:solidFill>
              </a:rPr>
              <a:t>Методические указания Роспотребнадзора: </a:t>
            </a:r>
            <a:pPr algn="l" marL="304800" indent="-304800">
              <a:spcAft>
                <a:spcPts val="1000"/>
              </a:spcAft>
              <a:buSzPct val="100000"/>
              <a:buChar char="–"/>
            </a:pPr>
            <a:r>
              <a:rPr lang="ru-RU" altLang="en-US" sz="2400" dirty="0">
                <a:solidFill>
                  <a:schemeClr val="tx1"/>
                </a:solidFill>
              </a:rPr>
              <a:t>расчёт дозы по фактическим маршрутам, эшелонам и времени полёта (в перспективе – единый государственный сервис расчёта)</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15</a:t>
            </a:fld>
            <a:endParaRPr lang="ru-R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Предложения по совершенствованию</a:t>
            </a:r>
            <a:endParaRPr lang="ru-RU" sz="2800" dirty="0"/>
          </a:p>
        </p:txBody>
      </p:sp>
      <p:sp>
        <p:nvSpPr>
          <p:cNvPr id="3" name="Text 1"/>
          <p:cNvSpPr/>
          <p:nvPr>
            <p:ph idx="103"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b="1" dirty="0">
                <a:solidFill>
                  <a:schemeClr val="tx1"/>
                </a:solidFill>
              </a:rPr>
              <a:t>ЕСКИД: </a:t>
            </a:r>
            <a:pPr algn="l" marL="304800" indent="-304800">
              <a:spcAft>
                <a:spcPts val="1000"/>
              </a:spcAft>
              <a:buSzPct val="100000"/>
              <a:buChar char="–"/>
            </a:pPr>
            <a:r>
              <a:rPr lang="ru-RU" altLang="en-US" sz="2400" dirty="0">
                <a:solidFill>
                  <a:schemeClr val="tx1"/>
                </a:solidFill>
              </a:rPr>
              <a:t>дополнить формы учёта дозами членов экипажей; ежегодно и при увольнении сообщать работнику его дозу</a:t>
            </a:r>
            <a:endParaRPr lang="ru-RU" sz="2400" dirty="0"/>
          </a:p>
          <a:p>
            <a:pPr algn="l" marL="304800" indent="-304800">
              <a:spcAft>
                <a:spcPts val="1000"/>
              </a:spcAft>
              <a:buSzPct val="100000"/>
              <a:buChar char="–"/>
            </a:pPr>
            <a:r>
              <a:rPr lang="ru-RU" altLang="en-US" sz="2400" b="1" dirty="0">
                <a:solidFill>
                  <a:schemeClr val="tx1"/>
                </a:solidFill>
              </a:rPr>
              <a:t>Приказ Минтранса № 381 (ст. 329 ТК РФ): </a:t>
            </a:r>
            <a:pPr algn="l" marL="304800" indent="-304800">
              <a:spcAft>
                <a:spcPts val="1000"/>
              </a:spcAft>
              <a:buSzPct val="100000"/>
              <a:buChar char="–"/>
            </a:pPr>
            <a:r>
              <a:rPr lang="ru-RU" altLang="en-US" sz="2400" dirty="0">
                <a:solidFill>
                  <a:schemeClr val="tx1"/>
                </a:solidFill>
              </a:rPr>
              <a:t>учитывать дозу при составлении графиков; согласие на налёт до 900 ч – только после сообщения работнику его дозы</a:t>
            </a:r>
            <a:endParaRPr lang="ru-RU" sz="2400" dirty="0"/>
          </a:p>
          <a:p>
            <a:pPr algn="l" marL="304800" indent="-304800">
              <a:spcAft>
                <a:spcPts val="1000"/>
              </a:spcAft>
              <a:buSzPct val="100000"/>
              <a:buChar char="–"/>
            </a:pPr>
            <a:r>
              <a:rPr lang="ru-RU" altLang="en-US" sz="2400" b="1" dirty="0">
                <a:solidFill>
                  <a:schemeClr val="tx1"/>
                </a:solidFill>
              </a:rPr>
              <a:t>Беременные члены экипажа: </a:t>
            </a:r>
            <a:pPr algn="l" marL="304800" indent="-304800">
              <a:spcAft>
                <a:spcPts val="1000"/>
              </a:spcAft>
              <a:buSzPct val="100000"/>
              <a:buChar char="–"/>
            </a:pPr>
            <a:r>
              <a:rPr lang="ru-RU" altLang="en-US" sz="2400" dirty="0">
                <a:solidFill>
                  <a:schemeClr val="tx1"/>
                </a:solidFill>
              </a:rPr>
              <a:t>после уведомления – перевод на наземную работу или на рейсы, где доза плоду не превысит 1 мЗв</a:t>
            </a:r>
            <a:endParaRPr lang="ru-RU" sz="2400" dirty="0"/>
          </a:p>
          <a:p>
            <a:pPr algn="l" marL="304800" indent="-304800">
              <a:spcAft>
                <a:spcPts val="1000"/>
              </a:spcAft>
              <a:buSzPct val="100000"/>
              <a:buChar char="–"/>
            </a:pPr>
            <a:r>
              <a:rPr lang="ru-RU" altLang="en-US" sz="2400" b="1" dirty="0">
                <a:solidFill>
                  <a:schemeClr val="tx1"/>
                </a:solidFill>
              </a:rPr>
              <a:t>Приказ Минтруда № 255н: </a:t>
            </a:r>
            <a:pPr algn="l" marL="304800" indent="-304800">
              <a:spcAft>
                <a:spcPts val="1000"/>
              </a:spcAft>
              <a:buSzPct val="100000"/>
              <a:buChar char="–"/>
            </a:pPr>
            <a:r>
              <a:rPr lang="ru-RU" altLang="en-US" sz="2400" dirty="0">
                <a:solidFill>
                  <a:schemeClr val="tx1"/>
                </a:solidFill>
              </a:rPr>
              <a:t>при пересмотре (до 01.03.2029) учесть космическое излучение в СОУТ</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16</a:t>
            </a:fld>
            <a:endParaRPr lang="ru-R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Выводы</a:t>
            </a:r>
            <a:endParaRPr lang="ru-RU" sz="2800" dirty="0"/>
          </a:p>
        </p:txBody>
      </p:sp>
      <p:sp>
        <p:nvSpPr>
          <p:cNvPr id="3" name="Text 1"/>
          <p:cNvSpPr/>
          <p:nvPr>
            <p:ph idx="103"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dirty="0">
                <a:solidFill>
                  <a:schemeClr val="tx1"/>
                </a:solidFill>
              </a:rPr>
              <a:t>Предел дозы для экипажей установлен (5 мЗв в год, пп. 4.1, 4.3 НРБ‑99/2009), но механизм его соблюдения не закреплён</a:t>
            </a:r>
            <a:endParaRPr lang="ru-RU" sz="2400" dirty="0"/>
          </a:p>
          <a:p>
            <a:pPr algn="l" marL="304800" indent="-304800">
              <a:spcAft>
                <a:spcPts val="1000"/>
              </a:spcAft>
              <a:buSzPct val="100000"/>
              <a:buChar char="–"/>
            </a:pPr>
            <a:r>
              <a:rPr lang="ru-RU" altLang="en-US" sz="2400" dirty="0">
                <a:solidFill>
                  <a:schemeClr val="tx1"/>
                </a:solidFill>
              </a:rPr>
              <a:t>В действующих актах не обнаружено норм о том, кто и как рассчитывает и учитывает индивидуальную дозу; СОУТ и лимиты налёта этот пробел не закрывают</a:t>
            </a:r>
            <a:endParaRPr lang="ru-RU" sz="2400" dirty="0"/>
          </a:p>
          <a:p>
            <a:pPr algn="l" marL="304800" indent="-304800">
              <a:spcAft>
                <a:spcPts val="1000"/>
              </a:spcAft>
              <a:buSzPct val="100000"/>
              <a:buChar char="–"/>
            </a:pPr>
            <a:r>
              <a:rPr lang="ru-RU" altLang="en-US" sz="2400" dirty="0">
                <a:solidFill>
                  <a:schemeClr val="tx1"/>
                </a:solidFill>
              </a:rPr>
              <a:t>Предлагается закрепить расчёт и учёт индивидуальной дозы, сообщение дозы работнику, учёт дозы в графиках и защиту беременных – по образцу ст. 35 Директивы 2013/59/Евратом</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17</a:t>
            </a:fld>
            <a:endParaRPr lang="ru-R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1325880" y="274320"/>
            <a:ext cx="9539935" cy="914400"/>
          </a:xfrm>
          <a:prstGeom prst="rect">
            <a:avLst/>
          </a:prstGeom>
          <a:noFill/>
          <a:ln/>
        </p:spPr>
        <p:txBody>
          <a:bodyPr wrap="square" lIns="635" tIns="635" rIns="635" bIns="635" rtlCol="0" anchor="ctr"/>
          <a:lstStyle/>
          <a:p>
            <a:pPr algn="l" indent="0" marL="0">
              <a:buNone/>
            </a:pPr>
            <a:r>
              <a:rPr lang="ru-RU" altLang="en-US" sz="2800" b="1" dirty="0">
                <a:solidFill>
                  <a:schemeClr val="tx2"/>
                </a:solidFill>
              </a:rPr>
              <a:t>Список использованных источников</a:t>
            </a:r>
            <a:endParaRPr lang="ru-RU" sz="2800" dirty="0"/>
          </a:p>
        </p:txBody>
      </p:sp>
      <p:sp>
        <p:nvSpPr>
          <p:cNvPr id="3" name="Text 1"/>
          <p:cNvSpPr txBox="1"/>
          <p:nvPr/>
        </p:nvSpPr>
        <p:spPr>
          <a:xfrm>
            <a:off x="548640" y="1280160"/>
            <a:ext cx="11094415" cy="4983480"/>
          </a:xfrm>
          <a:prstGeom prst="rect">
            <a:avLst/>
          </a:prstGeom>
          <a:noFill/>
          <a:ln/>
        </p:spPr>
        <p:txBody>
          <a:bodyPr wrap="square" lIns="635" tIns="635" rIns="635" bIns="635" rtlCol="0" anchor="t"/>
          <a:lstStyle/>
          <a:p>
            <a:pPr algn="just" marL="342900" indent="-342900">
              <a:spcAft>
                <a:spcPts val="400"/>
              </a:spcAft>
              <a:buSzPct val="100000"/>
              <a:buFont typeface="+mj-lt"/>
              <a:buAutoNum type="arabicPeriod" startAt="1"/>
            </a:pPr>
            <a:r>
              <a:rPr lang="ru-RU" altLang="en-US" sz="1200" dirty="0">
                <a:solidFill>
                  <a:schemeClr val="tx1"/>
                </a:solidFill>
              </a:rPr>
              <a:t>ICRP Publication 132. Radiological Protection from Cosmic Radiation in Aviation // Annals of the ICRP. – 2016. – Vol. 45, № 1.</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Маткевич Е. И., Бурмистров В. И., Иванов И. В. Оценка доз облучения летного состава воздушных судов и обоснование мероприятий по их снижению // Медицинская радиология и радиационная безопасность. – 2025. – Т. 70, № 6. – С. 28–⁠39.</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О радиационной безопасности населения : Федеральный закон от 09.01.1996 № 3‑ФЗ.</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О санитарно-эпидемиологическом благополучии населения : Федеральный закон от 30.03.1999 № 52‑ФЗ.</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СанПиН 2.6.1.2523‑09. Нормы радиационной безопасности (НРБ‑99/2009) : утв. постановлением Главного государственного санитарного врача РФ от 07.07.2009 № 47.</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Воздушный кодекс Российской Федерации от 19.03.1997 № 60‑ФЗ.</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Об отмене нормативных правовых актов федеральных органов исполнительной власти, содержащих обязательные требования, соблюдение которых оценивается при проведении мероприятий по контролю при осуществлении федерального государственного санитарно-эпидемиологического надзора : постановление Правительства РФ от 08.10.2020 № 1631.</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СанПиН 2.6.4115‑25. Санитарно-эпидемиологические требования в области радиационной безопасности населения при обращении источников ионизирующего излучения : утв. постановлением Главного государственного санитарного врача РФ от 27.03.2025 № 6.</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Трудовой кодекс Российской Федерации от 30.12.2001 № 197‑ФЗ.</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Об утверждении особенностей проведения специальной оценки условий труда на рабочих местах членов летных и кабинных экипажей воздушных судов гражданской авиации : приказ Минтруда России от 06.05.2024 № 255н.</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Приказ Минтранса России от 10.11.2025 № 381 «Об установлении Особенностей режима рабочего времени и времени отдыха специалистов авиационного персонала гражданской авиации…». – Введ. 01.03.2026.</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Council Directive 2013/59/Euratom of 5 December 2013 laying down basic safety standards for protection against the dangers arising from exposure to ionising radiation.</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Gesetz zum Schutz vor der schädlichen Wirkung ionisierender Strahlung (Strahlenschutzgesetz – StrlSchG) vom 27.06.2017.</a:t>
            </a:r>
            <a:endParaRPr lang="ru-RU" sz="1200" dirty="0"/>
          </a:p>
          <a:p>
            <a:pPr algn="just" marL="342900" indent="-342900">
              <a:spcAft>
                <a:spcPts val="400"/>
              </a:spcAft>
              <a:buSzPct val="100000"/>
              <a:buFont typeface="+mj-lt"/>
              <a:buAutoNum type="arabicPeriod" startAt="1"/>
            </a:pPr>
            <a:r>
              <a:rPr lang="ru-RU" altLang="en-US" sz="1200" dirty="0">
                <a:solidFill>
                  <a:schemeClr val="tx1"/>
                </a:solidFill>
              </a:rPr>
              <a:t>Verordnung zum Schutz vor der schädlichen Wirkung ionisierender Strahlung (Strahlenschutzverordnung – StrlSchV) vom 29.11.2018.</a:t>
            </a:r>
            <a:endParaRPr lang="ru-RU" sz="12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18</a:t>
            </a:fld>
            <a:endParaRPr lang="ru-RU"/>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Эмблема УИ ГА">    </p:cNvPr>
          <p:cNvPicPr>
            <a:picLocks noChangeAspect="1"/>
          </p:cNvPicPr>
          <p:nvPr/>
        </p:nvPicPr>
        <p:blipFill>
          <a:blip r:embed="rId1"/>
          <a:stretch>
            <a:fillRect/>
          </a:stretch>
        </p:blipFill>
        <p:spPr>
          <a:xfrm>
            <a:off x="5547208" y="1097280"/>
            <a:ext cx="1097280" cy="1097280"/>
          </a:xfrm>
          <a:prstGeom prst="rect">
            <a:avLst/>
          </a:prstGeom>
        </p:spPr>
      </p:pic>
      <p:sp>
        <p:nvSpPr>
          <p:cNvPr id="3" name="Text 0"/>
          <p:cNvSpPr txBox="1"/>
          <p:nvPr/>
        </p:nvSpPr>
        <p:spPr>
          <a:xfrm>
            <a:off x="548640" y="2377440"/>
            <a:ext cx="11094415" cy="914400"/>
          </a:xfrm>
          <a:prstGeom prst="rect">
            <a:avLst/>
          </a:prstGeom>
          <a:noFill/>
          <a:ln/>
        </p:spPr>
        <p:txBody>
          <a:bodyPr wrap="square" lIns="635" tIns="635" rIns="635" bIns="635" rtlCol="0" anchor="ctr"/>
          <a:lstStyle/>
          <a:p>
            <a:pPr algn="ctr" indent="0" marL="0">
              <a:buNone/>
            </a:pPr>
            <a:r>
              <a:rPr lang="ru-RU" altLang="en-US" sz="3600" b="1" dirty="0">
                <a:solidFill>
                  <a:schemeClr val="tx2"/>
                </a:solidFill>
                <a:latin typeface="Cambria" pitchFamily="34" charset="0"/>
                <a:ea typeface="Cambria" pitchFamily="34" charset="-122"/>
                <a:cs typeface="Cambria" pitchFamily="34" charset="-120"/>
              </a:rPr>
              <a:t>Спасибо за внимание!</a:t>
            </a:r>
            <a:endParaRPr lang="ru-RU" sz="3600" dirty="0"/>
          </a:p>
        </p:txBody>
      </p:sp>
      <p:sp>
        <p:nvSpPr>
          <p:cNvPr id="4" name="Text 1"/>
          <p:cNvSpPr txBox="1"/>
          <p:nvPr/>
        </p:nvSpPr>
        <p:spPr>
          <a:xfrm>
            <a:off x="1097280" y="3383280"/>
            <a:ext cx="9994392" cy="914400"/>
          </a:xfrm>
          <a:prstGeom prst="rect">
            <a:avLst/>
          </a:prstGeom>
          <a:noFill/>
          <a:ln/>
        </p:spPr>
        <p:txBody>
          <a:bodyPr wrap="square" lIns="635" tIns="635" rIns="635" bIns="635" rtlCol="0" anchor="ctr"/>
          <a:lstStyle/>
          <a:p>
            <a:pPr algn="ctr" indent="0" marL="0">
              <a:buNone/>
            </a:pPr>
            <a:r>
              <a:rPr lang="ru-RU" altLang="en-US" sz="2000" dirty="0">
                <a:solidFill>
                  <a:schemeClr val="tx1"/>
                </a:solidFill>
              </a:rPr>
              <a:t>«Космическое облучение членов экипажей воздушных судов и их правовая защита в Российской Федерации»</a:t>
            </a:r>
            <a:endParaRPr lang="ru-RU" sz="2000" dirty="0"/>
          </a:p>
        </p:txBody>
      </p:sp>
    </p:spTree>
  </p:cSld>
  <p:clrMapOvr>
    <a:masterClrMapping/>
  </p:clrMapOvr>
</p:sld>
</file>

<file path=ppt/theme/theme1.xml><?xml version="1.0" encoding="utf-8"?>
<a:theme xmlns:a="http://schemas.openxmlformats.org/drawingml/2006/main" name="Office">
  <a:themeElements>
    <a:clrScheme name="Office">
      <a:dk1>
        <a:srgbClr val="1A1A1A"/>
      </a:dk1>
      <a:lt1>
        <a:srgbClr val="FFFFFF"/>
      </a:lt1>
      <a:dk2>
        <a:srgbClr val="1F3864"/>
      </a:dk2>
      <a:lt2>
        <a:srgbClr val="EAF0F8"/>
      </a:lt2>
      <a:accent1>
        <a:srgbClr val="1F3864"/>
      </a:accent1>
      <a:accent2>
        <a:srgbClr val="8EA9DB"/>
      </a:accent2>
      <a:accent3>
        <a:srgbClr val="C00000"/>
      </a:accent3>
      <a:accent4>
        <a:srgbClr val="BFBFBF"/>
      </a:accent4>
      <a:accent5>
        <a:srgbClr val="595959"/>
      </a:accent5>
      <a:accent6>
        <a:srgbClr val="D9D9D9"/>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УИ ГА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Космическое облучение членов экипажей воздушных судов и их правовая защита в Российской Федерации</dc:title>
  <dc:subject>Воздушное право</dc:subject>
  <dc:creator>Шутов Н. Р., Ролдугин И. Д.</dc:creator>
  <cp:lastModifiedBy>Шутов Н. Р., Ролдугин И. Д.</cp:lastModifiedBy>
  <cp:revision>1</cp:revision>
  <dcterms:created xsi:type="dcterms:W3CDTF">2026-10-10T09:33:13Z</dcterms:created>
  <dcterms:modified xsi:type="dcterms:W3CDTF">2026-10-10T09:33:13Z</dcterms:modified>
</cp:coreProperties>
</file>