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Титульный лист" id="{5f50fabb-1d02-50ad-77bf-42145a0d9cc3}">
          <p14:sldIdLst>
            <p14:sldId id="256"/>
          </p14:sldIdLst>
        </p14:section>
        <p14:section name="Введение" id="{48a7ca47-b31f-da3d-1684-1d3c52fa0dfd}">
          <p14:sldIdLst>
            <p14:sldId id="257"/>
          </p14:sldIdLst>
        </p14:section>
        <p14:section name="Измерения" id="{1316871c-ecf2-b8de-9d77-9660c2ad6ac8}">
          <p14:sldIdLst>
            <p14:sldId id="258"/>
            <p14:sldId id="259"/>
            <p14:sldId id="260"/>
          </p14:sldIdLst>
        </p14:section>
        <p14:section name="Правовое регулирование" id="{ece0ce48-7b39-9001-8858-ba676e978ad6}">
          <p14:sldIdLst>
            <p14:sldId id="261"/>
            <p14:sldId id="262"/>
            <p14:sldId id="263"/>
            <p14:sldId id="264"/>
          </p14:sldIdLst>
        </p14:section>
        <p14:section name="Оценка и сравнение" id="{9e5f0937-39b2-32af-2741-a2964878f7f2}">
          <p14:sldIdLst>
            <p14:sldId id="265"/>
            <p14:sldId id="266"/>
          </p14:sldIdLst>
        </p14:section>
        <p14:section name="Заключение" id="{93dc7203-832c-935b-eeb1-1d58ec9f5ae5}">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Годовая доза, мЗв</c:v>
                </c:pt>
              </c:strCache>
            </c:strRef>
          </c:tx>
          <c:spPr>
            <a:solidFill>
              <a:srgbClr val="A6A6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A6A6A6"/>
              </a:solidFill>
              <a:effectLst/>
            </c:spPr>
          </c:dPt>
          <c:dPt>
            <c:idx val="1"/>
            <c:invertIfNegative val="0"/>
            <c:bubble3D val="0"/>
            <c:spPr>
              <a:solidFill>
                <a:srgbClr val="404040"/>
              </a:solidFill>
              <a:effectLst/>
            </c:spPr>
          </c:dPt>
          <c:dPt>
            <c:idx val="2"/>
            <c:invertIfNegative val="0"/>
            <c:bubble3D val="0"/>
            <c:spPr>
              <a:solidFill>
                <a:srgbClr val="000000"/>
              </a:solidFill>
              <a:effectLst/>
            </c:spPr>
          </c:dPt>
          <c:cat>
            <c:multiLvlStrRef>
              <c:f>Sheet1!$A$2:$A$4</c:f>
              <c:multiLvlStrCache>
                <c:ptCount val="3"/>
                <c:lvl>
                  <c:pt idx="0">
                    <c:v>Налёт 800 ч: ≈ 3,2 мЗв</c:v>
                  </c:pt>
                  <c:pt idx="1">
                    <c:v>Налёт 900 ч: ≈ 3,6 мЗв</c:v>
                  </c:pt>
                  <c:pt idx="2">
                    <c:v>Предел: 5 мЗв</c:v>
                  </c:pt>
                </c:lvl>
              </c:multiLvlStrCache>
            </c:multiLvlStrRef>
          </c:cat>
          <c:val>
            <c:numRef>
              <c:f>Sheet1!$B$2:$B$4</c:f>
              <c:numCache>
                <c:formatCode>General</c:formatCode>
                <c:ptCount val="3"/>
                <c:pt idx="0">
                  <c:v>3.2</c:v>
                </c:pt>
                <c:pt idx="1">
                  <c:v>3.6</c:v>
                </c:pt>
                <c:pt idx="2">
                  <c:v>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00"/>
                </a:solidFill>
                <a:latin typeface="+mn-lt"/>
              </a:defRPr>
            </a:pPr>
            <a:endParaRPr lang="ru-RU"/>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ru-RU"/>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Nikita Shutov:
Good afternoon, members of the jury and dear colleagues. My name is Nikita Shutov, and this is my colleague Ilya Roldugin. We are cadets of the Ulyanovsk Civil Aviation Institute. We would like to present our paper “Cosmic Radiation Exposure of Aircraft Crew Members and Their Legal Protection in the Russian Federation”. Our academic supervisor is Professor Natalia Semenovna Boyko of the Department of Flight Operations and Flight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Nikita Shutov:
At cruising level, radiation levels are much higher than on the ground. As early as 1990, the International Commission on Radiological Protection recognised this exposure of aircrew as occupational. In my previous work I measured radiation levels on board an aircraft with a home-made Geiger counter. Now we look at the topic from the legal side. The aim of our work is to examine how Russian law regulates the exposure of aircrew to cosmic radiation. We answer three questions: which rules limit crew exposure, who must keep a record of the dose, and what has changed in the law in recent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Nikita Shutov:
Let me briefly recall the results. The measurements were taken on two flights at roughly the same latitudes: Novokuznetsk – Irkutsk and Yekaterinburg – Chita. The counter was in the cockpit, and readings were taken before take-off, at cruising level and after landing. Near the ground the average readings were about 8 to 15 microroentgens per hour; at 33 to 35 thousand feet they were 170 to 184. So at cruising level the readings were 11 to 22 times higher — on average about 16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Nikita Shutov:
Here you can see single readings on the Novokuznetsk – Irkutsk flight: 13.2 microroentgens per hour before take-off, almost 195 at flight level three-five-zero near waypoint NILRA, and 9.9 after landing in Irkutsk. These are single readings, so they differ slightly from the averages in the table. On the right you can see waypoint NILRA on the cockpit displays and in the computer flight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Nikita Shutov:
However, these readings alone are not enough to estimate the annual dose. A Geiger counter is designed mainly for gamma and beta radiation and hardly detects neutrons. But at altitude, neutrons give a large part of the dose. That is why a crew member’s annual dose is calculated from actual routes, altitudes and flight dates — with software such as CARI-7 or with the Russian model RUSCOSMICS. This leads to the main question of our work: who in Russia must keep a record of this dose, and which legal rules set out this duty? Ilya will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Ilya Roldugin:
Thank you, Nikita. Regulation is based on two federal laws: No. 3-FZ “On Radiation Safety of the Population” and No. 52-FZ “On the Sanitary and Epidemiological Welfare of the Population”. The dose limit itself is set by the Radiation Safety Standards, NRB-99/2009. Under clause 4.1, a worker’s effective dose from natural radiation sources under occupational conditions must not exceed 5 millisieverts per year. Clause 4.3 applies this rule directly to aircraft crews. Under Article 56 of the Air Code, the crew consists of the flight crew and the cabin crew, so the limit covers both pilots and flight attendants.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Ilya Roldugin:
Nikita’s previous work cited two sets of sanitary rules — the SanPiNs of 2008 and 2010 shown on the slide. Both are no longer in force. The first ceased to apply on 1 January 2021, and the second on 1 September 2025, when a new SanPiN came into force. Still, the limit of 5 millisieverts per year remains in NRB-99/2009, and Article 18 of Federal Law No. 3-FZ provides for monitoring and recording of individual doses through a single state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Ilya Roldugin:
Under Article 214 of the Labour Code, the airline as the employer must ensure safe working conditions. Since 1 March 2025, Order No. 255n of the Ministry of Labour has set specific rules for the special assessment of working conditions of flight and cabin crews. As a general rule, harmful factors are measured during a special control flight. But this assessment describes the workplace, not the dose that a particular person receives over a year on different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Ilya Roldugin:
This diagram shows the whole system. Federal laws, including the Air Code and the Labour Code, form the framework. Below them, the radiation safety standards set the dose limit, an order of the Ministry of Labour regulates the assessment of working conditions, and an order of the Ministry of Transport limits flight time. Two sets of sanitary rules have been repealed, and a special procedure for calculating each crew member’s dose from actual flights has still not been established. Now Nikita will talk about flight time and the annual dose.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Nikita Shutov:
Thank you, Ilya. On 1 March 2026, Order No. 381 of the Ministry of Transport replaced Order No. 139. Flight time must not exceed 800 hours a year, or 900 hours with the employee’s written consent. What dose does this give? Russian researchers calculated that flight crew receive about 362 microsieverts per month with 90 flight hours — about 4 microsieverts per flight hour. So 800 hours give about 3.2 millisieverts, and 900 hours about 3.6 millisieverts a year — more than 70 percent of the limit. On high-latitude routes and during solar flares the dose rate is even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 Nikita Shutov:
For comparison, the ICRP recommends choosing a reference level for aircrew in the range of 5 to 10 millisieverts per year. In the European Union, Article 35(3) of Council Directive 2013/59/Euratom requires Member States to ensure the following: if crew members are likely to receive more than 1 millisievert a year, the airline must assess their exposure, take it into account when planning work schedules, and inform the workers about their doses. In the Russian acts we examined there is no such special procedure. Ilya will present our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Ilya Roldugin:
To sum up. First, crew exposure in Russia is regulated: the limit of 5 millisieverts per year under clauses 4.1 and 4.3 of NRB-99/2009 has remained in force after the special sanitary rules were repealed. Second, the special assessment of working conditions and flight time limits do not replace individual dose records: by our estimate, 900 flight hours may give more than 70 percent of the limit. Third, we propose to establish a procedure for calculating individual doses from actual flights, informing employees and taking doses into account when planning schedules, as is already done in EU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Ilya Roldugin:
The list of sources is shown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 Ilya Roldugin:
Thank you for your attention! We are ready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PAGE">
    <p:bg>
      <p:bgPr>
        <a:solidFill>
          <a:schemeClr val="bg1"/>
        </a:solidFill>
      </p:bgPr>
    </p:bg>
    <p:spTree>
      <p:nvGrpSpPr>
        <p:cNvPr id="1" name=""/>
        <p:cNvGrpSpPr/>
        <p:nvPr/>
      </p:nvGrpSpPr>
      <p:grpSpPr>
        <a:xfrm>
          <a:off x="0" y="0"/>
          <a:ext cx="0" cy="0"/>
          <a:chOff x="0" y="0"/>
          <a:chExt cx="0" cy="0"/>
        </a:xfrm>
      </p:grpSpPr>
      <p:pic>
        <p:nvPicPr>
          <p:cNvPr id="2" name="Image 0" descr="Логотип УИ ГА">    </p:cNvPr>
          <p:cNvPicPr>
            <a:picLocks noChangeAspect="1"/>
          </p:cNvPicPr>
          <p:nvPr/>
        </p:nvPicPr>
        <p:blipFill>
          <a:blip r:embed="rId1"/>
          <a:stretch>
            <a:fillRect/>
          </a:stretch>
        </p:blipFill>
        <p:spPr>
          <a:xfrm>
            <a:off x="320040" y="228600"/>
            <a:ext cx="960120" cy="9601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Логотип УИ ГА">    </p:cNvPr>
          <p:cNvPicPr>
            <a:picLocks noChangeAspect="1"/>
          </p:cNvPicPr>
          <p:nvPr/>
        </p:nvPicPr>
        <p:blipFill>
          <a:blip r:embed="rId1"/>
          <a:stretch>
            <a:fillRect/>
          </a:stretch>
        </p:blipFill>
        <p:spPr>
          <a:xfrm>
            <a:off x="320040" y="182880"/>
            <a:ext cx="749808" cy="749808"/>
          </a:xfrm>
          <a:prstGeom prst="rect">
            <a:avLst/>
          </a:prstGeom>
        </p:spPr>
      </p:pic>
      <p:sp>
        <p:nvSpPr>
          <p:cNvPr id="3" name="Shape 0"/>
          <p:cNvSpPr/>
          <p:nvPr/>
        </p:nvSpPr>
        <p:spPr>
          <a:xfrm>
            <a:off x="320040" y="1024128"/>
            <a:ext cx="11551615" cy="0"/>
          </a:xfrm>
          <a:prstGeom prst="line">
            <a:avLst/>
          </a:prstGeom>
          <a:noFill/>
          <a:ln w="9525">
            <a:solidFill>
              <a:schemeClr val="tx1"/>
            </a:solidFill>
            <a:prstDash val="solid"/>
          </a:ln>
        </p:spPr>
      </p:sp>
      <p:sp>
        <p:nvSpPr>
          <p:cNvPr id="4" name="Shape 1"/>
          <p:cNvSpPr/>
          <p:nvPr/>
        </p:nvSpPr>
        <p:spPr>
          <a:xfrm>
            <a:off x="320040" y="6400800"/>
            <a:ext cx="11551615" cy="0"/>
          </a:xfrm>
          <a:prstGeom prst="line">
            <a:avLst/>
          </a:prstGeom>
          <a:noFill/>
          <a:ln w="6350">
            <a:solidFill>
              <a:schemeClr val="tx1"/>
            </a:solidFill>
            <a:prstDash val="solid"/>
          </a:ln>
        </p:spPr>
      </p:sp>
      <p:sp>
        <p:nvSpPr>
          <p:cNvPr id="5" name="Text 2"/>
          <p:cNvSpPr/>
          <p:nvPr/>
        </p:nvSpPr>
        <p:spPr>
          <a:xfrm>
            <a:off x="320040" y="6455664"/>
            <a:ext cx="9601200" cy="274320"/>
          </a:xfrm>
          <a:prstGeom prst="rect">
            <a:avLst/>
          </a:prstGeom>
          <a:noFill/>
          <a:ln/>
        </p:spPr>
        <p:txBody>
          <a:bodyPr wrap="square" lIns="0" tIns="0" rIns="0" bIns="0" rtlCol="0" anchor="t"/>
          <a:lstStyle/>
          <a:p>
            <a:pPr indent="0" marL="0">
              <a:buNone/>
            </a:pPr>
            <a:r>
              <a:rPr lang="ru-RU" altLang="en-US" sz="1000" dirty="0">
                <a:solidFill>
                  <a:schemeClr val="tx2"/>
                </a:solidFill>
              </a:rPr>
              <a:t>УИ ГА им. Б. П. Бугаева · Кафедра ЛЭиБП · Воздушное право · Шутов Н. Р., Ролдугин И. Д.</a:t>
            </a:r>
            <a:endParaRPr lang="ru-RU" sz="1000" dirty="0"/>
          </a:p>
        </p:txBody>
      </p:sp>
      <p:sp>
        <p:nvSpPr>
          <p:cNvPr id="6" name="Text 3"/>
          <p:cNvSpPr/>
          <p:nvPr>
            <p:ph idx="104" type="title" hasCustomPrompt="1"/>
          </p:nvPr>
        </p:nvSpPr>
        <p:spPr>
          <a:xfrm>
            <a:off x="1207008" y="182880"/>
            <a:ext cx="10664647" cy="749808"/>
          </a:xfrm>
          <a:prstGeom prst="rect">
            <a:avLst/>
          </a:prstGeom>
          <a:noFill/>
          <a:ln/>
        </p:spPr>
        <p:txBody>
          <a:bodyPr wrap="square" rtlCol="0"/>
          <a:lstStyle>
            <a:lvl1pPr algn="l" indent="0" marL="0">
              <a:buNone/>
              <a:defRPr lang="ru-RU" altLang="en-US" sz="2400" b="1" dirty="0">
                <a:solidFill>
                  <a:schemeClr val="tx1"/>
                </a:solidFill>
              </a:defRPr>
            </a:lvl1pPr>
          </a:lstStyle>
          <a:p>
            <a:pPr algn="l" indent="0" marL="0">
              <a:buNone/>
            </a:pPr>
            <a:endParaRPr lang="ru-RU" sz="24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1003</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null</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Шапка"/>
          <p:cNvSpPr txBox="1"/>
          <p:nvPr/>
        </p:nvSpPr>
        <p:spPr>
          <a:xfrm>
            <a:off x="1463040" y="274320"/>
            <a:ext cx="9262872" cy="1097280"/>
          </a:xfrm>
          <a:prstGeom prst="rect">
            <a:avLst/>
          </a:prstGeom>
          <a:noFill/>
          <a:ln/>
        </p:spPr>
        <p:txBody>
          <a:bodyPr wrap="square" lIns="0" tIns="0" rIns="0" bIns="0" rtlCol="0" anchor="t"/>
          <a:lstStyle/>
          <a:p>
            <a:pPr algn="ctr" indent="0" marL="0">
              <a:buNone/>
            </a:pPr>
            <a:r>
              <a:rPr lang="ru-RU" altLang="en-US" sz="1500" b="1" dirty="0">
                <a:solidFill>
                  <a:schemeClr val="tx1"/>
                </a:solidFill>
              </a:rPr>
              <a:t>МИНИСТЕРСТВО ТРАНСПОРТА РОССИЙСКОЙ ФЕДЕРАЦИИ</a:t>
            </a:r>
            <a:endParaRPr lang="ru-RU" sz="1500" dirty="0"/>
          </a:p>
          <a:p>
            <a:pPr algn="ctr" indent="0" marL="0">
              <a:buNone/>
            </a:pPr>
            <a:r>
              <a:rPr lang="ru-RU" altLang="en-US" sz="1500" b="1" dirty="0">
                <a:solidFill>
                  <a:schemeClr val="tx1"/>
                </a:solidFill>
              </a:rPr>
              <a:t>ФЕДЕРАЛЬНОЕ ГОСУДАРСТВЕННОЕ БЮДЖЕТНОЕ ОБРАЗОВАТЕЛЬНОЕ УЧРЕЖДЕНИЕ ВЫСШЕГО ОБРАЗОВАНИЯ</a:t>
            </a:r>
            <a:endParaRPr lang="ru-RU" sz="1500" dirty="0"/>
          </a:p>
          <a:p>
            <a:pPr algn="ctr" indent="0" marL="0">
              <a:buNone/>
            </a:pPr>
            <a:r>
              <a:rPr lang="ru-RU" altLang="en-US" sz="1500" b="1" dirty="0">
                <a:solidFill>
                  <a:schemeClr val="tx1"/>
                </a:solidFill>
              </a:rPr>
              <a:t>УЛЬЯНОВСКИЙ ИНСТИТУТ ГРАЖДАНСКОЙ АВИАЦИИ</a:t>
            </a:r>
            <a:endParaRPr lang="ru-RU" sz="1500" dirty="0"/>
          </a:p>
          <a:p>
            <a:pPr algn="ctr" indent="0" marL="0">
              <a:buNone/>
            </a:pPr>
            <a:r>
              <a:rPr lang="ru-RU" altLang="en-US" sz="1500" b="1" dirty="0">
                <a:solidFill>
                  <a:schemeClr val="tx1"/>
                </a:solidFill>
              </a:rPr>
              <a:t>ИМЕНИ ГЛАВНОГО МАРШАЛА АВИАЦИИ Б. П. БУГАЕВА</a:t>
            </a:r>
            <a:endParaRPr lang="ru-RU" sz="1500" dirty="0"/>
          </a:p>
        </p:txBody>
      </p:sp>
      <p:sp>
        <p:nvSpPr>
          <p:cNvPr id="3" name="Кафедра и дисциплина"/>
          <p:cNvSpPr txBox="1"/>
          <p:nvPr/>
        </p:nvSpPr>
        <p:spPr>
          <a:xfrm>
            <a:off x="1463040" y="1572768"/>
            <a:ext cx="9262872" cy="640080"/>
          </a:xfrm>
          <a:prstGeom prst="rect">
            <a:avLst/>
          </a:prstGeom>
          <a:noFill/>
          <a:ln/>
        </p:spPr>
        <p:txBody>
          <a:bodyPr wrap="square" lIns="0" tIns="0" rIns="0" bIns="0" rtlCol="0" anchor="t"/>
          <a:lstStyle/>
          <a:p>
            <a:pPr algn="ctr" indent="0" marL="0">
              <a:buNone/>
            </a:pPr>
            <a:r>
              <a:rPr lang="ru-RU" altLang="en-US" sz="1600" dirty="0">
                <a:solidFill>
                  <a:schemeClr val="tx1"/>
                </a:solidFill>
              </a:rPr>
              <a:t>КАФЕДРА ЛЁТНОЙ ЭКСПЛУАТАЦИИ И БЕЗОПАСНОСТИ ПОЛЁТОВ</a:t>
            </a:r>
            <a:endParaRPr lang="ru-RU" sz="1600" dirty="0"/>
          </a:p>
          <a:p>
            <a:pPr algn="ctr" indent="0" marL="0">
              <a:buNone/>
            </a:pPr>
            <a:r>
              <a:rPr lang="ru-RU" altLang="en-US" sz="1600" dirty="0">
                <a:solidFill>
                  <a:schemeClr val="tx1"/>
                </a:solidFill>
              </a:rPr>
              <a:t>Воздушное право</a:t>
            </a:r>
            <a:endParaRPr lang="ru-RU" sz="1600" dirty="0"/>
          </a:p>
        </p:txBody>
      </p:sp>
      <p:sp>
        <p:nvSpPr>
          <p:cNvPr id="4" name="Вид работы"/>
          <p:cNvSpPr txBox="1"/>
          <p:nvPr/>
        </p:nvSpPr>
        <p:spPr>
          <a:xfrm>
            <a:off x="1463040" y="2377440"/>
            <a:ext cx="9262872" cy="566928"/>
          </a:xfrm>
          <a:prstGeom prst="rect">
            <a:avLst/>
          </a:prstGeom>
          <a:noFill/>
          <a:ln/>
        </p:spPr>
        <p:txBody>
          <a:bodyPr wrap="square" lIns="0" tIns="0" rIns="0" bIns="0" rtlCol="0" anchor="t"/>
          <a:lstStyle/>
          <a:p>
            <a:pPr algn="ctr" indent="0" marL="0">
              <a:buNone/>
            </a:pPr>
            <a:r>
              <a:rPr lang="ru-RU" altLang="en-US" sz="1600" b="1" dirty="0">
                <a:solidFill>
                  <a:schemeClr val="tx1"/>
                </a:solidFill>
              </a:rPr>
              <a:t>Доклад</a:t>
            </a:r>
            <a:endParaRPr lang="ru-RU" sz="1600" dirty="0"/>
          </a:p>
          <a:p>
            <a:pPr algn="ctr" indent="0" marL="0">
              <a:buNone/>
            </a:pPr>
            <a:r>
              <a:rPr lang="ru-RU" altLang="en-US" sz="1600" b="1" dirty="0">
                <a:solidFill>
                  <a:schemeClr val="tx1"/>
                </a:solidFill>
              </a:rPr>
              <a:t>тема:</a:t>
            </a:r>
            <a:endParaRPr lang="ru-RU" sz="1600" dirty="0"/>
          </a:p>
        </p:txBody>
      </p:sp>
      <p:sp>
        <p:nvSpPr>
          <p:cNvPr id="5" name="Тема"/>
          <p:cNvSpPr txBox="1"/>
          <p:nvPr/>
        </p:nvSpPr>
        <p:spPr>
          <a:xfrm>
            <a:off x="548640" y="2990088"/>
            <a:ext cx="11091672" cy="960120"/>
          </a:xfrm>
          <a:prstGeom prst="rect">
            <a:avLst/>
          </a:prstGeom>
          <a:noFill/>
          <a:ln/>
        </p:spPr>
        <p:txBody>
          <a:bodyPr wrap="square" lIns="0" tIns="0" rIns="0" bIns="0" rtlCol="0" anchor="ctr"/>
          <a:lstStyle/>
          <a:p>
            <a:pPr algn="ctr" indent="0" marL="0">
              <a:buNone/>
            </a:pPr>
            <a:r>
              <a:rPr lang="ru-RU" altLang="en-US" sz="2400" b="1" dirty="0">
                <a:solidFill>
                  <a:schemeClr val="tx1"/>
                </a:solidFill>
              </a:rPr>
              <a:t>«Космическое облучение членов экипажей воздушных судов и их правовая защита в Российской Федерации»</a:t>
            </a:r>
            <a:endParaRPr lang="ru-RU" sz="2400" dirty="0"/>
          </a:p>
        </p:txBody>
      </p:sp>
      <p:sp>
        <p:nvSpPr>
          <p:cNvPr id="6" name="Авторы"/>
          <p:cNvSpPr txBox="1"/>
          <p:nvPr/>
        </p:nvSpPr>
        <p:spPr>
          <a:xfrm>
            <a:off x="5788152" y="4114800"/>
            <a:ext cx="5943600" cy="2057400"/>
          </a:xfrm>
          <a:prstGeom prst="rect">
            <a:avLst/>
          </a:prstGeom>
          <a:noFill/>
          <a:ln/>
        </p:spPr>
        <p:txBody>
          <a:bodyPr wrap="square" lIns="0" tIns="0" rIns="0" bIns="0" rtlCol="0" anchor="t"/>
          <a:lstStyle/>
          <a:p>
            <a:pPr algn="r" indent="0" marL="0">
              <a:buNone/>
            </a:pPr>
            <a:r>
              <a:rPr lang="ru-RU" altLang="en-US" sz="1500" b="1" dirty="0">
                <a:solidFill>
                  <a:schemeClr val="tx1"/>
                </a:solidFill>
              </a:rPr>
              <a:t>Выполнили: </a:t>
            </a:r>
            <a:pPr algn="r" indent="0" marL="0">
              <a:buNone/>
            </a:pPr>
            <a:r>
              <a:rPr lang="ru-RU" altLang="en-US" sz="1500" dirty="0">
                <a:solidFill>
                  <a:schemeClr val="tx1"/>
                </a:solidFill>
              </a:rPr>
              <a:t>курсанты</a:t>
            </a:r>
            <a:endParaRPr lang="ru-RU" sz="1500" dirty="0"/>
          </a:p>
          <a:p>
            <a:pPr algn="r" indent="0" marL="0">
              <a:buNone/>
            </a:pPr>
            <a:r>
              <a:rPr lang="ru-RU" altLang="en-US" sz="1500" dirty="0">
                <a:solidFill>
                  <a:schemeClr val="tx1"/>
                </a:solidFill>
              </a:rPr>
              <a:t>Шутов Н. Р. (группа П-24-7)</a:t>
            </a:r>
            <a:endParaRPr lang="ru-RU" sz="1500" dirty="0"/>
          </a:p>
          <a:p>
            <a:pPr algn="r" indent="0" marL="0">
              <a:buNone/>
            </a:pPr>
            <a:r>
              <a:rPr lang="ru-RU" altLang="en-US" sz="1500" dirty="0">
                <a:solidFill>
                  <a:schemeClr val="tx1"/>
                </a:solidFill>
              </a:rPr>
              <a:t>Ролдугин И. Д. (группа П-24-4)</a:t>
            </a:r>
            <a:endParaRPr lang="ru-RU" sz="1500" dirty="0"/>
          </a:p>
          <a:p>
            <a:pPr algn="r" indent="0" marL="0">
              <a:buNone/>
            </a:pPr>
            <a:r>
              <a:rPr lang="ru-RU" altLang="en-US" sz="1500" b="1" dirty="0">
                <a:solidFill>
                  <a:schemeClr val="tx1"/>
                </a:solidFill>
              </a:rPr>
              <a:t>Научный руководитель:</a:t>
            </a:r>
            <a:endParaRPr lang="ru-RU" sz="1500" dirty="0"/>
          </a:p>
          <a:p>
            <a:pPr algn="r" indent="0" marL="0">
              <a:buNone/>
            </a:pPr>
            <a:r>
              <a:rPr lang="ru-RU" altLang="en-US" sz="1500" dirty="0">
                <a:solidFill>
                  <a:schemeClr val="tx1"/>
                </a:solidFill>
              </a:rPr>
              <a:t>профессор кафедры ЛЭиБП,</a:t>
            </a:r>
            <a:endParaRPr lang="ru-RU" sz="1500" dirty="0"/>
          </a:p>
          <a:p>
            <a:pPr algn="r" indent="0" marL="0">
              <a:buNone/>
            </a:pPr>
            <a:r>
              <a:rPr lang="ru-RU" altLang="en-US" sz="1500" dirty="0">
                <a:solidFill>
                  <a:schemeClr val="tx1"/>
                </a:solidFill>
              </a:rPr>
              <a:t>д-р ист. наук, канд. юрид. наук, доцент</a:t>
            </a:r>
            <a:endParaRPr lang="ru-RU" sz="1500" dirty="0"/>
          </a:p>
          <a:p>
            <a:pPr algn="r" indent="0" marL="0">
              <a:buNone/>
            </a:pPr>
            <a:r>
              <a:rPr lang="ru-RU" altLang="en-US" sz="1500" dirty="0">
                <a:solidFill>
                  <a:schemeClr val="tx1"/>
                </a:solidFill>
              </a:rPr>
              <a:t>Бойко Н. С.</a:t>
            </a:r>
            <a:endParaRPr lang="ru-RU" sz="1500" dirty="0"/>
          </a:p>
        </p:txBody>
      </p:sp>
      <p:sp>
        <p:nvSpPr>
          <p:cNvPr id="7" name="Город и год"/>
          <p:cNvSpPr txBox="1"/>
          <p:nvPr/>
        </p:nvSpPr>
        <p:spPr>
          <a:xfrm>
            <a:off x="4270248" y="6263640"/>
            <a:ext cx="3657600" cy="365760"/>
          </a:xfrm>
          <a:prstGeom prst="rect">
            <a:avLst/>
          </a:prstGeom>
          <a:noFill/>
          <a:ln/>
        </p:spPr>
        <p:txBody>
          <a:bodyPr wrap="square" lIns="0" tIns="0" rIns="0" bIns="0" rtlCol="0" anchor="t"/>
          <a:lstStyle/>
          <a:p>
            <a:pPr algn="ctr" indent="0" marL="0">
              <a:buNone/>
            </a:pPr>
            <a:r>
              <a:rPr lang="ru-RU" altLang="en-US" sz="1500" b="1" dirty="0">
                <a:solidFill>
                  <a:schemeClr val="tx1"/>
                </a:solidFill>
              </a:rPr>
              <a:t>Ульяновск 2026</a:t>
            </a:r>
            <a:endParaRPr lang="ru-RU"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Актуальность и цель работы</a:t>
            </a:r>
            <a:endParaRPr lang="ru-RU" sz="2400" dirty="0"/>
          </a:p>
        </p:txBody>
      </p:sp>
      <p:pic>
        <p:nvPicPr>
          <p:cNvPr id="3" name="Рисунок 1" descr="Схема: солнечные (SEP) и галактические (GCR) космические лучи, геомагнитное поле, каскад вторичных частиц — протоны, нейтроны, мюоны; уровень излучения растёт с высотой">    </p:cNvPr>
          <p:cNvPicPr>
            <a:picLocks noChangeAspect="1"/>
          </p:cNvPicPr>
          <p:nvPr/>
        </p:nvPicPr>
        <p:blipFill>
          <a:blip r:embed="rId1"/>
          <a:stretch>
            <a:fillRect/>
          </a:stretch>
        </p:blipFill>
        <p:spPr>
          <a:xfrm>
            <a:off x="457200" y="1280160"/>
            <a:ext cx="2142610" cy="4069080"/>
          </a:xfrm>
          <a:prstGeom prst="rect">
            <a:avLst/>
          </a:prstGeom>
        </p:spPr>
      </p:pic>
      <p:sp>
        <p:nvSpPr>
          <p:cNvPr id="4" name="Рисунок 1 — рамка"/>
          <p:cNvSpPr/>
          <p:nvPr/>
        </p:nvSpPr>
        <p:spPr>
          <a:xfrm>
            <a:off x="457200" y="1280160"/>
            <a:ext cx="2142610" cy="4069080"/>
          </a:xfrm>
          <a:prstGeom prst="rect">
            <a:avLst/>
          </a:prstGeom>
          <a:ln w="9525">
            <a:solidFill>
              <a:schemeClr val="accent2"/>
            </a:solidFill>
            <a:prstDash val="solid"/>
          </a:ln>
        </p:spPr>
      </p:sp>
      <p:sp>
        <p:nvSpPr>
          <p:cNvPr id="5" name="Подпись"/>
          <p:cNvSpPr txBox="1"/>
          <p:nvPr/>
        </p:nvSpPr>
        <p:spPr>
          <a:xfrm>
            <a:off x="320040" y="5422392"/>
            <a:ext cx="2416930" cy="822960"/>
          </a:xfrm>
          <a:prstGeom prst="rect">
            <a:avLst/>
          </a:prstGeom>
          <a:noFill/>
          <a:ln/>
        </p:spPr>
        <p:txBody>
          <a:bodyPr wrap="square" lIns="0" tIns="0" rIns="0" bIns="0" rtlCol="0" anchor="t"/>
          <a:lstStyle/>
          <a:p>
            <a:pPr algn="ctr" indent="0" marL="0">
              <a:buNone/>
            </a:pPr>
            <a:r>
              <a:rPr lang="ru-RU" altLang="en-US" sz="1100" dirty="0">
                <a:solidFill>
                  <a:schemeClr val="tx1"/>
                </a:solidFill>
              </a:rPr>
              <a:t>Рисунок 1 – Космическое излучение, действующее на воздушное судно в полёте (по материалам работы [1])</a:t>
            </a:r>
            <a:endParaRPr lang="ru-RU" sz="1100" dirty="0"/>
          </a:p>
        </p:txBody>
      </p:sp>
      <p:sp>
        <p:nvSpPr>
          <p:cNvPr id="6" name="Плашка"/>
          <p:cNvSpPr/>
          <p:nvPr/>
        </p:nvSpPr>
        <p:spPr>
          <a:xfrm>
            <a:off x="3246120" y="1280160"/>
            <a:ext cx="8488375" cy="1097280"/>
          </a:xfrm>
          <a:prstGeom prst="rect">
            <a:avLst/>
          </a:prstGeom>
          <a:solidFill>
            <a:schemeClr val="bg2"/>
          </a:solidFill>
          <a:ln w="9525">
            <a:solidFill>
              <a:schemeClr val="tx1"/>
            </a:solidFill>
            <a:prstDash val="solid"/>
          </a:ln>
        </p:spPr>
      </p:sp>
      <p:sp>
        <p:nvSpPr>
          <p:cNvPr id="7" name="Text 4"/>
          <p:cNvSpPr txBox="1"/>
          <p:nvPr/>
        </p:nvSpPr>
        <p:spPr>
          <a:xfrm>
            <a:off x="3429000" y="1353312"/>
            <a:ext cx="8122615" cy="950976"/>
          </a:xfrm>
          <a:prstGeom prst="rect">
            <a:avLst/>
          </a:prstGeom>
          <a:noFill/>
          <a:ln/>
        </p:spPr>
        <p:txBody>
          <a:bodyPr wrap="square" lIns="0" tIns="0" rIns="0" bIns="0" rtlCol="0" anchor="ctr"/>
          <a:lstStyle/>
          <a:p>
            <a:pPr indent="0" marL="0">
              <a:buNone/>
            </a:pPr>
            <a:r>
              <a:rPr lang="ru-RU" altLang="en-US" sz="1600" b="1" dirty="0">
                <a:solidFill>
                  <a:schemeClr val="tx1"/>
                </a:solidFill>
              </a:rPr>
              <a:t>Актуальность. </a:t>
            </a:r>
            <a:pPr indent="0" marL="0">
              <a:buNone/>
            </a:pPr>
            <a:r>
              <a:rPr lang="ru-RU" altLang="en-US" sz="1600" dirty="0">
                <a:solidFill>
                  <a:schemeClr val="tx1"/>
                </a:solidFill>
              </a:rPr>
              <a:t>На эшелоне радиационный фон значительно выше, чем у земли. Ещё в 1990 году МКРЗ признала облучение экипажей космическим излучением профессиональным [2].</a:t>
            </a:r>
            <a:endParaRPr lang="ru-RU" sz="1600" dirty="0"/>
          </a:p>
        </p:txBody>
      </p:sp>
      <p:sp>
        <p:nvSpPr>
          <p:cNvPr id="8" name="Плашка"/>
          <p:cNvSpPr/>
          <p:nvPr/>
        </p:nvSpPr>
        <p:spPr>
          <a:xfrm>
            <a:off x="3246120" y="2651760"/>
            <a:ext cx="8488375" cy="868680"/>
          </a:xfrm>
          <a:prstGeom prst="rect">
            <a:avLst/>
          </a:prstGeom>
          <a:solidFill>
            <a:schemeClr val="bg2"/>
          </a:solidFill>
          <a:ln w="9525">
            <a:solidFill>
              <a:schemeClr val="tx1"/>
            </a:solidFill>
            <a:prstDash val="solid"/>
          </a:ln>
        </p:spPr>
      </p:sp>
      <p:sp>
        <p:nvSpPr>
          <p:cNvPr id="9" name="Text 6"/>
          <p:cNvSpPr txBox="1"/>
          <p:nvPr/>
        </p:nvSpPr>
        <p:spPr>
          <a:xfrm>
            <a:off x="3429000" y="2724912"/>
            <a:ext cx="8122615" cy="722376"/>
          </a:xfrm>
          <a:prstGeom prst="rect">
            <a:avLst/>
          </a:prstGeom>
          <a:noFill/>
          <a:ln/>
        </p:spPr>
        <p:txBody>
          <a:bodyPr wrap="square" lIns="0" tIns="0" rIns="0" bIns="0" rtlCol="0" anchor="ctr"/>
          <a:lstStyle/>
          <a:p>
            <a:pPr indent="0" marL="0">
              <a:buNone/>
            </a:pPr>
            <a:r>
              <a:rPr lang="ru-RU" altLang="en-US" sz="1600" b="1" dirty="0">
                <a:solidFill>
                  <a:schemeClr val="tx1"/>
                </a:solidFill>
              </a:rPr>
              <a:t>Цель работы – </a:t>
            </a:r>
            <a:pPr indent="0" marL="0">
              <a:buNone/>
            </a:pPr>
            <a:r>
              <a:rPr lang="ru-RU" altLang="en-US" sz="1600" dirty="0">
                <a:solidFill>
                  <a:schemeClr val="tx1"/>
                </a:solidFill>
              </a:rPr>
              <a:t>рассмотреть правовое регулирование облучения членов экипажей воздушных судов космическим излучением в Российской Федерации.</a:t>
            </a:r>
            <a:endParaRPr lang="ru-RU" sz="1600" dirty="0"/>
          </a:p>
        </p:txBody>
      </p:sp>
      <p:sp>
        <p:nvSpPr>
          <p:cNvPr id="10" name="Text 7"/>
          <p:cNvSpPr txBox="1"/>
          <p:nvPr/>
        </p:nvSpPr>
        <p:spPr>
          <a:xfrm>
            <a:off x="3246120" y="3749040"/>
            <a:ext cx="8488375" cy="347472"/>
          </a:xfrm>
          <a:prstGeom prst="rect">
            <a:avLst/>
          </a:prstGeom>
          <a:noFill/>
          <a:ln/>
        </p:spPr>
        <p:txBody>
          <a:bodyPr wrap="square" lIns="0" tIns="0" rIns="0" bIns="0" rtlCol="0" anchor="t"/>
          <a:lstStyle/>
          <a:p>
            <a:pPr indent="0" marL="0">
              <a:buNone/>
            </a:pPr>
            <a:r>
              <a:rPr lang="ru-RU" altLang="en-US" sz="1800" b="1" dirty="0">
                <a:solidFill>
                  <a:schemeClr val="tx1"/>
                </a:solidFill>
              </a:rPr>
              <a:t>Вопросы исследования</a:t>
            </a:r>
            <a:endParaRPr lang="ru-RU" sz="1800" dirty="0"/>
          </a:p>
        </p:txBody>
      </p:sp>
      <p:sp>
        <p:nvSpPr>
          <p:cNvPr id="11" name="Text 8"/>
          <p:cNvSpPr txBox="1"/>
          <p:nvPr/>
        </p:nvSpPr>
        <p:spPr>
          <a:xfrm>
            <a:off x="3246120" y="4160520"/>
            <a:ext cx="548640" cy="548640"/>
          </a:xfrm>
          <a:prstGeom prst="rect">
            <a:avLst/>
          </a:prstGeom>
          <a:noFill/>
          <a:ln/>
        </p:spPr>
        <p:txBody>
          <a:bodyPr wrap="square" lIns="0" tIns="0" rIns="0" bIns="0" rtlCol="0" anchor="ctr"/>
          <a:lstStyle/>
          <a:p>
            <a:pPr algn="ctr" indent="0" marL="0">
              <a:buNone/>
            </a:pPr>
            <a:r>
              <a:rPr lang="ru-RU" altLang="en-US" sz="3000" b="1" dirty="0">
                <a:solidFill>
                  <a:schemeClr val="tx1"/>
                </a:solidFill>
              </a:rPr>
              <a:t>1</a:t>
            </a:r>
            <a:endParaRPr lang="ru-RU" sz="3000" dirty="0"/>
          </a:p>
        </p:txBody>
      </p:sp>
      <p:sp>
        <p:nvSpPr>
          <p:cNvPr id="12" name="Shape 9"/>
          <p:cNvSpPr/>
          <p:nvPr/>
        </p:nvSpPr>
        <p:spPr>
          <a:xfrm>
            <a:off x="3931920" y="4233672"/>
            <a:ext cx="0" cy="402336"/>
          </a:xfrm>
          <a:prstGeom prst="line">
            <a:avLst/>
          </a:prstGeom>
          <a:noFill/>
          <a:ln w="9525">
            <a:solidFill>
              <a:schemeClr val="tx1"/>
            </a:solidFill>
            <a:prstDash val="solid"/>
          </a:ln>
        </p:spPr>
      </p:sp>
      <p:sp>
        <p:nvSpPr>
          <p:cNvPr id="13" name="Text 10"/>
          <p:cNvSpPr txBox="1"/>
          <p:nvPr/>
        </p:nvSpPr>
        <p:spPr>
          <a:xfrm>
            <a:off x="4114800" y="4160520"/>
            <a:ext cx="7619695" cy="548640"/>
          </a:xfrm>
          <a:prstGeom prst="rect">
            <a:avLst/>
          </a:prstGeom>
          <a:noFill/>
          <a:ln/>
        </p:spPr>
        <p:txBody>
          <a:bodyPr wrap="square" lIns="0" tIns="0" rIns="0" bIns="0" rtlCol="0" anchor="ctr"/>
          <a:lstStyle/>
          <a:p>
            <a:pPr indent="0" marL="0">
              <a:buNone/>
            </a:pPr>
            <a:r>
              <a:rPr lang="ru-RU" altLang="en-US" sz="1600" dirty="0">
                <a:solidFill>
                  <a:schemeClr val="tx1"/>
                </a:solidFill>
              </a:rPr>
              <a:t>Какие нормы ограничивают облучение экипажа?</a:t>
            </a:r>
            <a:endParaRPr lang="ru-RU" sz="1600" dirty="0"/>
          </a:p>
        </p:txBody>
      </p:sp>
      <p:sp>
        <p:nvSpPr>
          <p:cNvPr id="14" name="Text 11"/>
          <p:cNvSpPr txBox="1"/>
          <p:nvPr/>
        </p:nvSpPr>
        <p:spPr>
          <a:xfrm>
            <a:off x="3246120" y="4764024"/>
            <a:ext cx="548640" cy="548640"/>
          </a:xfrm>
          <a:prstGeom prst="rect">
            <a:avLst/>
          </a:prstGeom>
          <a:noFill/>
          <a:ln/>
        </p:spPr>
        <p:txBody>
          <a:bodyPr wrap="square" lIns="0" tIns="0" rIns="0" bIns="0" rtlCol="0" anchor="ctr"/>
          <a:lstStyle/>
          <a:p>
            <a:pPr algn="ctr" indent="0" marL="0">
              <a:buNone/>
            </a:pPr>
            <a:r>
              <a:rPr lang="ru-RU" altLang="en-US" sz="3000" b="1" dirty="0">
                <a:solidFill>
                  <a:schemeClr val="tx1"/>
                </a:solidFill>
              </a:rPr>
              <a:t>2</a:t>
            </a:r>
            <a:endParaRPr lang="ru-RU" sz="3000" dirty="0"/>
          </a:p>
        </p:txBody>
      </p:sp>
      <p:sp>
        <p:nvSpPr>
          <p:cNvPr id="15" name="Shape 12"/>
          <p:cNvSpPr/>
          <p:nvPr/>
        </p:nvSpPr>
        <p:spPr>
          <a:xfrm>
            <a:off x="3931920" y="4837176"/>
            <a:ext cx="0" cy="402336"/>
          </a:xfrm>
          <a:prstGeom prst="line">
            <a:avLst/>
          </a:prstGeom>
          <a:noFill/>
          <a:ln w="9525">
            <a:solidFill>
              <a:schemeClr val="tx1"/>
            </a:solidFill>
            <a:prstDash val="solid"/>
          </a:ln>
        </p:spPr>
      </p:sp>
      <p:sp>
        <p:nvSpPr>
          <p:cNvPr id="16" name="Text 13"/>
          <p:cNvSpPr txBox="1"/>
          <p:nvPr/>
        </p:nvSpPr>
        <p:spPr>
          <a:xfrm>
            <a:off x="4114800" y="4764024"/>
            <a:ext cx="7619695" cy="548640"/>
          </a:xfrm>
          <a:prstGeom prst="rect">
            <a:avLst/>
          </a:prstGeom>
          <a:noFill/>
          <a:ln/>
        </p:spPr>
        <p:txBody>
          <a:bodyPr wrap="square" lIns="0" tIns="0" rIns="0" bIns="0" rtlCol="0" anchor="ctr"/>
          <a:lstStyle/>
          <a:p>
            <a:pPr indent="0" marL="0">
              <a:buNone/>
            </a:pPr>
            <a:r>
              <a:rPr lang="ru-RU" altLang="en-US" sz="1600" dirty="0">
                <a:solidFill>
                  <a:schemeClr val="tx1"/>
                </a:solidFill>
              </a:rPr>
              <a:t>Кто обязан учитывать дозу облучения?</a:t>
            </a:r>
            <a:endParaRPr lang="ru-RU" sz="1600" dirty="0"/>
          </a:p>
        </p:txBody>
      </p:sp>
      <p:sp>
        <p:nvSpPr>
          <p:cNvPr id="17" name="Text 14"/>
          <p:cNvSpPr txBox="1"/>
          <p:nvPr/>
        </p:nvSpPr>
        <p:spPr>
          <a:xfrm>
            <a:off x="3246120" y="5367528"/>
            <a:ext cx="548640" cy="548640"/>
          </a:xfrm>
          <a:prstGeom prst="rect">
            <a:avLst/>
          </a:prstGeom>
          <a:noFill/>
          <a:ln/>
        </p:spPr>
        <p:txBody>
          <a:bodyPr wrap="square" lIns="0" tIns="0" rIns="0" bIns="0" rtlCol="0" anchor="ctr"/>
          <a:lstStyle/>
          <a:p>
            <a:pPr algn="ctr" indent="0" marL="0">
              <a:buNone/>
            </a:pPr>
            <a:r>
              <a:rPr lang="ru-RU" altLang="en-US" sz="3000" b="1" dirty="0">
                <a:solidFill>
                  <a:schemeClr val="tx1"/>
                </a:solidFill>
              </a:rPr>
              <a:t>3</a:t>
            </a:r>
            <a:endParaRPr lang="ru-RU" sz="3000" dirty="0"/>
          </a:p>
        </p:txBody>
      </p:sp>
      <p:sp>
        <p:nvSpPr>
          <p:cNvPr id="18" name="Shape 15"/>
          <p:cNvSpPr/>
          <p:nvPr/>
        </p:nvSpPr>
        <p:spPr>
          <a:xfrm>
            <a:off x="3931920" y="5440680"/>
            <a:ext cx="0" cy="402336"/>
          </a:xfrm>
          <a:prstGeom prst="line">
            <a:avLst/>
          </a:prstGeom>
          <a:noFill/>
          <a:ln w="9525">
            <a:solidFill>
              <a:schemeClr val="tx1"/>
            </a:solidFill>
            <a:prstDash val="solid"/>
          </a:ln>
        </p:spPr>
      </p:sp>
      <p:sp>
        <p:nvSpPr>
          <p:cNvPr id="19" name="Text 16"/>
          <p:cNvSpPr txBox="1"/>
          <p:nvPr/>
        </p:nvSpPr>
        <p:spPr>
          <a:xfrm>
            <a:off x="4114800" y="5367528"/>
            <a:ext cx="7619695" cy="548640"/>
          </a:xfrm>
          <a:prstGeom prst="rect">
            <a:avLst/>
          </a:prstGeom>
          <a:noFill/>
          <a:ln/>
        </p:spPr>
        <p:txBody>
          <a:bodyPr wrap="square" lIns="0" tIns="0" rIns="0" bIns="0" rtlCol="0" anchor="ctr"/>
          <a:lstStyle/>
          <a:p>
            <a:pPr indent="0" marL="0">
              <a:buNone/>
            </a:pPr>
            <a:r>
              <a:rPr lang="ru-RU" altLang="en-US" sz="1600" dirty="0">
                <a:solidFill>
                  <a:schemeClr val="tx1"/>
                </a:solidFill>
              </a:rPr>
              <a:t>Что изменилось в законодательстве за последние годы?</a:t>
            </a:r>
            <a:endParaRPr lang="ru-RU" sz="16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2</a:t>
            </a:fld>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Измерения на борту: результаты предыдущей работы</a:t>
            </a:r>
            <a:endParaRPr lang="ru-RU" sz="2400" dirty="0"/>
          </a:p>
        </p:txBody>
      </p:sp>
      <p:sp>
        <p:nvSpPr>
          <p:cNvPr id="3" name="Text 1"/>
          <p:cNvSpPr txBox="1"/>
          <p:nvPr/>
        </p:nvSpPr>
        <p:spPr>
          <a:xfrm>
            <a:off x="457200" y="1188720"/>
            <a:ext cx="6949440" cy="274320"/>
          </a:xfrm>
          <a:prstGeom prst="rect">
            <a:avLst/>
          </a:prstGeom>
          <a:noFill/>
          <a:ln/>
        </p:spPr>
        <p:txBody>
          <a:bodyPr wrap="square" lIns="0" tIns="0" rIns="0" bIns="0" rtlCol="0" anchor="t"/>
          <a:lstStyle/>
          <a:p>
            <a:pPr indent="0" marL="0">
              <a:buNone/>
            </a:pPr>
            <a:r>
              <a:rPr lang="ru-RU" altLang="en-US" sz="1100" dirty="0">
                <a:solidFill>
                  <a:schemeClr val="tx1"/>
                </a:solidFill>
              </a:rPr>
              <a:t>Таблица 1 – Показания самодельного дозиметра на различных этапах полёта [1]</a:t>
            </a:r>
            <a:endParaRPr lang="ru-RU" sz="1100" dirty="0"/>
          </a:p>
        </p:txBody>
      </p:sp>
      <p:graphicFrame>
        <p:nvGraphicFramePr>
          <p:cNvPr id="4" name="Таблица 1"/>
          <p:cNvGraphicFramePr>
            <a:graphicFrameLocks noGrp="1"/>
          </p:cNvGraphicFramePr>
          <p:nvPr>
            <p:extLst>
              <p:ext uri="{D42A27DB-BD31-4B8C-83A1-F6EECF244321}">
                <p14:modId xmlns:p14="http://schemas.microsoft.com/office/powerpoint/2010/main" val="1579011935"/>
              </p:ext>
            </p:extLst>
          </p:nvPr>
        </p:nvGraphicFramePr>
        <p:xfrm>
          <a:off x="457200" y="1508760"/>
          <a:ext cx="6949440" cy="914400"/>
        </p:xfrm>
        <a:graphic>
          <a:graphicData uri="http://schemas.openxmlformats.org/drawingml/2006/table">
            <a:tbl>
              <a:tblPr/>
              <a:tblGrid>
                <a:gridCol w="2514600"/>
                <a:gridCol w="1234440"/>
                <a:gridCol w="1234440"/>
                <a:gridCol w="1965960"/>
              </a:tblGrid>
              <a:tr h="566928">
                <a:tc>
                  <a:txBody>
                    <a:bodyPr/>
                    <a:lstStyle/>
                    <a:p>
                      <a:pPr algn="ctr" indent="0" marL="0">
                        <a:buNone/>
                      </a:pPr>
                      <a:r>
                        <a:rPr lang="ru-RU" sz="1400" b="1" dirty="0">
                          <a:solidFill>
                            <a:schemeClr val="tx1"/>
                          </a:solidFill>
                        </a:rPr>
                        <a:t>Место измерения</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algn="ctr" indent="0" marL="0">
                        <a:buNone/>
                      </a:pPr>
                      <a:r>
                        <a:rPr lang="ru-RU" sz="1400" b="1" dirty="0">
                          <a:solidFill>
                            <a:schemeClr val="tx1"/>
                          </a:solidFill>
                        </a:rPr>
                        <a:t>Этап полёта</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algn="ctr" indent="0" marL="0">
                        <a:buNone/>
                      </a:pPr>
                      <a:r>
                        <a:rPr lang="ru-RU" sz="1400" b="1" dirty="0">
                          <a:solidFill>
                            <a:schemeClr val="tx1"/>
                          </a:solidFill>
                        </a:rPr>
                        <a:t>Высота, фут</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c>
                  <a:txBody>
                    <a:bodyPr/>
                    <a:lstStyle/>
                    <a:p>
                      <a:pPr algn="ctr" indent="0" marL="0">
                        <a:buNone/>
                      </a:pPr>
                      <a:r>
                        <a:rPr lang="ru-RU" sz="1400" b="1" dirty="0">
                          <a:solidFill>
                            <a:schemeClr val="tx1"/>
                          </a:solidFill>
                        </a:rPr>
                        <a:t>Средние показания прибора, мкР/ч</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2"/>
                    </a:solidFill>
                  </a:tcPr>
                </a:tc>
              </a:tr>
              <a:tr h="384048">
                <a:tc>
                  <a:txBody>
                    <a:bodyPr/>
                    <a:lstStyle/>
                    <a:p>
                      <a:pPr algn="ctr" indent="0" marL="0">
                        <a:buNone/>
                      </a:pPr>
                      <a:r>
                        <a:rPr lang="ru-RU" sz="1400" dirty="0">
                          <a:solidFill>
                            <a:schemeClr val="tx1"/>
                          </a:solidFill>
                        </a:rPr>
                        <a:t>Новокузнецк</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Взлёт</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1023</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10,8</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566928">
                <a:tc>
                  <a:txBody>
                    <a:bodyPr/>
                    <a:lstStyle/>
                    <a:p>
                      <a:pPr algn="ctr" indent="0" marL="0">
                        <a:buNone/>
                      </a:pPr>
                      <a:r>
                        <a:rPr lang="ru-RU" sz="1400" dirty="0">
                          <a:solidFill>
                            <a:schemeClr val="tx1"/>
                          </a:solidFill>
                        </a:rPr>
                        <a:t>т. NILRA</a:t>
                      </a:r>
                      <a:endParaRPr lang="ru-RU" sz="1400" dirty="0"/>
                    </a:p>
                    <a:p>
                      <a:pPr algn="ctr" indent="0" marL="0">
                        <a:buNone/>
                      </a:pPr>
                      <a:r>
                        <a:rPr lang="ru-RU" sz="1100" dirty="0">
                          <a:solidFill>
                            <a:schemeClr val="tx2"/>
                          </a:solidFill>
                        </a:rPr>
                        <a:t>54,0667; 93,3367</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Полёт</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35 000</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b="1" dirty="0">
                          <a:solidFill>
                            <a:schemeClr val="tx1"/>
                          </a:solidFill>
                        </a:rPr>
                        <a:t>184,0</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384048">
                <a:tc>
                  <a:txBody>
                    <a:bodyPr/>
                    <a:lstStyle/>
                    <a:p>
                      <a:pPr algn="ctr" indent="0" marL="0">
                        <a:buNone/>
                      </a:pPr>
                      <a:r>
                        <a:rPr lang="ru-RU" sz="1400" dirty="0">
                          <a:solidFill>
                            <a:schemeClr val="tx1"/>
                          </a:solidFill>
                        </a:rPr>
                        <a:t>Иркутск</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Посадка</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1575</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11,0</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384048">
                <a:tc>
                  <a:txBody>
                    <a:bodyPr/>
                    <a:lstStyle/>
                    <a:p>
                      <a:pPr algn="ctr" indent="0" marL="0">
                        <a:buNone/>
                      </a:pPr>
                      <a:r>
                        <a:rPr lang="ru-RU" sz="1400" dirty="0">
                          <a:solidFill>
                            <a:schemeClr val="tx1"/>
                          </a:solidFill>
                        </a:rPr>
                        <a:t>Екатеринбург</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Взлёт</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740</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7,8</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566928">
                <a:tc>
                  <a:txBody>
                    <a:bodyPr/>
                    <a:lstStyle/>
                    <a:p>
                      <a:pPr algn="ctr" indent="0" marL="0">
                        <a:buNone/>
                      </a:pPr>
                      <a:r>
                        <a:rPr lang="ru-RU" sz="1400" dirty="0">
                          <a:solidFill>
                            <a:schemeClr val="tx1"/>
                          </a:solidFill>
                        </a:rPr>
                        <a:t>т. NAPOR</a:t>
                      </a:r>
                      <a:endParaRPr lang="ru-RU" sz="1400" dirty="0"/>
                    </a:p>
                    <a:p>
                      <a:pPr algn="ctr" indent="0" marL="0">
                        <a:buNone/>
                      </a:pPr>
                      <a:r>
                        <a:rPr lang="ru-RU" sz="1100" dirty="0">
                          <a:solidFill>
                            <a:schemeClr val="tx2"/>
                          </a:solidFill>
                        </a:rPr>
                        <a:t>55,75803; 65,95093</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Полёт</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33 055</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b="1" dirty="0">
                          <a:solidFill>
                            <a:schemeClr val="tx1"/>
                          </a:solidFill>
                        </a:rPr>
                        <a:t>170,0</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384048">
                <a:tc>
                  <a:txBody>
                    <a:bodyPr/>
                    <a:lstStyle/>
                    <a:p>
                      <a:pPr algn="ctr" indent="0" marL="0">
                        <a:buNone/>
                      </a:pPr>
                      <a:r>
                        <a:rPr lang="ru-RU" sz="1400" dirty="0">
                          <a:solidFill>
                            <a:schemeClr val="tx1"/>
                          </a:solidFill>
                        </a:rPr>
                        <a:t>Чита</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Посадка</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2220</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indent="0" marL="0">
                        <a:buNone/>
                      </a:pPr>
                      <a:r>
                        <a:rPr lang="ru-RU" sz="1400" dirty="0">
                          <a:solidFill>
                            <a:schemeClr val="tx1"/>
                          </a:solidFill>
                        </a:rPr>
                        <a:t>15,0</a:t>
                      </a:r>
                      <a:endParaRPr lang="ru-RU" sz="1400" dirty="0"/>
                    </a:p>
                  </a:txBody>
                  <a:tcPr marL="73152" marR="73152" marT="36576" marB="36576"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5" name="Text 2"/>
          <p:cNvSpPr txBox="1"/>
          <p:nvPr/>
        </p:nvSpPr>
        <p:spPr>
          <a:xfrm>
            <a:off x="457200" y="5166360"/>
            <a:ext cx="6949440" cy="822960"/>
          </a:xfrm>
          <a:prstGeom prst="rect">
            <a:avLst/>
          </a:prstGeom>
          <a:noFill/>
          <a:ln/>
        </p:spPr>
        <p:txBody>
          <a:bodyPr wrap="square" lIns="0" tIns="0" rIns="0" bIns="0" rtlCol="0" anchor="t"/>
          <a:lstStyle/>
          <a:p>
            <a:pPr indent="0" marL="0">
              <a:buNone/>
            </a:pPr>
            <a:r>
              <a:rPr lang="ru-RU" altLang="en-US" sz="1400" dirty="0">
                <a:solidFill>
                  <a:schemeClr val="tx1"/>
                </a:solidFill>
              </a:rPr>
              <a:t>Рейсы Новокузнецк – Иркутск и Екатеринбург – Чита, примерно на одних широтах. Счётчик Гейгера находился в кабине пилотов; показания снимались перед взлётом, на эшелоне и после посадки.</a:t>
            </a:r>
            <a:endParaRPr lang="ru-RU" sz="1400" dirty="0"/>
          </a:p>
        </p:txBody>
      </p:sp>
      <p:sp>
        <p:nvSpPr>
          <p:cNvPr id="6" name="Факт 1"/>
          <p:cNvSpPr/>
          <p:nvPr/>
        </p:nvSpPr>
        <p:spPr>
          <a:xfrm>
            <a:off x="7772400" y="1508760"/>
            <a:ext cx="3962095" cy="1325880"/>
          </a:xfrm>
          <a:prstGeom prst="rect">
            <a:avLst/>
          </a:prstGeom>
          <a:solidFill>
            <a:schemeClr val="bg1"/>
          </a:solidFill>
          <a:ln w="9525">
            <a:solidFill>
              <a:schemeClr val="tx1"/>
            </a:solidFill>
            <a:prstDash val="solid"/>
          </a:ln>
        </p:spPr>
      </p:sp>
      <p:sp>
        <p:nvSpPr>
          <p:cNvPr id="7" name="Text 4"/>
          <p:cNvSpPr txBox="1"/>
          <p:nvPr/>
        </p:nvSpPr>
        <p:spPr>
          <a:xfrm>
            <a:off x="7772400" y="1600200"/>
            <a:ext cx="3962095" cy="566928"/>
          </a:xfrm>
          <a:prstGeom prst="rect">
            <a:avLst/>
          </a:prstGeom>
          <a:noFill/>
          <a:ln/>
        </p:spPr>
        <p:txBody>
          <a:bodyPr wrap="square" lIns="0" tIns="0" rIns="0" bIns="0" rtlCol="0" anchor="ctr"/>
          <a:lstStyle/>
          <a:p>
            <a:pPr algn="ctr" indent="0" marL="0">
              <a:buNone/>
            </a:pPr>
            <a:r>
              <a:rPr lang="ru-RU" altLang="en-US" sz="2800" b="1" dirty="0">
                <a:solidFill>
                  <a:schemeClr val="tx1"/>
                </a:solidFill>
              </a:rPr>
              <a:t>в 11–22 раза</a:t>
            </a:r>
            <a:endParaRPr lang="ru-RU" sz="2800" dirty="0"/>
          </a:p>
        </p:txBody>
      </p:sp>
      <p:sp>
        <p:nvSpPr>
          <p:cNvPr id="8" name="Text 5"/>
          <p:cNvSpPr txBox="1"/>
          <p:nvPr/>
        </p:nvSpPr>
        <p:spPr>
          <a:xfrm>
            <a:off x="7909560" y="2203704"/>
            <a:ext cx="3687775" cy="557784"/>
          </a:xfrm>
          <a:prstGeom prst="rect">
            <a:avLst/>
          </a:prstGeom>
          <a:noFill/>
          <a:ln/>
        </p:spPr>
        <p:txBody>
          <a:bodyPr wrap="square" lIns="0" tIns="0" rIns="0" bIns="0" rtlCol="0" anchor="ctr"/>
          <a:lstStyle/>
          <a:p>
            <a:pPr algn="ctr" indent="0" marL="0">
              <a:buNone/>
            </a:pPr>
            <a:r>
              <a:rPr lang="ru-RU" altLang="en-US" sz="1400" dirty="0">
                <a:solidFill>
                  <a:schemeClr val="tx1"/>
                </a:solidFill>
              </a:rPr>
              <a:t>выше показания на эшелоне, чем у земли (в среднем ≈ 16 раз)</a:t>
            </a:r>
            <a:endParaRPr lang="ru-RU" sz="1400" dirty="0"/>
          </a:p>
        </p:txBody>
      </p:sp>
      <p:sp>
        <p:nvSpPr>
          <p:cNvPr id="9" name="Факт 2"/>
          <p:cNvSpPr/>
          <p:nvPr/>
        </p:nvSpPr>
        <p:spPr>
          <a:xfrm>
            <a:off x="7772400" y="3108960"/>
            <a:ext cx="3962095" cy="1325880"/>
          </a:xfrm>
          <a:prstGeom prst="rect">
            <a:avLst/>
          </a:prstGeom>
          <a:solidFill>
            <a:schemeClr val="bg1"/>
          </a:solidFill>
          <a:ln w="9525">
            <a:solidFill>
              <a:schemeClr val="tx1"/>
            </a:solidFill>
            <a:prstDash val="solid"/>
          </a:ln>
        </p:spPr>
      </p:sp>
      <p:sp>
        <p:nvSpPr>
          <p:cNvPr id="10" name="Text 7"/>
          <p:cNvSpPr txBox="1"/>
          <p:nvPr/>
        </p:nvSpPr>
        <p:spPr>
          <a:xfrm>
            <a:off x="7772400" y="3200400"/>
            <a:ext cx="3962095" cy="566928"/>
          </a:xfrm>
          <a:prstGeom prst="rect">
            <a:avLst/>
          </a:prstGeom>
          <a:noFill/>
          <a:ln/>
        </p:spPr>
        <p:txBody>
          <a:bodyPr wrap="square" lIns="0" tIns="0" rIns="0" bIns="0" rtlCol="0" anchor="ctr"/>
          <a:lstStyle/>
          <a:p>
            <a:pPr algn="ctr" indent="0" marL="0">
              <a:buNone/>
            </a:pPr>
            <a:r>
              <a:rPr lang="ru-RU" altLang="en-US" sz="2600" b="1" dirty="0">
                <a:solidFill>
                  <a:schemeClr val="tx1"/>
                </a:solidFill>
              </a:rPr>
              <a:t>170–184 мкР/ч</a:t>
            </a:r>
            <a:endParaRPr lang="ru-RU" sz="2600" dirty="0"/>
          </a:p>
        </p:txBody>
      </p:sp>
      <p:sp>
        <p:nvSpPr>
          <p:cNvPr id="11" name="Text 8"/>
          <p:cNvSpPr txBox="1"/>
          <p:nvPr/>
        </p:nvSpPr>
        <p:spPr>
          <a:xfrm>
            <a:off x="7909560" y="3803904"/>
            <a:ext cx="3687775" cy="557784"/>
          </a:xfrm>
          <a:prstGeom prst="rect">
            <a:avLst/>
          </a:prstGeom>
          <a:noFill/>
          <a:ln/>
        </p:spPr>
        <p:txBody>
          <a:bodyPr wrap="square" lIns="0" tIns="0" rIns="0" bIns="0" rtlCol="0" anchor="ctr"/>
          <a:lstStyle/>
          <a:p>
            <a:pPr algn="ctr" indent="0" marL="0">
              <a:buNone/>
            </a:pPr>
            <a:r>
              <a:rPr lang="ru-RU" altLang="en-US" sz="1400" dirty="0">
                <a:solidFill>
                  <a:schemeClr val="tx1"/>
                </a:solidFill>
              </a:rPr>
              <a:t>средние показания на высоте 33 000–35 000 фут</a:t>
            </a:r>
            <a:endParaRPr lang="ru-RU" sz="1400" dirty="0"/>
          </a:p>
        </p:txBody>
      </p:sp>
      <p:sp>
        <p:nvSpPr>
          <p:cNvPr id="12" name="Факт 3"/>
          <p:cNvSpPr/>
          <p:nvPr/>
        </p:nvSpPr>
        <p:spPr>
          <a:xfrm>
            <a:off x="7772400" y="4709160"/>
            <a:ext cx="3962095" cy="1325880"/>
          </a:xfrm>
          <a:prstGeom prst="rect">
            <a:avLst/>
          </a:prstGeom>
          <a:solidFill>
            <a:schemeClr val="bg1"/>
          </a:solidFill>
          <a:ln w="9525">
            <a:solidFill>
              <a:schemeClr val="tx1"/>
            </a:solidFill>
            <a:prstDash val="solid"/>
          </a:ln>
        </p:spPr>
      </p:sp>
      <p:sp>
        <p:nvSpPr>
          <p:cNvPr id="13" name="Text 10"/>
          <p:cNvSpPr txBox="1"/>
          <p:nvPr/>
        </p:nvSpPr>
        <p:spPr>
          <a:xfrm>
            <a:off x="7772400" y="4800600"/>
            <a:ext cx="3962095" cy="566928"/>
          </a:xfrm>
          <a:prstGeom prst="rect">
            <a:avLst/>
          </a:prstGeom>
          <a:noFill/>
          <a:ln/>
        </p:spPr>
        <p:txBody>
          <a:bodyPr wrap="square" lIns="0" tIns="0" rIns="0" bIns="0" rtlCol="0" anchor="ctr"/>
          <a:lstStyle/>
          <a:p>
            <a:pPr algn="ctr" indent="0" marL="0">
              <a:buNone/>
            </a:pPr>
            <a:r>
              <a:rPr lang="ru-RU" altLang="en-US" sz="2600" b="1" dirty="0">
                <a:solidFill>
                  <a:schemeClr val="tx1"/>
                </a:solidFill>
              </a:rPr>
              <a:t>7,8–15,0 мкР/ч</a:t>
            </a:r>
            <a:endParaRPr lang="ru-RU" sz="2600" dirty="0"/>
          </a:p>
        </p:txBody>
      </p:sp>
      <p:sp>
        <p:nvSpPr>
          <p:cNvPr id="14" name="Text 11"/>
          <p:cNvSpPr txBox="1"/>
          <p:nvPr/>
        </p:nvSpPr>
        <p:spPr>
          <a:xfrm>
            <a:off x="7909560" y="5404104"/>
            <a:ext cx="3687775" cy="557784"/>
          </a:xfrm>
          <a:prstGeom prst="rect">
            <a:avLst/>
          </a:prstGeom>
          <a:noFill/>
          <a:ln/>
        </p:spPr>
        <p:txBody>
          <a:bodyPr wrap="square" lIns="0" tIns="0" rIns="0" bIns="0" rtlCol="0" anchor="ctr"/>
          <a:lstStyle/>
          <a:p>
            <a:pPr algn="ctr" indent="0" marL="0">
              <a:buNone/>
            </a:pPr>
            <a:r>
              <a:rPr lang="ru-RU" altLang="en-US" sz="1400" dirty="0">
                <a:solidFill>
                  <a:schemeClr val="tx1"/>
                </a:solidFill>
              </a:rPr>
              <a:t>средние показания перед взлётом и после посадки</a:t>
            </a:r>
            <a:endParaRPr lang="ru-RU" sz="14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3</a:t>
            </a:fld>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Регистрация показаний: рейс Новокузнецк – Иркутск</a:t>
            </a:r>
            <a:endParaRPr lang="ru-RU" sz="2400" dirty="0"/>
          </a:p>
        </p:txBody>
      </p:sp>
      <p:pic>
        <p:nvPicPr>
          <p:cNvPr id="3" name="Рисунок 2а" descr="Дозиметр перед взлётом в аэропорту Новокузнецк: 13,2 мкР/ч">    </p:cNvPr>
          <p:cNvPicPr>
            <a:picLocks noChangeAspect="1"/>
          </p:cNvPicPr>
          <p:nvPr/>
        </p:nvPicPr>
        <p:blipFill>
          <a:blip r:embed="rId1"/>
          <a:stretch>
            <a:fillRect/>
          </a:stretch>
        </p:blipFill>
        <p:spPr>
          <a:xfrm>
            <a:off x="457200" y="1280160"/>
            <a:ext cx="2514600" cy="3566160"/>
          </a:xfrm>
          <a:prstGeom prst="rect">
            <a:avLst/>
          </a:prstGeom>
        </p:spPr>
      </p:pic>
      <p:sp>
        <p:nvSpPr>
          <p:cNvPr id="4" name="Рисунок 2а — рамка"/>
          <p:cNvSpPr/>
          <p:nvPr/>
        </p:nvSpPr>
        <p:spPr>
          <a:xfrm>
            <a:off x="457200" y="1280160"/>
            <a:ext cx="2514600" cy="3566160"/>
          </a:xfrm>
          <a:prstGeom prst="rect">
            <a:avLst/>
          </a:prstGeom>
          <a:ln w="9525">
            <a:solidFill>
              <a:schemeClr val="accent2"/>
            </a:solidFill>
            <a:prstDash val="solid"/>
          </a:ln>
        </p:spPr>
      </p:sp>
      <p:sp>
        <p:nvSpPr>
          <p:cNvPr id="5" name="Text 2"/>
          <p:cNvSpPr txBox="1"/>
          <p:nvPr/>
        </p:nvSpPr>
        <p:spPr>
          <a:xfrm>
            <a:off x="365760" y="4901184"/>
            <a:ext cx="2697480" cy="256032"/>
          </a:xfrm>
          <a:prstGeom prst="rect">
            <a:avLst/>
          </a:prstGeom>
          <a:noFill/>
          <a:ln/>
        </p:spPr>
        <p:txBody>
          <a:bodyPr wrap="square" lIns="0" tIns="0" rIns="0" bIns="0" rtlCol="0" anchor="t"/>
          <a:lstStyle/>
          <a:p>
            <a:pPr algn="ctr" indent="0" marL="0">
              <a:buNone/>
            </a:pPr>
            <a:r>
              <a:rPr lang="ru-RU" altLang="en-US" sz="1100" dirty="0">
                <a:solidFill>
                  <a:schemeClr val="tx1"/>
                </a:solidFill>
              </a:rPr>
              <a:t>а) перед взлётом: 13,2 мкР/ч</a:t>
            </a:r>
            <a:endParaRPr lang="ru-RU" sz="1100" dirty="0"/>
          </a:p>
        </p:txBody>
      </p:sp>
      <p:pic>
        <p:nvPicPr>
          <p:cNvPr id="6" name="Рисунок 2б" descr="Дозиметр на эшелоне FL350: 194,8 мкР/ч">    </p:cNvPr>
          <p:cNvPicPr>
            <a:picLocks noChangeAspect="1"/>
          </p:cNvPicPr>
          <p:nvPr/>
        </p:nvPicPr>
        <p:blipFill>
          <a:blip r:embed="rId2"/>
          <a:stretch>
            <a:fillRect/>
          </a:stretch>
        </p:blipFill>
        <p:spPr>
          <a:xfrm>
            <a:off x="3200400" y="1280160"/>
            <a:ext cx="2514600" cy="3566160"/>
          </a:xfrm>
          <a:prstGeom prst="rect">
            <a:avLst/>
          </a:prstGeom>
        </p:spPr>
      </p:pic>
      <p:sp>
        <p:nvSpPr>
          <p:cNvPr id="7" name="Рисунок 2б — рамка"/>
          <p:cNvSpPr/>
          <p:nvPr/>
        </p:nvSpPr>
        <p:spPr>
          <a:xfrm>
            <a:off x="3200400" y="1280160"/>
            <a:ext cx="2514600" cy="3566160"/>
          </a:xfrm>
          <a:prstGeom prst="rect">
            <a:avLst/>
          </a:prstGeom>
          <a:ln w="9525">
            <a:solidFill>
              <a:schemeClr val="accent2"/>
            </a:solidFill>
            <a:prstDash val="solid"/>
          </a:ln>
        </p:spPr>
      </p:sp>
      <p:sp>
        <p:nvSpPr>
          <p:cNvPr id="8" name="Text 4"/>
          <p:cNvSpPr txBox="1"/>
          <p:nvPr/>
        </p:nvSpPr>
        <p:spPr>
          <a:xfrm>
            <a:off x="3108960" y="4901184"/>
            <a:ext cx="2697480" cy="256032"/>
          </a:xfrm>
          <a:prstGeom prst="rect">
            <a:avLst/>
          </a:prstGeom>
          <a:noFill/>
          <a:ln/>
        </p:spPr>
        <p:txBody>
          <a:bodyPr wrap="square" lIns="0" tIns="0" rIns="0" bIns="0" rtlCol="0" anchor="t"/>
          <a:lstStyle/>
          <a:p>
            <a:pPr algn="ctr" indent="0" marL="0">
              <a:buNone/>
            </a:pPr>
            <a:r>
              <a:rPr lang="ru-RU" altLang="en-US" sz="1100" dirty="0">
                <a:solidFill>
                  <a:schemeClr val="tx1"/>
                </a:solidFill>
              </a:rPr>
              <a:t>б) эшелон FL350: 194,8 мкР/ч</a:t>
            </a:r>
            <a:endParaRPr lang="ru-RU" sz="1100" dirty="0"/>
          </a:p>
        </p:txBody>
      </p:sp>
      <p:pic>
        <p:nvPicPr>
          <p:cNvPr id="9" name="Рисунок 2в" descr="Дозиметр после посадки в аэропорту Иркутск: 9,9 мкР/ч">    </p:cNvPr>
          <p:cNvPicPr>
            <a:picLocks noChangeAspect="1"/>
          </p:cNvPicPr>
          <p:nvPr/>
        </p:nvPicPr>
        <p:blipFill>
          <a:blip r:embed="rId3"/>
          <a:stretch>
            <a:fillRect/>
          </a:stretch>
        </p:blipFill>
        <p:spPr>
          <a:xfrm>
            <a:off x="5943600" y="1280160"/>
            <a:ext cx="2514600" cy="3566160"/>
          </a:xfrm>
          <a:prstGeom prst="rect">
            <a:avLst/>
          </a:prstGeom>
        </p:spPr>
      </p:pic>
      <p:sp>
        <p:nvSpPr>
          <p:cNvPr id="10" name="Рисунок 2в — рамка"/>
          <p:cNvSpPr/>
          <p:nvPr/>
        </p:nvSpPr>
        <p:spPr>
          <a:xfrm>
            <a:off x="5943600" y="1280160"/>
            <a:ext cx="2514600" cy="3566160"/>
          </a:xfrm>
          <a:prstGeom prst="rect">
            <a:avLst/>
          </a:prstGeom>
          <a:ln w="9525">
            <a:solidFill>
              <a:schemeClr val="accent2"/>
            </a:solidFill>
            <a:prstDash val="solid"/>
          </a:ln>
        </p:spPr>
      </p:sp>
      <p:sp>
        <p:nvSpPr>
          <p:cNvPr id="11" name="Text 6"/>
          <p:cNvSpPr txBox="1"/>
          <p:nvPr/>
        </p:nvSpPr>
        <p:spPr>
          <a:xfrm>
            <a:off x="5852160" y="4901184"/>
            <a:ext cx="2697480" cy="256032"/>
          </a:xfrm>
          <a:prstGeom prst="rect">
            <a:avLst/>
          </a:prstGeom>
          <a:noFill/>
          <a:ln/>
        </p:spPr>
        <p:txBody>
          <a:bodyPr wrap="square" lIns="0" tIns="0" rIns="0" bIns="0" rtlCol="0" anchor="t"/>
          <a:lstStyle/>
          <a:p>
            <a:pPr algn="ctr" indent="0" marL="0">
              <a:buNone/>
            </a:pPr>
            <a:r>
              <a:rPr lang="ru-RU" altLang="en-US" sz="1100" dirty="0">
                <a:solidFill>
                  <a:schemeClr val="tx1"/>
                </a:solidFill>
              </a:rPr>
              <a:t>в) после посадки: 9,9 мкР/ч</a:t>
            </a:r>
            <a:endParaRPr lang="ru-RU" sz="1100" dirty="0"/>
          </a:p>
        </p:txBody>
      </p:sp>
      <p:pic>
        <p:nvPicPr>
          <p:cNvPr id="12" name="Рисунок 2г" descr="Навигационный дисплей и PFD: точка NILRA в 0,6 NM, эшелон FL350">    </p:cNvPr>
          <p:cNvPicPr>
            <a:picLocks noChangeAspect="1"/>
          </p:cNvPicPr>
          <p:nvPr/>
        </p:nvPicPr>
        <p:blipFill>
          <a:blip r:embed="rId4"/>
          <a:stretch>
            <a:fillRect/>
          </a:stretch>
        </p:blipFill>
        <p:spPr>
          <a:xfrm>
            <a:off x="8686800" y="1280160"/>
            <a:ext cx="3047695" cy="2057194"/>
          </a:xfrm>
          <a:prstGeom prst="rect">
            <a:avLst/>
          </a:prstGeom>
        </p:spPr>
      </p:pic>
      <p:sp>
        <p:nvSpPr>
          <p:cNvPr id="13" name="Рисунок 2г — рамка"/>
          <p:cNvSpPr/>
          <p:nvPr/>
        </p:nvSpPr>
        <p:spPr>
          <a:xfrm>
            <a:off x="8686800" y="1280160"/>
            <a:ext cx="3047695" cy="2057194"/>
          </a:xfrm>
          <a:prstGeom prst="rect">
            <a:avLst/>
          </a:prstGeom>
          <a:ln w="9525">
            <a:solidFill>
              <a:schemeClr val="accent2"/>
            </a:solidFill>
            <a:prstDash val="solid"/>
          </a:ln>
        </p:spPr>
      </p:sp>
      <p:sp>
        <p:nvSpPr>
          <p:cNvPr id="14" name="Text 8"/>
          <p:cNvSpPr txBox="1"/>
          <p:nvPr/>
        </p:nvSpPr>
        <p:spPr>
          <a:xfrm>
            <a:off x="8595360" y="3392218"/>
            <a:ext cx="3230575" cy="256032"/>
          </a:xfrm>
          <a:prstGeom prst="rect">
            <a:avLst/>
          </a:prstGeom>
          <a:noFill/>
          <a:ln/>
        </p:spPr>
        <p:txBody>
          <a:bodyPr wrap="square" lIns="0" tIns="0" rIns="0" bIns="0" rtlCol="0" anchor="t"/>
          <a:lstStyle/>
          <a:p>
            <a:pPr algn="ctr" indent="0" marL="0">
              <a:buNone/>
            </a:pPr>
            <a:r>
              <a:rPr lang="ru-RU" altLang="en-US" sz="1100" dirty="0">
                <a:solidFill>
                  <a:schemeClr val="tx1"/>
                </a:solidFill>
              </a:rPr>
              <a:t>г) т. NILRA на дисплеях ND и PFD</a:t>
            </a:r>
            <a:endParaRPr lang="ru-RU" sz="1100" dirty="0"/>
          </a:p>
        </p:txBody>
      </p:sp>
      <p:pic>
        <p:nvPicPr>
          <p:cNvPr id="15" name="Рисунок 2д" descr="Отрывок компьютерного плана полёта (CFP): точки DIMOP, NILRA, BULEV">    </p:cNvPr>
          <p:cNvPicPr>
            <a:picLocks noChangeAspect="1"/>
          </p:cNvPicPr>
          <p:nvPr/>
        </p:nvPicPr>
        <p:blipFill>
          <a:blip r:embed="rId5"/>
          <a:stretch>
            <a:fillRect/>
          </a:stretch>
        </p:blipFill>
        <p:spPr>
          <a:xfrm>
            <a:off x="8686800" y="3765743"/>
            <a:ext cx="3047695" cy="1080577"/>
          </a:xfrm>
          <a:prstGeom prst="rect">
            <a:avLst/>
          </a:prstGeom>
        </p:spPr>
      </p:pic>
      <p:sp>
        <p:nvSpPr>
          <p:cNvPr id="16" name="Рисунок 2д — рамка"/>
          <p:cNvSpPr/>
          <p:nvPr/>
        </p:nvSpPr>
        <p:spPr>
          <a:xfrm>
            <a:off x="8686800" y="3765743"/>
            <a:ext cx="3047695" cy="1080577"/>
          </a:xfrm>
          <a:prstGeom prst="rect">
            <a:avLst/>
          </a:prstGeom>
          <a:ln w="9525">
            <a:solidFill>
              <a:schemeClr val="accent2"/>
            </a:solidFill>
            <a:prstDash val="solid"/>
          </a:ln>
        </p:spPr>
      </p:sp>
      <p:sp>
        <p:nvSpPr>
          <p:cNvPr id="17" name="Выделение NILRA"/>
          <p:cNvSpPr/>
          <p:nvPr/>
        </p:nvSpPr>
        <p:spPr>
          <a:xfrm>
            <a:off x="8706873" y="4140432"/>
            <a:ext cx="3007550" cy="294399"/>
          </a:xfrm>
          <a:prstGeom prst="rect">
            <a:avLst/>
          </a:prstGeom>
          <a:ln w="25400">
            <a:solidFill>
              <a:schemeClr val="accent3"/>
            </a:solidFill>
            <a:prstDash val="solid"/>
          </a:ln>
        </p:spPr>
      </p:sp>
      <p:sp>
        <p:nvSpPr>
          <p:cNvPr id="18" name="Text 11"/>
          <p:cNvSpPr txBox="1"/>
          <p:nvPr/>
        </p:nvSpPr>
        <p:spPr>
          <a:xfrm>
            <a:off x="8595360" y="4901184"/>
            <a:ext cx="3230575" cy="256032"/>
          </a:xfrm>
          <a:prstGeom prst="rect">
            <a:avLst/>
          </a:prstGeom>
          <a:noFill/>
          <a:ln/>
        </p:spPr>
        <p:txBody>
          <a:bodyPr wrap="square" lIns="0" tIns="0" rIns="0" bIns="0" rtlCol="0" anchor="t"/>
          <a:lstStyle/>
          <a:p>
            <a:pPr algn="ctr" indent="0" marL="0">
              <a:buNone/>
            </a:pPr>
            <a:r>
              <a:rPr lang="ru-RU" altLang="en-US" sz="1100" dirty="0">
                <a:solidFill>
                  <a:schemeClr val="tx1"/>
                </a:solidFill>
              </a:rPr>
              <a:t>д) отрывок CFP рейса</a:t>
            </a:r>
            <a:endParaRPr lang="ru-RU" sz="1100" dirty="0"/>
          </a:p>
        </p:txBody>
      </p:sp>
      <p:sp>
        <p:nvSpPr>
          <p:cNvPr id="19" name="Подпись"/>
          <p:cNvSpPr txBox="1"/>
          <p:nvPr/>
        </p:nvSpPr>
        <p:spPr>
          <a:xfrm>
            <a:off x="457200" y="5440680"/>
            <a:ext cx="11277295" cy="457200"/>
          </a:xfrm>
          <a:prstGeom prst="rect">
            <a:avLst/>
          </a:prstGeom>
          <a:noFill/>
          <a:ln/>
        </p:spPr>
        <p:txBody>
          <a:bodyPr wrap="square" lIns="0" tIns="0" rIns="0" bIns="0" rtlCol="0" anchor="t"/>
          <a:lstStyle/>
          <a:p>
            <a:pPr algn="ctr" indent="0" marL="0">
              <a:buNone/>
            </a:pPr>
            <a:r>
              <a:rPr lang="ru-RU" altLang="en-US" sz="1100" dirty="0">
                <a:solidFill>
                  <a:schemeClr val="tx1"/>
                </a:solidFill>
              </a:rPr>
              <a:t>Рисунок 2 – Регистрация показаний дозиметра: а – перед взлётом в аэропорту Новокузнецк; б – на эшелоне; в – после посадки в аэропорту Иркутск; г, д – т. NILRA на дисплеях и в плане полёта (по материалам работы [1])</a:t>
            </a:r>
            <a:endParaRPr lang="ru-RU" sz="11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4</a:t>
            </a:fld>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Почему годовую дозу нужно рассчитывать</a:t>
            </a:r>
            <a:endParaRPr lang="ru-RU" sz="2400" dirty="0"/>
          </a:p>
        </p:txBody>
      </p:sp>
      <p:sp>
        <p:nvSpPr>
          <p:cNvPr id="3" name="Блок 1"/>
          <p:cNvSpPr/>
          <p:nvPr/>
        </p:nvSpPr>
        <p:spPr>
          <a:xfrm>
            <a:off x="457200" y="1417320"/>
            <a:ext cx="3291840" cy="2103120"/>
          </a:xfrm>
          <a:prstGeom prst="rect">
            <a:avLst/>
          </a:prstGeom>
          <a:solidFill>
            <a:schemeClr val="bg1"/>
          </a:solidFill>
          <a:ln w="9525">
            <a:solidFill>
              <a:schemeClr val="tx1"/>
            </a:solidFill>
            <a:prstDash val="solid"/>
          </a:ln>
        </p:spPr>
      </p:sp>
      <p:sp>
        <p:nvSpPr>
          <p:cNvPr id="4" name="Text 2"/>
          <p:cNvSpPr txBox="1"/>
          <p:nvPr/>
        </p:nvSpPr>
        <p:spPr>
          <a:xfrm>
            <a:off x="640080" y="1600200"/>
            <a:ext cx="2926080" cy="411480"/>
          </a:xfrm>
          <a:prstGeom prst="rect">
            <a:avLst/>
          </a:prstGeom>
          <a:noFill/>
          <a:ln/>
        </p:spPr>
        <p:txBody>
          <a:bodyPr wrap="square" lIns="0" tIns="0" rIns="0" bIns="0" rtlCol="0" anchor="ctr"/>
          <a:lstStyle/>
          <a:p>
            <a:pPr algn="ctr" indent="0" marL="0">
              <a:buNone/>
            </a:pPr>
            <a:r>
              <a:rPr lang="ru-RU" altLang="en-US" sz="1900" b="1" dirty="0">
                <a:solidFill>
                  <a:schemeClr val="tx1"/>
                </a:solidFill>
              </a:rPr>
              <a:t>Счётчик Гейгера</a:t>
            </a:r>
            <a:endParaRPr lang="ru-RU" sz="1900" dirty="0"/>
          </a:p>
        </p:txBody>
      </p:sp>
      <p:sp>
        <p:nvSpPr>
          <p:cNvPr id="5" name="Text 3"/>
          <p:cNvSpPr txBox="1"/>
          <p:nvPr/>
        </p:nvSpPr>
        <p:spPr>
          <a:xfrm>
            <a:off x="640080" y="2103120"/>
            <a:ext cx="2926080" cy="1234440"/>
          </a:xfrm>
          <a:prstGeom prst="rect">
            <a:avLst/>
          </a:prstGeom>
          <a:noFill/>
          <a:ln/>
        </p:spPr>
        <p:txBody>
          <a:bodyPr wrap="square" lIns="0" tIns="0" rIns="0" bIns="0" rtlCol="0" anchor="ctr"/>
          <a:lstStyle/>
          <a:p>
            <a:pPr algn="ctr" indent="0" marL="0">
              <a:buNone/>
            </a:pPr>
            <a:r>
              <a:rPr lang="ru-RU" altLang="en-US" sz="1600" dirty="0">
                <a:solidFill>
                  <a:schemeClr val="tx1"/>
                </a:solidFill>
              </a:rPr>
              <a:t>рассчитан в основном на гамма- и бета-излучение</a:t>
            </a:r>
            <a:endParaRPr lang="ru-RU" sz="1600" dirty="0"/>
          </a:p>
        </p:txBody>
      </p:sp>
      <p:sp>
        <p:nvSpPr>
          <p:cNvPr id="6" name="Стрелка"/>
          <p:cNvSpPr/>
          <p:nvPr/>
        </p:nvSpPr>
        <p:spPr>
          <a:xfrm>
            <a:off x="3822192" y="2468880"/>
            <a:ext cx="554584" cy="0"/>
          </a:xfrm>
          <a:prstGeom prst="line">
            <a:avLst/>
          </a:prstGeom>
          <a:noFill/>
          <a:ln w="15875">
            <a:solidFill>
              <a:schemeClr val="tx1"/>
            </a:solidFill>
            <a:prstDash val="solid"/>
            <a:tailEnd type="triangle"/>
          </a:ln>
        </p:spPr>
      </p:sp>
      <p:sp>
        <p:nvSpPr>
          <p:cNvPr id="7" name="Блок 2"/>
          <p:cNvSpPr/>
          <p:nvPr/>
        </p:nvSpPr>
        <p:spPr>
          <a:xfrm>
            <a:off x="4449928" y="1417320"/>
            <a:ext cx="3291840" cy="2103120"/>
          </a:xfrm>
          <a:prstGeom prst="rect">
            <a:avLst/>
          </a:prstGeom>
          <a:solidFill>
            <a:schemeClr val="bg1"/>
          </a:solidFill>
          <a:ln w="9525">
            <a:solidFill>
              <a:schemeClr val="tx1"/>
            </a:solidFill>
            <a:prstDash val="solid"/>
          </a:ln>
        </p:spPr>
      </p:sp>
      <p:sp>
        <p:nvSpPr>
          <p:cNvPr id="8" name="Text 6"/>
          <p:cNvSpPr txBox="1"/>
          <p:nvPr/>
        </p:nvSpPr>
        <p:spPr>
          <a:xfrm>
            <a:off x="4632808" y="1600200"/>
            <a:ext cx="2926080" cy="411480"/>
          </a:xfrm>
          <a:prstGeom prst="rect">
            <a:avLst/>
          </a:prstGeom>
          <a:noFill/>
          <a:ln/>
        </p:spPr>
        <p:txBody>
          <a:bodyPr wrap="square" lIns="0" tIns="0" rIns="0" bIns="0" rtlCol="0" anchor="ctr"/>
          <a:lstStyle/>
          <a:p>
            <a:pPr algn="ctr" indent="0" marL="0">
              <a:buNone/>
            </a:pPr>
            <a:r>
              <a:rPr lang="ru-RU" altLang="en-US" sz="1900" b="1" dirty="0">
                <a:solidFill>
                  <a:schemeClr val="tx1"/>
                </a:solidFill>
              </a:rPr>
              <a:t>На высоте полёта</a:t>
            </a:r>
            <a:endParaRPr lang="ru-RU" sz="1900" dirty="0"/>
          </a:p>
        </p:txBody>
      </p:sp>
      <p:sp>
        <p:nvSpPr>
          <p:cNvPr id="9" name="Text 7"/>
          <p:cNvSpPr txBox="1"/>
          <p:nvPr/>
        </p:nvSpPr>
        <p:spPr>
          <a:xfrm>
            <a:off x="4632808" y="2103120"/>
            <a:ext cx="2926080" cy="1234440"/>
          </a:xfrm>
          <a:prstGeom prst="rect">
            <a:avLst/>
          </a:prstGeom>
          <a:noFill/>
          <a:ln/>
        </p:spPr>
        <p:txBody>
          <a:bodyPr wrap="square" lIns="0" tIns="0" rIns="0" bIns="0" rtlCol="0" anchor="ctr"/>
          <a:lstStyle/>
          <a:p>
            <a:pPr algn="ctr" indent="0" marL="0">
              <a:buNone/>
            </a:pPr>
            <a:r>
              <a:rPr lang="ru-RU" altLang="en-US" sz="1600" dirty="0">
                <a:solidFill>
                  <a:schemeClr val="tx1"/>
                </a:solidFill>
              </a:rPr>
              <a:t>значительную часть дозы создают нейтроны – счётчик их почти не регистрирует [2]</a:t>
            </a:r>
            <a:endParaRPr lang="ru-RU" sz="1600" dirty="0"/>
          </a:p>
        </p:txBody>
      </p:sp>
      <p:sp>
        <p:nvSpPr>
          <p:cNvPr id="10" name="Стрелка"/>
          <p:cNvSpPr/>
          <p:nvPr/>
        </p:nvSpPr>
        <p:spPr>
          <a:xfrm>
            <a:off x="7814920" y="2468880"/>
            <a:ext cx="554584" cy="0"/>
          </a:xfrm>
          <a:prstGeom prst="line">
            <a:avLst/>
          </a:prstGeom>
          <a:noFill/>
          <a:ln w="15875">
            <a:solidFill>
              <a:schemeClr val="tx1"/>
            </a:solidFill>
            <a:prstDash val="solid"/>
            <a:tailEnd type="triangle"/>
          </a:ln>
        </p:spPr>
      </p:sp>
      <p:sp>
        <p:nvSpPr>
          <p:cNvPr id="11" name="Блок 3"/>
          <p:cNvSpPr/>
          <p:nvPr/>
        </p:nvSpPr>
        <p:spPr>
          <a:xfrm>
            <a:off x="8442655" y="1417320"/>
            <a:ext cx="3291840" cy="2103120"/>
          </a:xfrm>
          <a:prstGeom prst="rect">
            <a:avLst/>
          </a:prstGeom>
          <a:solidFill>
            <a:schemeClr val="bg2"/>
          </a:solidFill>
          <a:ln w="9525">
            <a:solidFill>
              <a:schemeClr val="tx1"/>
            </a:solidFill>
            <a:prstDash val="solid"/>
          </a:ln>
        </p:spPr>
      </p:sp>
      <p:sp>
        <p:nvSpPr>
          <p:cNvPr id="12" name="Text 10"/>
          <p:cNvSpPr txBox="1"/>
          <p:nvPr/>
        </p:nvSpPr>
        <p:spPr>
          <a:xfrm>
            <a:off x="8625535" y="1600200"/>
            <a:ext cx="2926080" cy="411480"/>
          </a:xfrm>
          <a:prstGeom prst="rect">
            <a:avLst/>
          </a:prstGeom>
          <a:noFill/>
          <a:ln/>
        </p:spPr>
        <p:txBody>
          <a:bodyPr wrap="square" lIns="0" tIns="0" rIns="0" bIns="0" rtlCol="0" anchor="ctr"/>
          <a:lstStyle/>
          <a:p>
            <a:pPr algn="ctr" indent="0" marL="0">
              <a:buNone/>
            </a:pPr>
            <a:r>
              <a:rPr lang="ru-RU" altLang="en-US" sz="1900" b="1" dirty="0">
                <a:solidFill>
                  <a:schemeClr val="tx1"/>
                </a:solidFill>
              </a:rPr>
              <a:t>Расчёт дозы</a:t>
            </a:r>
            <a:endParaRPr lang="ru-RU" sz="1900" dirty="0"/>
          </a:p>
        </p:txBody>
      </p:sp>
      <p:sp>
        <p:nvSpPr>
          <p:cNvPr id="13" name="Text 11"/>
          <p:cNvSpPr txBox="1"/>
          <p:nvPr/>
        </p:nvSpPr>
        <p:spPr>
          <a:xfrm>
            <a:off x="8625535" y="2103120"/>
            <a:ext cx="2926080" cy="1234440"/>
          </a:xfrm>
          <a:prstGeom prst="rect">
            <a:avLst/>
          </a:prstGeom>
          <a:noFill/>
          <a:ln/>
        </p:spPr>
        <p:txBody>
          <a:bodyPr wrap="square" lIns="0" tIns="0" rIns="0" bIns="0" rtlCol="0" anchor="ctr"/>
          <a:lstStyle/>
          <a:p>
            <a:pPr algn="ctr" indent="0" marL="0">
              <a:buNone/>
            </a:pPr>
            <a:r>
              <a:rPr lang="ru-RU" altLang="en-US" sz="1600" dirty="0">
                <a:solidFill>
                  <a:schemeClr val="tx1"/>
                </a:solidFill>
              </a:rPr>
              <a:t>по фактическим маршрутам, высотам и датам полётов: CARI‑7, модель RUSCOSMICS (ПГИ) [3]</a:t>
            </a:r>
            <a:endParaRPr lang="ru-RU" sz="1600" dirty="0"/>
          </a:p>
        </p:txBody>
      </p:sp>
      <p:sp>
        <p:nvSpPr>
          <p:cNvPr id="14" name="Text 12"/>
          <p:cNvSpPr txBox="1"/>
          <p:nvPr/>
        </p:nvSpPr>
        <p:spPr>
          <a:xfrm>
            <a:off x="457200" y="3794760"/>
            <a:ext cx="11277295" cy="457200"/>
          </a:xfrm>
          <a:prstGeom prst="rect">
            <a:avLst/>
          </a:prstGeom>
          <a:noFill/>
          <a:ln/>
        </p:spPr>
        <p:txBody>
          <a:bodyPr wrap="square" lIns="0" tIns="0" rIns="0" bIns="0" rtlCol="0" anchor="ctr"/>
          <a:lstStyle/>
          <a:p>
            <a:pPr algn="ctr" indent="0" marL="0">
              <a:buNone/>
            </a:pPr>
            <a:r>
              <a:rPr lang="ru-RU" altLang="en-US" sz="1600" i="1" dirty="0">
                <a:solidFill>
                  <a:schemeClr val="tx1"/>
                </a:solidFill>
              </a:rPr>
              <a:t>Показания счётчика – наглядная оценка; индивидуальную годовую дозу члена экипажа определяют расчётом.</a:t>
            </a:r>
            <a:endParaRPr lang="ru-RU" sz="1600" dirty="0"/>
          </a:p>
        </p:txBody>
      </p:sp>
      <p:sp>
        <p:nvSpPr>
          <p:cNvPr id="15" name="Плашка"/>
          <p:cNvSpPr/>
          <p:nvPr/>
        </p:nvSpPr>
        <p:spPr>
          <a:xfrm>
            <a:off x="457200" y="4526280"/>
            <a:ext cx="11277295" cy="1005840"/>
          </a:xfrm>
          <a:prstGeom prst="rect">
            <a:avLst/>
          </a:prstGeom>
          <a:solidFill>
            <a:schemeClr val="bg2"/>
          </a:solidFill>
          <a:ln w="9525">
            <a:solidFill>
              <a:schemeClr val="tx1"/>
            </a:solidFill>
            <a:prstDash val="solid"/>
          </a:ln>
        </p:spPr>
      </p:sp>
      <p:sp>
        <p:nvSpPr>
          <p:cNvPr id="16" name="Text 14"/>
          <p:cNvSpPr txBox="1"/>
          <p:nvPr/>
        </p:nvSpPr>
        <p:spPr>
          <a:xfrm>
            <a:off x="640080" y="4599432"/>
            <a:ext cx="10911535" cy="859536"/>
          </a:xfrm>
          <a:prstGeom prst="rect">
            <a:avLst/>
          </a:prstGeom>
          <a:noFill/>
          <a:ln/>
        </p:spPr>
        <p:txBody>
          <a:bodyPr wrap="square" lIns="0" tIns="0" rIns="0" bIns="0" rtlCol="0" anchor="ctr"/>
          <a:lstStyle/>
          <a:p>
            <a:pPr algn="ctr" indent="0" marL="0">
              <a:buNone/>
            </a:pPr>
            <a:r>
              <a:rPr lang="ru-RU" altLang="en-US" sz="1900" b="1" dirty="0">
                <a:solidFill>
                  <a:schemeClr val="tx1"/>
                </a:solidFill>
              </a:rPr>
              <a:t>Вопрос работы: </a:t>
            </a:r>
            <a:pPr algn="ctr" indent="0" marL="0">
              <a:buNone/>
            </a:pPr>
            <a:r>
              <a:rPr lang="ru-RU" altLang="en-US" sz="1900" dirty="0">
                <a:solidFill>
                  <a:schemeClr val="tx1"/>
                </a:solidFill>
              </a:rPr>
              <a:t>кто в России обязан учитывать дозу облучения экипажа и какими нормами это закреплено?</a:t>
            </a:r>
            <a:endParaRPr lang="ru-RU" sz="19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5</a:t>
            </a:fld>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Правовая основа и предел дозы облучения экипажа</a:t>
            </a:r>
            <a:endParaRPr lang="ru-RU" sz="2400" dirty="0"/>
          </a:p>
        </p:txBody>
      </p:sp>
      <p:sp>
        <p:nvSpPr>
          <p:cNvPr id="3" name="Предел"/>
          <p:cNvSpPr/>
          <p:nvPr/>
        </p:nvSpPr>
        <p:spPr>
          <a:xfrm>
            <a:off x="457200" y="1325880"/>
            <a:ext cx="3749040" cy="4663440"/>
          </a:xfrm>
          <a:prstGeom prst="rect">
            <a:avLst/>
          </a:prstGeom>
          <a:solidFill>
            <a:schemeClr val="bg1"/>
          </a:solidFill>
          <a:ln w="9525">
            <a:solidFill>
              <a:schemeClr val="tx1"/>
            </a:solidFill>
            <a:prstDash val="solid"/>
          </a:ln>
        </p:spPr>
      </p:sp>
      <p:sp>
        <p:nvSpPr>
          <p:cNvPr id="4" name="Text 2"/>
          <p:cNvSpPr txBox="1"/>
          <p:nvPr/>
        </p:nvSpPr>
        <p:spPr>
          <a:xfrm>
            <a:off x="457200" y="1600200"/>
            <a:ext cx="3749040" cy="822960"/>
          </a:xfrm>
          <a:prstGeom prst="rect">
            <a:avLst/>
          </a:prstGeom>
          <a:noFill/>
          <a:ln/>
        </p:spPr>
        <p:txBody>
          <a:bodyPr wrap="square" lIns="0" tIns="0" rIns="0" bIns="0" rtlCol="0" anchor="ctr"/>
          <a:lstStyle/>
          <a:p>
            <a:pPr algn="ctr" indent="0" marL="0">
              <a:buNone/>
            </a:pPr>
            <a:r>
              <a:rPr lang="ru-RU" altLang="en-US" sz="4000" b="1" dirty="0">
                <a:solidFill>
                  <a:schemeClr val="tx1"/>
                </a:solidFill>
              </a:rPr>
              <a:t>5 мЗв в год</a:t>
            </a:r>
            <a:endParaRPr lang="ru-RU" sz="4000" dirty="0"/>
          </a:p>
        </p:txBody>
      </p:sp>
      <p:sp>
        <p:nvSpPr>
          <p:cNvPr id="5" name="Text 3"/>
          <p:cNvSpPr txBox="1"/>
          <p:nvPr/>
        </p:nvSpPr>
        <p:spPr>
          <a:xfrm>
            <a:off x="685800" y="2468880"/>
            <a:ext cx="3291840" cy="2606040"/>
          </a:xfrm>
          <a:prstGeom prst="rect">
            <a:avLst/>
          </a:prstGeom>
          <a:noFill/>
          <a:ln/>
        </p:spPr>
        <p:txBody>
          <a:bodyPr wrap="square" lIns="0" tIns="0" rIns="0" bIns="0" rtlCol="0" anchor="ctr"/>
          <a:lstStyle/>
          <a:p>
            <a:pPr algn="ctr" indent="0" marL="0">
              <a:buNone/>
            </a:pPr>
            <a:r>
              <a:rPr lang="ru-RU" altLang="en-US" sz="1500" dirty="0">
                <a:solidFill>
                  <a:schemeClr val="tx1"/>
                </a:solidFill>
              </a:rPr>
              <a:t>Эффективная доза облучения природными источниками всех работников в производственных условиях (п. 4.1). «Воздействие космических излучений на экипажи самолётов нормируется как природное облучение в производственных условиях по п. 4.1» (п. 4.3)</a:t>
            </a:r>
            <a:endParaRPr lang="ru-RU" sz="1500" dirty="0"/>
          </a:p>
        </p:txBody>
      </p:sp>
      <p:sp>
        <p:nvSpPr>
          <p:cNvPr id="6" name="Text 4"/>
          <p:cNvSpPr txBox="1"/>
          <p:nvPr/>
        </p:nvSpPr>
        <p:spPr>
          <a:xfrm>
            <a:off x="685800" y="5257800"/>
            <a:ext cx="3291840" cy="411480"/>
          </a:xfrm>
          <a:prstGeom prst="rect">
            <a:avLst/>
          </a:prstGeom>
          <a:noFill/>
          <a:ln/>
        </p:spPr>
        <p:txBody>
          <a:bodyPr wrap="square" lIns="0" tIns="0" rIns="0" bIns="0" rtlCol="0" anchor="ctr"/>
          <a:lstStyle/>
          <a:p>
            <a:pPr algn="ctr" indent="0" marL="0">
              <a:buNone/>
            </a:pPr>
            <a:r>
              <a:rPr lang="ru-RU" altLang="en-US" sz="1500" b="1" dirty="0">
                <a:solidFill>
                  <a:schemeClr val="tx1"/>
                </a:solidFill>
              </a:rPr>
              <a:t>НРБ‑99/2009 [6]</a:t>
            </a:r>
            <a:endParaRPr lang="ru-RU" sz="1500" dirty="0"/>
          </a:p>
        </p:txBody>
      </p:sp>
      <p:sp>
        <p:nvSpPr>
          <p:cNvPr id="7" name="Норма 1"/>
          <p:cNvSpPr/>
          <p:nvPr/>
        </p:nvSpPr>
        <p:spPr>
          <a:xfrm>
            <a:off x="4526280" y="1325880"/>
            <a:ext cx="7208215" cy="1371600"/>
          </a:xfrm>
          <a:prstGeom prst="rect">
            <a:avLst/>
          </a:prstGeom>
          <a:solidFill>
            <a:schemeClr val="bg1"/>
          </a:solidFill>
          <a:ln w="9525">
            <a:solidFill>
              <a:schemeClr val="tx1"/>
            </a:solidFill>
            <a:prstDash val="solid"/>
          </a:ln>
        </p:spPr>
      </p:sp>
      <p:sp>
        <p:nvSpPr>
          <p:cNvPr id="8" name="Text 6"/>
          <p:cNvSpPr txBox="1"/>
          <p:nvPr/>
        </p:nvSpPr>
        <p:spPr>
          <a:xfrm>
            <a:off x="4754880" y="1435608"/>
            <a:ext cx="6751015" cy="384048"/>
          </a:xfrm>
          <a:prstGeom prst="rect">
            <a:avLst/>
          </a:prstGeom>
          <a:noFill/>
          <a:ln/>
        </p:spPr>
        <p:txBody>
          <a:bodyPr wrap="square" lIns="0" tIns="0" rIns="0" bIns="0" rtlCol="0" anchor="ctr"/>
          <a:lstStyle/>
          <a:p>
            <a:pPr indent="0" marL="0">
              <a:buNone/>
            </a:pPr>
            <a:r>
              <a:rPr lang="ru-RU" altLang="en-US" sz="1800" b="1" dirty="0">
                <a:solidFill>
                  <a:schemeClr val="tx1"/>
                </a:solidFill>
              </a:rPr>
              <a:t>Федеральные законы № 3‑ФЗ и № 52‑ФЗ [4, 5]</a:t>
            </a:r>
            <a:endParaRPr lang="ru-RU" sz="1800" dirty="0"/>
          </a:p>
        </p:txBody>
      </p:sp>
      <p:sp>
        <p:nvSpPr>
          <p:cNvPr id="9" name="Text 7"/>
          <p:cNvSpPr txBox="1"/>
          <p:nvPr/>
        </p:nvSpPr>
        <p:spPr>
          <a:xfrm>
            <a:off x="4754880" y="1837944"/>
            <a:ext cx="6751015" cy="786384"/>
          </a:xfrm>
          <a:prstGeom prst="rect">
            <a:avLst/>
          </a:prstGeom>
          <a:noFill/>
          <a:ln/>
        </p:spPr>
        <p:txBody>
          <a:bodyPr wrap="square" lIns="0" tIns="0" rIns="0" bIns="0" rtlCol="0" anchor="t"/>
          <a:lstStyle/>
          <a:p>
            <a:pPr indent="0" marL="0">
              <a:buNone/>
            </a:pPr>
            <a:r>
              <a:rPr lang="ru-RU" altLang="en-US" sz="1600" dirty="0">
                <a:solidFill>
                  <a:schemeClr val="tx1"/>
                </a:solidFill>
              </a:rPr>
              <a:t>«О радиационной безопасности населения» и «О санитарно-эпидемиологическом благополучии населения» – основа регулирования</a:t>
            </a:r>
            <a:endParaRPr lang="ru-RU" sz="1600" dirty="0"/>
          </a:p>
        </p:txBody>
      </p:sp>
      <p:sp>
        <p:nvSpPr>
          <p:cNvPr id="10" name="Норма 2"/>
          <p:cNvSpPr/>
          <p:nvPr/>
        </p:nvSpPr>
        <p:spPr>
          <a:xfrm>
            <a:off x="4526280" y="2971800"/>
            <a:ext cx="7208215" cy="1371600"/>
          </a:xfrm>
          <a:prstGeom prst="rect">
            <a:avLst/>
          </a:prstGeom>
          <a:solidFill>
            <a:schemeClr val="bg2"/>
          </a:solidFill>
          <a:ln w="9525">
            <a:solidFill>
              <a:schemeClr val="tx1"/>
            </a:solidFill>
            <a:prstDash val="solid"/>
          </a:ln>
        </p:spPr>
      </p:sp>
      <p:sp>
        <p:nvSpPr>
          <p:cNvPr id="11" name="Text 9"/>
          <p:cNvSpPr txBox="1"/>
          <p:nvPr/>
        </p:nvSpPr>
        <p:spPr>
          <a:xfrm>
            <a:off x="4754880" y="3081528"/>
            <a:ext cx="6751015" cy="384048"/>
          </a:xfrm>
          <a:prstGeom prst="rect">
            <a:avLst/>
          </a:prstGeom>
          <a:noFill/>
          <a:ln/>
        </p:spPr>
        <p:txBody>
          <a:bodyPr wrap="square" lIns="0" tIns="0" rIns="0" bIns="0" rtlCol="0" anchor="ctr"/>
          <a:lstStyle/>
          <a:p>
            <a:pPr indent="0" marL="0">
              <a:buNone/>
            </a:pPr>
            <a:r>
              <a:rPr lang="ru-RU" altLang="en-US" sz="1800" b="1" dirty="0">
                <a:solidFill>
                  <a:schemeClr val="tx1"/>
                </a:solidFill>
              </a:rPr>
              <a:t>НРБ‑99/2009, пп. 4.1 и 4.3 [6]</a:t>
            </a:r>
            <a:endParaRPr lang="ru-RU" sz="1800" dirty="0"/>
          </a:p>
        </p:txBody>
      </p:sp>
      <p:sp>
        <p:nvSpPr>
          <p:cNvPr id="12" name="Text 10"/>
          <p:cNvSpPr txBox="1"/>
          <p:nvPr/>
        </p:nvSpPr>
        <p:spPr>
          <a:xfrm>
            <a:off x="4754880" y="3483864"/>
            <a:ext cx="6751015" cy="786384"/>
          </a:xfrm>
          <a:prstGeom prst="rect">
            <a:avLst/>
          </a:prstGeom>
          <a:noFill/>
          <a:ln/>
        </p:spPr>
        <p:txBody>
          <a:bodyPr wrap="square" lIns="0" tIns="0" rIns="0" bIns="0" rtlCol="0" anchor="t"/>
          <a:lstStyle/>
          <a:p>
            <a:pPr indent="0" marL="0">
              <a:buNone/>
            </a:pPr>
            <a:r>
              <a:rPr lang="ru-RU" altLang="en-US" sz="1600" dirty="0">
                <a:solidFill>
                  <a:schemeClr val="tx1"/>
                </a:solidFill>
              </a:rPr>
              <a:t>П. 4.3 прямо распространяет предел п. 4.1 на облучение экипажей самолётов космическим излучением</a:t>
            </a:r>
            <a:endParaRPr lang="ru-RU" sz="1600" dirty="0"/>
          </a:p>
        </p:txBody>
      </p:sp>
      <p:sp>
        <p:nvSpPr>
          <p:cNvPr id="13" name="Норма 3"/>
          <p:cNvSpPr/>
          <p:nvPr/>
        </p:nvSpPr>
        <p:spPr>
          <a:xfrm>
            <a:off x="4526280" y="4617720"/>
            <a:ext cx="7208215" cy="1371600"/>
          </a:xfrm>
          <a:prstGeom prst="rect">
            <a:avLst/>
          </a:prstGeom>
          <a:solidFill>
            <a:schemeClr val="bg1"/>
          </a:solidFill>
          <a:ln w="9525">
            <a:solidFill>
              <a:schemeClr val="tx1"/>
            </a:solidFill>
            <a:prstDash val="solid"/>
          </a:ln>
        </p:spPr>
      </p:sp>
      <p:sp>
        <p:nvSpPr>
          <p:cNvPr id="14" name="Text 12"/>
          <p:cNvSpPr txBox="1"/>
          <p:nvPr/>
        </p:nvSpPr>
        <p:spPr>
          <a:xfrm>
            <a:off x="4754880" y="4727448"/>
            <a:ext cx="6751015" cy="384048"/>
          </a:xfrm>
          <a:prstGeom prst="rect">
            <a:avLst/>
          </a:prstGeom>
          <a:noFill/>
          <a:ln/>
        </p:spPr>
        <p:txBody>
          <a:bodyPr wrap="square" lIns="0" tIns="0" rIns="0" bIns="0" rtlCol="0" anchor="ctr"/>
          <a:lstStyle/>
          <a:p>
            <a:pPr indent="0" marL="0">
              <a:buNone/>
            </a:pPr>
            <a:r>
              <a:rPr lang="ru-RU" altLang="en-US" sz="1800" b="1" dirty="0">
                <a:solidFill>
                  <a:schemeClr val="tx1"/>
                </a:solidFill>
              </a:rPr>
              <a:t>Воздушный кодекс РФ, ст. 56 [7]</a:t>
            </a:r>
            <a:endParaRPr lang="ru-RU" sz="1800" dirty="0"/>
          </a:p>
        </p:txBody>
      </p:sp>
      <p:sp>
        <p:nvSpPr>
          <p:cNvPr id="15" name="Text 13"/>
          <p:cNvSpPr txBox="1"/>
          <p:nvPr/>
        </p:nvSpPr>
        <p:spPr>
          <a:xfrm>
            <a:off x="4754880" y="5129784"/>
            <a:ext cx="6751015" cy="786384"/>
          </a:xfrm>
          <a:prstGeom prst="rect">
            <a:avLst/>
          </a:prstGeom>
          <a:noFill/>
          <a:ln/>
        </p:spPr>
        <p:txBody>
          <a:bodyPr wrap="square" lIns="0" tIns="0" rIns="0" bIns="0" rtlCol="0" anchor="t"/>
          <a:lstStyle/>
          <a:p>
            <a:pPr indent="0" marL="0">
              <a:buNone/>
            </a:pPr>
            <a:r>
              <a:rPr lang="ru-RU" altLang="en-US" sz="1600" dirty="0">
                <a:solidFill>
                  <a:schemeClr val="tx1"/>
                </a:solidFill>
              </a:rPr>
              <a:t>Экипаж состоит из лётного и кабинного экипажа (бортоператоры, бортпроводники) – норма касается и пилотов, и бортпроводников</a:t>
            </a:r>
            <a:endParaRPr lang="ru-RU" sz="16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6</a:t>
            </a:fld>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Изменения санитарных норм в 2021–2025 годах</a:t>
            </a:r>
            <a:endParaRPr lang="ru-RU" sz="2400" dirty="0"/>
          </a:p>
        </p:txBody>
      </p:sp>
      <p:sp>
        <p:nvSpPr>
          <p:cNvPr id="3" name="Шкала времени"/>
          <p:cNvSpPr/>
          <p:nvPr/>
        </p:nvSpPr>
        <p:spPr>
          <a:xfrm>
            <a:off x="731520" y="2331720"/>
            <a:ext cx="10728655" cy="0"/>
          </a:xfrm>
          <a:prstGeom prst="line">
            <a:avLst/>
          </a:prstGeom>
          <a:noFill/>
          <a:ln w="19050">
            <a:solidFill>
              <a:schemeClr val="tx1"/>
            </a:solidFill>
            <a:prstDash val="solid"/>
            <a:tailEnd type="triangle"/>
          </a:ln>
        </p:spPr>
      </p:sp>
      <p:sp>
        <p:nvSpPr>
          <p:cNvPr id="4" name="Веха 1"/>
          <p:cNvSpPr/>
          <p:nvPr/>
        </p:nvSpPr>
        <p:spPr>
          <a:xfrm>
            <a:off x="2061972" y="2221992"/>
            <a:ext cx="219456" cy="219456"/>
          </a:xfrm>
          <a:prstGeom prst="ellipse">
            <a:avLst/>
          </a:prstGeom>
          <a:solidFill>
            <a:schemeClr val="tx1"/>
          </a:solidFill>
          <a:ln w="19050">
            <a:solidFill>
              <a:schemeClr val="tx1"/>
            </a:solidFill>
            <a:prstDash val="solid"/>
          </a:ln>
        </p:spPr>
      </p:sp>
      <p:sp>
        <p:nvSpPr>
          <p:cNvPr id="5" name="Text 3"/>
          <p:cNvSpPr txBox="1"/>
          <p:nvPr/>
        </p:nvSpPr>
        <p:spPr>
          <a:xfrm>
            <a:off x="1028700" y="1371600"/>
            <a:ext cx="2286000" cy="457200"/>
          </a:xfrm>
          <a:prstGeom prst="rect">
            <a:avLst/>
          </a:prstGeom>
          <a:noFill/>
          <a:ln/>
        </p:spPr>
        <p:txBody>
          <a:bodyPr wrap="square" lIns="0" tIns="0" rIns="0" bIns="0" rtlCol="0" anchor="b"/>
          <a:lstStyle/>
          <a:p>
            <a:pPr algn="ctr" indent="0" marL="0">
              <a:buNone/>
            </a:pPr>
            <a:r>
              <a:rPr lang="ru-RU" altLang="en-US" sz="2000" b="1" dirty="0">
                <a:solidFill>
                  <a:schemeClr val="tx1"/>
                </a:solidFill>
              </a:rPr>
              <a:t>2009</a:t>
            </a:r>
            <a:endParaRPr lang="ru-RU" sz="2000" dirty="0"/>
          </a:p>
        </p:txBody>
      </p:sp>
      <p:sp>
        <p:nvSpPr>
          <p:cNvPr id="6" name="Событие 1"/>
          <p:cNvSpPr/>
          <p:nvPr/>
        </p:nvSpPr>
        <p:spPr>
          <a:xfrm>
            <a:off x="457200" y="2697480"/>
            <a:ext cx="3429000" cy="1737360"/>
          </a:xfrm>
          <a:prstGeom prst="rect">
            <a:avLst/>
          </a:prstGeom>
          <a:solidFill>
            <a:schemeClr val="bg2"/>
          </a:solidFill>
          <a:ln w="9525">
            <a:solidFill>
              <a:schemeClr val="tx1"/>
            </a:solidFill>
            <a:prstDash val="solid"/>
          </a:ln>
        </p:spPr>
      </p:sp>
      <p:sp>
        <p:nvSpPr>
          <p:cNvPr id="7" name="Text 5"/>
          <p:cNvSpPr txBox="1"/>
          <p:nvPr/>
        </p:nvSpPr>
        <p:spPr>
          <a:xfrm>
            <a:off x="621792" y="2788920"/>
            <a:ext cx="3099816" cy="1554480"/>
          </a:xfrm>
          <a:prstGeom prst="rect">
            <a:avLst/>
          </a:prstGeom>
          <a:noFill/>
          <a:ln/>
        </p:spPr>
        <p:txBody>
          <a:bodyPr wrap="square" lIns="0" tIns="0" rIns="0" bIns="0" rtlCol="0" anchor="ctr"/>
          <a:lstStyle/>
          <a:p>
            <a:pPr algn="ctr" indent="0" marL="0">
              <a:buNone/>
            </a:pPr>
            <a:r>
              <a:rPr lang="ru-RU" altLang="en-US" sz="1500" b="1" dirty="0">
                <a:solidFill>
                  <a:schemeClr val="tx1"/>
                </a:solidFill>
              </a:rPr>
              <a:t>НРБ‑99/2009</a:t>
            </a:r>
            <a:endParaRPr lang="ru-RU" sz="1500" dirty="0"/>
          </a:p>
          <a:p>
            <a:pPr algn="ctr" indent="0" marL="0">
              <a:buNone/>
            </a:pPr>
            <a:r>
              <a:rPr lang="ru-RU" altLang="en-US" sz="1500" dirty="0">
                <a:solidFill>
                  <a:schemeClr val="tx1"/>
                </a:solidFill>
              </a:rPr>
              <a:t>предел 5 мЗв в год (пп. 4.1, 4.3) – действует [6]</a:t>
            </a:r>
            <a:endParaRPr lang="ru-RU" sz="1500" dirty="0"/>
          </a:p>
        </p:txBody>
      </p:sp>
      <p:sp>
        <p:nvSpPr>
          <p:cNvPr id="8" name="Веха 2"/>
          <p:cNvSpPr/>
          <p:nvPr/>
        </p:nvSpPr>
        <p:spPr>
          <a:xfrm>
            <a:off x="5986120" y="2221992"/>
            <a:ext cx="219456" cy="219456"/>
          </a:xfrm>
          <a:prstGeom prst="ellipse">
            <a:avLst/>
          </a:prstGeom>
          <a:solidFill>
            <a:schemeClr val="bg1"/>
          </a:solidFill>
          <a:ln w="19050">
            <a:solidFill>
              <a:schemeClr val="tx1"/>
            </a:solidFill>
            <a:prstDash val="solid"/>
          </a:ln>
        </p:spPr>
      </p:sp>
      <p:sp>
        <p:nvSpPr>
          <p:cNvPr id="9" name="Text 7"/>
          <p:cNvSpPr txBox="1"/>
          <p:nvPr/>
        </p:nvSpPr>
        <p:spPr>
          <a:xfrm>
            <a:off x="4952848" y="1371600"/>
            <a:ext cx="2286000" cy="457200"/>
          </a:xfrm>
          <a:prstGeom prst="rect">
            <a:avLst/>
          </a:prstGeom>
          <a:noFill/>
          <a:ln/>
        </p:spPr>
        <p:txBody>
          <a:bodyPr wrap="square" lIns="0" tIns="0" rIns="0" bIns="0" rtlCol="0" anchor="b"/>
          <a:lstStyle/>
          <a:p>
            <a:pPr algn="ctr" indent="0" marL="0">
              <a:buNone/>
            </a:pPr>
            <a:r>
              <a:rPr lang="ru-RU" altLang="en-US" sz="2000" b="1" dirty="0">
                <a:solidFill>
                  <a:schemeClr val="tx1"/>
                </a:solidFill>
              </a:rPr>
              <a:t>01.01.2021</a:t>
            </a:r>
            <a:endParaRPr lang="ru-RU" sz="2000" dirty="0"/>
          </a:p>
        </p:txBody>
      </p:sp>
      <p:sp>
        <p:nvSpPr>
          <p:cNvPr id="10" name="Событие 2"/>
          <p:cNvSpPr/>
          <p:nvPr/>
        </p:nvSpPr>
        <p:spPr>
          <a:xfrm>
            <a:off x="4381348" y="2697480"/>
            <a:ext cx="3429000" cy="1737360"/>
          </a:xfrm>
          <a:prstGeom prst="rect">
            <a:avLst/>
          </a:prstGeom>
          <a:solidFill>
            <a:schemeClr val="bg1"/>
          </a:solidFill>
          <a:ln w="9525">
            <a:solidFill>
              <a:schemeClr val="tx1"/>
            </a:solidFill>
            <a:prstDash val="dash"/>
          </a:ln>
        </p:spPr>
      </p:sp>
      <p:sp>
        <p:nvSpPr>
          <p:cNvPr id="11" name="Text 9"/>
          <p:cNvSpPr txBox="1"/>
          <p:nvPr/>
        </p:nvSpPr>
        <p:spPr>
          <a:xfrm>
            <a:off x="4545940" y="2788920"/>
            <a:ext cx="3099816" cy="1554480"/>
          </a:xfrm>
          <a:prstGeom prst="rect">
            <a:avLst/>
          </a:prstGeom>
          <a:noFill/>
          <a:ln/>
        </p:spPr>
        <p:txBody>
          <a:bodyPr wrap="square" lIns="0" tIns="0" rIns="0" bIns="0" rtlCol="0" anchor="ctr"/>
          <a:lstStyle/>
          <a:p>
            <a:pPr algn="ctr" indent="0" marL="0">
              <a:buNone/>
            </a:pPr>
            <a:r>
              <a:rPr lang="ru-RU" altLang="en-US" sz="1500" b="1" dirty="0">
                <a:solidFill>
                  <a:schemeClr val="tx1"/>
                </a:solidFill>
              </a:rPr>
              <a:t>СанПиН 2.5.1.2423‑08</a:t>
            </a:r>
            <a:endParaRPr lang="ru-RU" sz="1500" dirty="0"/>
          </a:p>
          <a:p>
            <a:pPr algn="ctr" indent="0" marL="0">
              <a:buNone/>
            </a:pPr>
            <a:r>
              <a:rPr lang="ru-RU" altLang="en-US" sz="1500" dirty="0">
                <a:solidFill>
                  <a:schemeClr val="tx1"/>
                </a:solidFill>
              </a:rPr>
              <a:t>утратил силу (постановление Правительства РФ № 1631) [8]</a:t>
            </a:r>
            <a:endParaRPr lang="ru-RU" sz="1500" dirty="0"/>
          </a:p>
        </p:txBody>
      </p:sp>
      <p:sp>
        <p:nvSpPr>
          <p:cNvPr id="12" name="Веха 3"/>
          <p:cNvSpPr/>
          <p:nvPr/>
        </p:nvSpPr>
        <p:spPr>
          <a:xfrm>
            <a:off x="9910267" y="2221992"/>
            <a:ext cx="219456" cy="219456"/>
          </a:xfrm>
          <a:prstGeom prst="ellipse">
            <a:avLst/>
          </a:prstGeom>
          <a:solidFill>
            <a:schemeClr val="bg1"/>
          </a:solidFill>
          <a:ln w="19050">
            <a:solidFill>
              <a:schemeClr val="tx1"/>
            </a:solidFill>
            <a:prstDash val="solid"/>
          </a:ln>
        </p:spPr>
      </p:sp>
      <p:sp>
        <p:nvSpPr>
          <p:cNvPr id="13" name="Text 11"/>
          <p:cNvSpPr txBox="1"/>
          <p:nvPr/>
        </p:nvSpPr>
        <p:spPr>
          <a:xfrm>
            <a:off x="8876995" y="1371600"/>
            <a:ext cx="2286000" cy="457200"/>
          </a:xfrm>
          <a:prstGeom prst="rect">
            <a:avLst/>
          </a:prstGeom>
          <a:noFill/>
          <a:ln/>
        </p:spPr>
        <p:txBody>
          <a:bodyPr wrap="square" lIns="0" tIns="0" rIns="0" bIns="0" rtlCol="0" anchor="b"/>
          <a:lstStyle/>
          <a:p>
            <a:pPr algn="ctr" indent="0" marL="0">
              <a:buNone/>
            </a:pPr>
            <a:r>
              <a:rPr lang="ru-RU" altLang="en-US" sz="2000" b="1" dirty="0">
                <a:solidFill>
                  <a:schemeClr val="tx1"/>
                </a:solidFill>
              </a:rPr>
              <a:t>01.09.2025</a:t>
            </a:r>
            <a:endParaRPr lang="ru-RU" sz="2000" dirty="0"/>
          </a:p>
        </p:txBody>
      </p:sp>
      <p:sp>
        <p:nvSpPr>
          <p:cNvPr id="14" name="Событие 3"/>
          <p:cNvSpPr/>
          <p:nvPr/>
        </p:nvSpPr>
        <p:spPr>
          <a:xfrm>
            <a:off x="8305495" y="2697480"/>
            <a:ext cx="3429000" cy="1737360"/>
          </a:xfrm>
          <a:prstGeom prst="rect">
            <a:avLst/>
          </a:prstGeom>
          <a:solidFill>
            <a:schemeClr val="bg1"/>
          </a:solidFill>
          <a:ln w="9525">
            <a:solidFill>
              <a:schemeClr val="tx1"/>
            </a:solidFill>
            <a:prstDash val="dash"/>
          </a:ln>
        </p:spPr>
      </p:sp>
      <p:sp>
        <p:nvSpPr>
          <p:cNvPr id="15" name="Text 13"/>
          <p:cNvSpPr txBox="1"/>
          <p:nvPr/>
        </p:nvSpPr>
        <p:spPr>
          <a:xfrm>
            <a:off x="8470087" y="2788920"/>
            <a:ext cx="3099816" cy="1554480"/>
          </a:xfrm>
          <a:prstGeom prst="rect">
            <a:avLst/>
          </a:prstGeom>
          <a:noFill/>
          <a:ln/>
        </p:spPr>
        <p:txBody>
          <a:bodyPr wrap="square" lIns="0" tIns="0" rIns="0" bIns="0" rtlCol="0" anchor="ctr"/>
          <a:lstStyle/>
          <a:p>
            <a:pPr algn="ctr" indent="0" marL="0">
              <a:buNone/>
            </a:pPr>
            <a:r>
              <a:rPr lang="ru-RU" altLang="en-US" sz="1500" b="1" dirty="0">
                <a:solidFill>
                  <a:schemeClr val="tx1"/>
                </a:solidFill>
              </a:rPr>
              <a:t>СанПиН 2.6.1.2800‑10</a:t>
            </a:r>
            <a:endParaRPr lang="ru-RU" sz="1500" dirty="0"/>
          </a:p>
          <a:p>
            <a:pPr algn="ctr" indent="0" marL="0">
              <a:buNone/>
            </a:pPr>
            <a:r>
              <a:rPr lang="ru-RU" altLang="en-US" sz="1500" dirty="0">
                <a:solidFill>
                  <a:schemeClr val="tx1"/>
                </a:solidFill>
              </a:rPr>
              <a:t>утратил силу; вступил в силу СанПиН 2.6.4115‑25 [9]</a:t>
            </a:r>
            <a:endParaRPr lang="ru-RU" sz="1500" dirty="0"/>
          </a:p>
        </p:txBody>
      </p:sp>
      <p:sp>
        <p:nvSpPr>
          <p:cNvPr id="16" name="Плашка"/>
          <p:cNvSpPr/>
          <p:nvPr/>
        </p:nvSpPr>
        <p:spPr>
          <a:xfrm>
            <a:off x="457200" y="4709160"/>
            <a:ext cx="11277295" cy="1188720"/>
          </a:xfrm>
          <a:prstGeom prst="rect">
            <a:avLst/>
          </a:prstGeom>
          <a:solidFill>
            <a:schemeClr val="bg2"/>
          </a:solidFill>
          <a:ln w="9525">
            <a:solidFill>
              <a:schemeClr val="tx1"/>
            </a:solidFill>
            <a:prstDash val="solid"/>
          </a:ln>
        </p:spPr>
      </p:sp>
      <p:sp>
        <p:nvSpPr>
          <p:cNvPr id="17" name="Text 15"/>
          <p:cNvSpPr txBox="1"/>
          <p:nvPr/>
        </p:nvSpPr>
        <p:spPr>
          <a:xfrm>
            <a:off x="640080" y="4782312"/>
            <a:ext cx="10911535" cy="1042416"/>
          </a:xfrm>
          <a:prstGeom prst="rect">
            <a:avLst/>
          </a:prstGeom>
          <a:noFill/>
          <a:ln/>
        </p:spPr>
        <p:txBody>
          <a:bodyPr wrap="square" lIns="0" tIns="0" rIns="0" bIns="0" rtlCol="0" anchor="ctr"/>
          <a:lstStyle/>
          <a:p>
            <a:pPr indent="0" marL="0">
              <a:buNone/>
            </a:pPr>
            <a:r>
              <a:rPr lang="ru-RU" altLang="en-US" sz="1600" b="1" dirty="0">
                <a:solidFill>
                  <a:schemeClr val="tx1"/>
                </a:solidFill>
              </a:rPr>
              <a:t>Итог. </a:t>
            </a:r>
            <a:pPr indent="0" marL="0">
              <a:buNone/>
            </a:pPr>
            <a:r>
              <a:rPr lang="ru-RU" altLang="en-US" sz="1600" dirty="0">
                <a:solidFill>
                  <a:schemeClr val="tx1"/>
                </a:solidFill>
              </a:rPr>
              <a:t>Предел 5 мЗв в год по-прежнему установлен НРБ‑99/2009, а контроль и учёт индивидуальных доз облучения предусмотрен ст. 18 закона № 3‑ФЗ – в рамках единой государственной системы (ЕСКИД) [4]. В работе [1] приводились ссылки на оба утративших силу СанПиНа.</a:t>
            </a:r>
            <a:endParaRPr lang="ru-RU" sz="16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7</a:t>
            </a:fld>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Обязанности работодателя и специальная оценка условий труда</a:t>
            </a:r>
            <a:endParaRPr lang="ru-RU" sz="2400" dirty="0"/>
          </a:p>
        </p:txBody>
      </p:sp>
      <p:sp>
        <p:nvSpPr>
          <p:cNvPr id="3" name="Text 1"/>
          <p:cNvSpPr txBox="1"/>
          <p:nvPr/>
        </p:nvSpPr>
        <p:spPr>
          <a:xfrm>
            <a:off x="457200" y="1371600"/>
            <a:ext cx="548640" cy="868680"/>
          </a:xfrm>
          <a:prstGeom prst="rect">
            <a:avLst/>
          </a:prstGeom>
          <a:noFill/>
          <a:ln/>
        </p:spPr>
        <p:txBody>
          <a:bodyPr wrap="square" lIns="0" tIns="0" rIns="0" bIns="0" rtlCol="0" anchor="ctr"/>
          <a:lstStyle/>
          <a:p>
            <a:pPr algn="ctr" indent="0" marL="0">
              <a:buNone/>
            </a:pPr>
            <a:r>
              <a:rPr lang="ru-RU" altLang="en-US" sz="3000" b="1" dirty="0">
                <a:solidFill>
                  <a:schemeClr val="tx1"/>
                </a:solidFill>
              </a:rPr>
              <a:t>1</a:t>
            </a:r>
            <a:endParaRPr lang="ru-RU" sz="3000" dirty="0"/>
          </a:p>
        </p:txBody>
      </p:sp>
      <p:sp>
        <p:nvSpPr>
          <p:cNvPr id="4" name="Shape 2"/>
          <p:cNvSpPr/>
          <p:nvPr/>
        </p:nvSpPr>
        <p:spPr>
          <a:xfrm>
            <a:off x="1143000" y="1444752"/>
            <a:ext cx="0" cy="722376"/>
          </a:xfrm>
          <a:prstGeom prst="line">
            <a:avLst/>
          </a:prstGeom>
          <a:noFill/>
          <a:ln w="9525">
            <a:solidFill>
              <a:schemeClr val="tx1"/>
            </a:solidFill>
            <a:prstDash val="solid"/>
          </a:ln>
        </p:spPr>
      </p:sp>
      <p:sp>
        <p:nvSpPr>
          <p:cNvPr id="5" name="Text 3"/>
          <p:cNvSpPr txBox="1"/>
          <p:nvPr/>
        </p:nvSpPr>
        <p:spPr>
          <a:xfrm>
            <a:off x="1325880" y="1371600"/>
            <a:ext cx="10408615" cy="868680"/>
          </a:xfrm>
          <a:prstGeom prst="rect">
            <a:avLst/>
          </a:prstGeom>
          <a:noFill/>
          <a:ln/>
        </p:spPr>
        <p:txBody>
          <a:bodyPr wrap="square" lIns="0" tIns="0" rIns="0" bIns="0" rtlCol="0" anchor="ctr"/>
          <a:lstStyle/>
          <a:p>
            <a:pPr indent="0" marL="0">
              <a:buNone/>
            </a:pPr>
            <a:r>
              <a:rPr lang="ru-RU" altLang="en-US" sz="1800" dirty="0">
                <a:solidFill>
                  <a:schemeClr val="tx1"/>
                </a:solidFill>
              </a:rPr>
              <a:t>Обязанность обеспечить безопасные условия труда лежит на авиакомпании как работодателе (ст. 214 ТК РФ) [10].</a:t>
            </a:r>
            <a:endParaRPr lang="ru-RU" sz="1800" dirty="0"/>
          </a:p>
        </p:txBody>
      </p:sp>
      <p:sp>
        <p:nvSpPr>
          <p:cNvPr id="6" name="Text 4"/>
          <p:cNvSpPr txBox="1"/>
          <p:nvPr/>
        </p:nvSpPr>
        <p:spPr>
          <a:xfrm>
            <a:off x="457200" y="2423160"/>
            <a:ext cx="548640" cy="868680"/>
          </a:xfrm>
          <a:prstGeom prst="rect">
            <a:avLst/>
          </a:prstGeom>
          <a:noFill/>
          <a:ln/>
        </p:spPr>
        <p:txBody>
          <a:bodyPr wrap="square" lIns="0" tIns="0" rIns="0" bIns="0" rtlCol="0" anchor="ctr"/>
          <a:lstStyle/>
          <a:p>
            <a:pPr algn="ctr" indent="0" marL="0">
              <a:buNone/>
            </a:pPr>
            <a:r>
              <a:rPr lang="ru-RU" altLang="en-US" sz="3000" b="1" dirty="0">
                <a:solidFill>
                  <a:schemeClr val="tx1"/>
                </a:solidFill>
              </a:rPr>
              <a:t>2</a:t>
            </a:r>
            <a:endParaRPr lang="ru-RU" sz="3000" dirty="0"/>
          </a:p>
        </p:txBody>
      </p:sp>
      <p:sp>
        <p:nvSpPr>
          <p:cNvPr id="7" name="Shape 5"/>
          <p:cNvSpPr/>
          <p:nvPr/>
        </p:nvSpPr>
        <p:spPr>
          <a:xfrm>
            <a:off x="1143000" y="2496312"/>
            <a:ext cx="0" cy="722376"/>
          </a:xfrm>
          <a:prstGeom prst="line">
            <a:avLst/>
          </a:prstGeom>
          <a:noFill/>
          <a:ln w="9525">
            <a:solidFill>
              <a:schemeClr val="tx1"/>
            </a:solidFill>
            <a:prstDash val="solid"/>
          </a:ln>
        </p:spPr>
      </p:sp>
      <p:sp>
        <p:nvSpPr>
          <p:cNvPr id="8" name="Text 6"/>
          <p:cNvSpPr txBox="1"/>
          <p:nvPr/>
        </p:nvSpPr>
        <p:spPr>
          <a:xfrm>
            <a:off x="1325880" y="2423160"/>
            <a:ext cx="10408615" cy="868680"/>
          </a:xfrm>
          <a:prstGeom prst="rect">
            <a:avLst/>
          </a:prstGeom>
          <a:noFill/>
          <a:ln/>
        </p:spPr>
        <p:txBody>
          <a:bodyPr wrap="square" lIns="0" tIns="0" rIns="0" bIns="0" rtlCol="0" anchor="ctr"/>
          <a:lstStyle/>
          <a:p>
            <a:pPr indent="0" marL="0">
              <a:buNone/>
            </a:pPr>
            <a:r>
              <a:rPr lang="ru-RU" altLang="en-US" sz="1800" dirty="0">
                <a:solidFill>
                  <a:schemeClr val="tx1"/>
                </a:solidFill>
              </a:rPr>
              <a:t>С 1 марта 2025 года действуют особенности СОУТ лётных и кабинных экипажей (приказ Минтруда России № 255н) [11].</a:t>
            </a:r>
            <a:endParaRPr lang="ru-RU" sz="1800" dirty="0"/>
          </a:p>
        </p:txBody>
      </p:sp>
      <p:sp>
        <p:nvSpPr>
          <p:cNvPr id="9" name="СОУТ оценивает"/>
          <p:cNvSpPr/>
          <p:nvPr/>
        </p:nvSpPr>
        <p:spPr>
          <a:xfrm>
            <a:off x="457200" y="3657600"/>
            <a:ext cx="5455768" cy="2240280"/>
          </a:xfrm>
          <a:prstGeom prst="rect">
            <a:avLst/>
          </a:prstGeom>
          <a:solidFill>
            <a:schemeClr val="bg1"/>
          </a:solidFill>
          <a:ln w="9525">
            <a:solidFill>
              <a:schemeClr val="tx1"/>
            </a:solidFill>
            <a:prstDash val="solid"/>
          </a:ln>
        </p:spPr>
      </p:sp>
      <p:sp>
        <p:nvSpPr>
          <p:cNvPr id="10" name="Text 8"/>
          <p:cNvSpPr txBox="1"/>
          <p:nvPr/>
        </p:nvSpPr>
        <p:spPr>
          <a:xfrm>
            <a:off x="731520" y="3886200"/>
            <a:ext cx="4907128" cy="411480"/>
          </a:xfrm>
          <a:prstGeom prst="rect">
            <a:avLst/>
          </a:prstGeom>
          <a:noFill/>
          <a:ln/>
        </p:spPr>
        <p:txBody>
          <a:bodyPr wrap="square" lIns="0" tIns="0" rIns="0" bIns="0" rtlCol="0" anchor="t"/>
          <a:lstStyle/>
          <a:p>
            <a:pPr indent="0" marL="0">
              <a:buNone/>
            </a:pPr>
            <a:r>
              <a:rPr lang="ru-RU" altLang="en-US" sz="2000" b="1" dirty="0">
                <a:solidFill>
                  <a:schemeClr val="tx1"/>
                </a:solidFill>
              </a:rPr>
              <a:t>СОУТ оценивает</a:t>
            </a:r>
            <a:endParaRPr lang="ru-RU" sz="2000" dirty="0"/>
          </a:p>
        </p:txBody>
      </p:sp>
      <p:sp>
        <p:nvSpPr>
          <p:cNvPr id="11" name="Text 9"/>
          <p:cNvSpPr txBox="1"/>
          <p:nvPr/>
        </p:nvSpPr>
        <p:spPr>
          <a:xfrm>
            <a:off x="731520" y="4389120"/>
            <a:ext cx="4907128" cy="1280160"/>
          </a:xfrm>
          <a:prstGeom prst="rect">
            <a:avLst/>
          </a:prstGeom>
          <a:noFill/>
          <a:ln/>
        </p:spPr>
        <p:txBody>
          <a:bodyPr wrap="square" lIns="0" tIns="0" rIns="0" bIns="0" rtlCol="0" anchor="ctr"/>
          <a:lstStyle/>
          <a:p>
            <a:pPr indent="0" marL="0">
              <a:buNone/>
            </a:pPr>
            <a:r>
              <a:rPr lang="ru-RU" altLang="en-US" sz="1800" dirty="0">
                <a:solidFill>
                  <a:schemeClr val="tx1"/>
                </a:solidFill>
              </a:rPr>
              <a:t>рабочее место: вредные факторы по общему правилу измеряются в ходе контрольного полёта [11]</a:t>
            </a:r>
            <a:endParaRPr lang="ru-RU" sz="1800" dirty="0"/>
          </a:p>
        </p:txBody>
      </p:sp>
      <p:sp>
        <p:nvSpPr>
          <p:cNvPr id="12" name="СОУТ не оценивает"/>
          <p:cNvSpPr/>
          <p:nvPr/>
        </p:nvSpPr>
        <p:spPr>
          <a:xfrm>
            <a:off x="6278728" y="3657600"/>
            <a:ext cx="5455768" cy="2240280"/>
          </a:xfrm>
          <a:prstGeom prst="rect">
            <a:avLst/>
          </a:prstGeom>
          <a:solidFill>
            <a:schemeClr val="bg2"/>
          </a:solidFill>
          <a:ln w="9525">
            <a:solidFill>
              <a:schemeClr val="tx1"/>
            </a:solidFill>
            <a:prstDash val="solid"/>
          </a:ln>
        </p:spPr>
      </p:sp>
      <p:sp>
        <p:nvSpPr>
          <p:cNvPr id="13" name="Text 11"/>
          <p:cNvSpPr txBox="1"/>
          <p:nvPr/>
        </p:nvSpPr>
        <p:spPr>
          <a:xfrm>
            <a:off x="6553048" y="3886200"/>
            <a:ext cx="4907128" cy="411480"/>
          </a:xfrm>
          <a:prstGeom prst="rect">
            <a:avLst/>
          </a:prstGeom>
          <a:noFill/>
          <a:ln/>
        </p:spPr>
        <p:txBody>
          <a:bodyPr wrap="square" lIns="0" tIns="0" rIns="0" bIns="0" rtlCol="0" anchor="t"/>
          <a:lstStyle/>
          <a:p>
            <a:pPr indent="0" marL="0">
              <a:buNone/>
            </a:pPr>
            <a:r>
              <a:rPr lang="ru-RU" altLang="en-US" sz="2000" b="1" dirty="0">
                <a:solidFill>
                  <a:schemeClr val="tx1"/>
                </a:solidFill>
              </a:rPr>
              <a:t>СОУТ не оценивает</a:t>
            </a:r>
            <a:endParaRPr lang="ru-RU" sz="2000" dirty="0"/>
          </a:p>
        </p:txBody>
      </p:sp>
      <p:sp>
        <p:nvSpPr>
          <p:cNvPr id="14" name="Text 12"/>
          <p:cNvSpPr txBox="1"/>
          <p:nvPr/>
        </p:nvSpPr>
        <p:spPr>
          <a:xfrm>
            <a:off x="6553048" y="4389120"/>
            <a:ext cx="4907128" cy="1280160"/>
          </a:xfrm>
          <a:prstGeom prst="rect">
            <a:avLst/>
          </a:prstGeom>
          <a:noFill/>
          <a:ln/>
        </p:spPr>
        <p:txBody>
          <a:bodyPr wrap="square" lIns="0" tIns="0" rIns="0" bIns="0" rtlCol="0" anchor="ctr"/>
          <a:lstStyle/>
          <a:p>
            <a:pPr indent="0" marL="0">
              <a:buNone/>
            </a:pPr>
            <a:r>
              <a:rPr lang="ru-RU" altLang="en-US" sz="1800" dirty="0">
                <a:solidFill>
                  <a:schemeClr val="tx1"/>
                </a:solidFill>
              </a:rPr>
              <a:t>дозу, которую конкретный член экипажа набрал за год на разных маршрутах</a:t>
            </a:r>
            <a:endParaRPr lang="ru-RU" sz="18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8</a:t>
            </a:fld>
            <a:endParaRPr lang="ru-R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Система правового регулирования</a:t>
            </a:r>
            <a:endParaRPr lang="ru-RU" sz="2400" dirty="0"/>
          </a:p>
        </p:txBody>
      </p:sp>
      <p:sp>
        <p:nvSpPr>
          <p:cNvPr id="3" name="Федеральные законы"/>
          <p:cNvSpPr/>
          <p:nvPr/>
        </p:nvSpPr>
        <p:spPr>
          <a:xfrm>
            <a:off x="1463040" y="1207008"/>
            <a:ext cx="9262872" cy="731520"/>
          </a:xfrm>
          <a:prstGeom prst="rect">
            <a:avLst/>
          </a:prstGeom>
          <a:solidFill>
            <a:schemeClr val="bg2"/>
          </a:solidFill>
          <a:ln w="9525">
            <a:solidFill>
              <a:schemeClr val="tx1"/>
            </a:solidFill>
            <a:prstDash val="solid"/>
          </a:ln>
        </p:spPr>
      </p:sp>
      <p:sp>
        <p:nvSpPr>
          <p:cNvPr id="4" name="Text 2"/>
          <p:cNvSpPr txBox="1"/>
          <p:nvPr/>
        </p:nvSpPr>
        <p:spPr>
          <a:xfrm>
            <a:off x="1572768" y="1252728"/>
            <a:ext cx="9043416" cy="640080"/>
          </a:xfrm>
          <a:prstGeom prst="rect">
            <a:avLst/>
          </a:prstGeom>
          <a:noFill/>
          <a:ln/>
        </p:spPr>
        <p:txBody>
          <a:bodyPr wrap="square" lIns="0" tIns="0" rIns="0" bIns="0" rtlCol="0" anchor="ctr"/>
          <a:lstStyle/>
          <a:p>
            <a:pPr algn="ctr" indent="0" marL="0">
              <a:buNone/>
            </a:pPr>
            <a:r>
              <a:rPr lang="ru-RU" altLang="en-US" sz="1600" b="1" dirty="0">
                <a:solidFill>
                  <a:schemeClr val="tx1"/>
                </a:solidFill>
              </a:rPr>
              <a:t>Федеральные законы</a:t>
            </a:r>
            <a:endParaRPr lang="ru-RU" sz="1400" dirty="0"/>
          </a:p>
          <a:p>
            <a:pPr algn="ctr" indent="0" marL="0">
              <a:buNone/>
            </a:pPr>
            <a:r>
              <a:rPr lang="ru-RU" altLang="en-US" sz="1400" dirty="0">
                <a:solidFill>
                  <a:schemeClr val="tx1"/>
                </a:solidFill>
              </a:rPr>
              <a:t>№ 3‑ФЗ, № 52‑ФЗ, Воздушный кодекс РФ (ст. 56), Трудовой кодекс РФ (ст. 214)</a:t>
            </a:r>
            <a:endParaRPr lang="ru-RU" sz="1400" dirty="0"/>
          </a:p>
        </p:txBody>
      </p:sp>
      <p:sp>
        <p:nvSpPr>
          <p:cNvPr id="5" name="Text 3"/>
          <p:cNvSpPr txBox="1"/>
          <p:nvPr/>
        </p:nvSpPr>
        <p:spPr>
          <a:xfrm>
            <a:off x="457200" y="2057400"/>
            <a:ext cx="1645920" cy="274320"/>
          </a:xfrm>
          <a:prstGeom prst="rect">
            <a:avLst/>
          </a:prstGeom>
          <a:noFill/>
          <a:ln/>
        </p:spPr>
        <p:txBody>
          <a:bodyPr wrap="square" lIns="0" tIns="0" rIns="0" bIns="0" rtlCol="0" anchor="t"/>
          <a:lstStyle/>
          <a:p>
            <a:pPr algn="l" indent="0" marL="0">
              <a:buNone/>
            </a:pPr>
            <a:r>
              <a:rPr lang="ru-RU" altLang="en-US" sz="1300" i="1" dirty="0">
                <a:solidFill>
                  <a:schemeClr val="tx2"/>
                </a:solidFill>
              </a:rPr>
              <a:t>Подзаконные акты:</a:t>
            </a:r>
            <a:endParaRPr lang="ru-RU" sz="1300" dirty="0"/>
          </a:p>
        </p:txBody>
      </p:sp>
      <p:sp>
        <p:nvSpPr>
          <p:cNvPr id="6" name="Санитарные нормы"/>
          <p:cNvSpPr/>
          <p:nvPr/>
        </p:nvSpPr>
        <p:spPr>
          <a:xfrm>
            <a:off x="457200" y="2377440"/>
            <a:ext cx="3474720" cy="1097280"/>
          </a:xfrm>
          <a:prstGeom prst="rect">
            <a:avLst/>
          </a:prstGeom>
          <a:solidFill>
            <a:schemeClr val="bg1"/>
          </a:solidFill>
          <a:ln w="9525">
            <a:solidFill>
              <a:schemeClr val="tx1"/>
            </a:solidFill>
            <a:prstDash val="solid"/>
          </a:ln>
        </p:spPr>
      </p:sp>
      <p:sp>
        <p:nvSpPr>
          <p:cNvPr id="7" name="Text 5"/>
          <p:cNvSpPr txBox="1"/>
          <p:nvPr/>
        </p:nvSpPr>
        <p:spPr>
          <a:xfrm>
            <a:off x="566928" y="2423160"/>
            <a:ext cx="3255264" cy="1005840"/>
          </a:xfrm>
          <a:prstGeom prst="rect">
            <a:avLst/>
          </a:prstGeom>
          <a:noFill/>
          <a:ln/>
        </p:spPr>
        <p:txBody>
          <a:bodyPr wrap="square" lIns="0" tIns="0" rIns="0" bIns="0" rtlCol="0" anchor="ctr"/>
          <a:lstStyle/>
          <a:p>
            <a:pPr algn="ctr" indent="0" marL="0">
              <a:buNone/>
            </a:pPr>
            <a:r>
              <a:rPr lang="ru-RU" altLang="en-US" sz="1600" b="1" dirty="0">
                <a:solidFill>
                  <a:schemeClr val="tx1"/>
                </a:solidFill>
              </a:rPr>
              <a:t>Санитарные нормы</a:t>
            </a:r>
            <a:endParaRPr lang="ru-RU" sz="1400" dirty="0"/>
          </a:p>
          <a:p>
            <a:pPr algn="ctr" indent="0" marL="0">
              <a:buNone/>
            </a:pPr>
            <a:r>
              <a:rPr lang="ru-RU" altLang="en-US" sz="1400" dirty="0">
                <a:solidFill>
                  <a:schemeClr val="tx1"/>
                </a:solidFill>
              </a:rPr>
              <a:t>НРБ‑99/2009, пп. 4.1, 4.3: не более 5 мЗв в год</a:t>
            </a:r>
            <a:endParaRPr lang="ru-RU" sz="1400" dirty="0"/>
          </a:p>
        </p:txBody>
      </p:sp>
      <p:sp>
        <p:nvSpPr>
          <p:cNvPr id="8" name="Стрелка"/>
          <p:cNvSpPr/>
          <p:nvPr/>
        </p:nvSpPr>
        <p:spPr>
          <a:xfrm>
            <a:off x="2194560" y="1938528"/>
            <a:ext cx="0" cy="420624"/>
          </a:xfrm>
          <a:prstGeom prst="line">
            <a:avLst/>
          </a:prstGeom>
          <a:noFill/>
          <a:ln w="15875">
            <a:solidFill>
              <a:schemeClr val="tx1"/>
            </a:solidFill>
            <a:prstDash val="solid"/>
            <a:tailEnd type="triangle"/>
          </a:ln>
        </p:spPr>
      </p:sp>
      <p:sp>
        <p:nvSpPr>
          <p:cNvPr id="9" name="Стрелка"/>
          <p:cNvSpPr/>
          <p:nvPr/>
        </p:nvSpPr>
        <p:spPr>
          <a:xfrm>
            <a:off x="2194560" y="3474720"/>
            <a:ext cx="2532888" cy="393192"/>
          </a:xfrm>
          <a:prstGeom prst="line">
            <a:avLst/>
          </a:prstGeom>
          <a:noFill/>
          <a:ln w="15875">
            <a:solidFill>
              <a:schemeClr val="tx1"/>
            </a:solidFill>
            <a:prstDash val="solid"/>
            <a:tailEnd type="triangle"/>
          </a:ln>
        </p:spPr>
      </p:sp>
      <p:sp>
        <p:nvSpPr>
          <p:cNvPr id="10" name="Охрана труда"/>
          <p:cNvSpPr/>
          <p:nvPr/>
        </p:nvSpPr>
        <p:spPr>
          <a:xfrm>
            <a:off x="4358488" y="2377440"/>
            <a:ext cx="3474720" cy="1097280"/>
          </a:xfrm>
          <a:prstGeom prst="rect">
            <a:avLst/>
          </a:prstGeom>
          <a:solidFill>
            <a:schemeClr val="bg1"/>
          </a:solidFill>
          <a:ln w="9525">
            <a:solidFill>
              <a:schemeClr val="tx1"/>
            </a:solidFill>
            <a:prstDash val="solid"/>
          </a:ln>
        </p:spPr>
      </p:sp>
      <p:sp>
        <p:nvSpPr>
          <p:cNvPr id="11" name="Text 9"/>
          <p:cNvSpPr txBox="1"/>
          <p:nvPr/>
        </p:nvSpPr>
        <p:spPr>
          <a:xfrm>
            <a:off x="4468216" y="2423160"/>
            <a:ext cx="3255264" cy="1005840"/>
          </a:xfrm>
          <a:prstGeom prst="rect">
            <a:avLst/>
          </a:prstGeom>
          <a:noFill/>
          <a:ln/>
        </p:spPr>
        <p:txBody>
          <a:bodyPr wrap="square" lIns="0" tIns="0" rIns="0" bIns="0" rtlCol="0" anchor="ctr"/>
          <a:lstStyle/>
          <a:p>
            <a:pPr algn="ctr" indent="0" marL="0">
              <a:buNone/>
            </a:pPr>
            <a:r>
              <a:rPr lang="ru-RU" altLang="en-US" sz="1600" b="1" dirty="0">
                <a:solidFill>
                  <a:schemeClr val="tx1"/>
                </a:solidFill>
              </a:rPr>
              <a:t>Охрана труда</a:t>
            </a:r>
            <a:endParaRPr lang="ru-RU" sz="1400" dirty="0"/>
          </a:p>
          <a:p>
            <a:pPr algn="ctr" indent="0" marL="0">
              <a:buNone/>
            </a:pPr>
            <a:r>
              <a:rPr lang="ru-RU" altLang="en-US" sz="1400" dirty="0">
                <a:solidFill>
                  <a:schemeClr val="tx1"/>
                </a:solidFill>
              </a:rPr>
              <a:t>приказ Минтруда № 255н: СОУТ лётных и кабинных экипажей</a:t>
            </a:r>
            <a:endParaRPr lang="ru-RU" sz="1400" dirty="0"/>
          </a:p>
        </p:txBody>
      </p:sp>
      <p:sp>
        <p:nvSpPr>
          <p:cNvPr id="12" name="Стрелка"/>
          <p:cNvSpPr/>
          <p:nvPr/>
        </p:nvSpPr>
        <p:spPr>
          <a:xfrm>
            <a:off x="6095848" y="1938528"/>
            <a:ext cx="0" cy="420624"/>
          </a:xfrm>
          <a:prstGeom prst="line">
            <a:avLst/>
          </a:prstGeom>
          <a:noFill/>
          <a:ln w="15875">
            <a:solidFill>
              <a:schemeClr val="tx1"/>
            </a:solidFill>
            <a:prstDash val="solid"/>
            <a:tailEnd type="triangle"/>
          </a:ln>
        </p:spPr>
      </p:sp>
      <p:sp>
        <p:nvSpPr>
          <p:cNvPr id="13" name="Стрелка"/>
          <p:cNvSpPr/>
          <p:nvPr/>
        </p:nvSpPr>
        <p:spPr>
          <a:xfrm>
            <a:off x="6095848" y="3474720"/>
            <a:ext cx="0" cy="393192"/>
          </a:xfrm>
          <a:prstGeom prst="line">
            <a:avLst/>
          </a:prstGeom>
          <a:noFill/>
          <a:ln w="15875">
            <a:solidFill>
              <a:schemeClr val="tx1"/>
            </a:solidFill>
            <a:prstDash val="solid"/>
            <a:tailEnd type="triangle"/>
          </a:ln>
        </p:spPr>
      </p:sp>
      <p:sp>
        <p:nvSpPr>
          <p:cNvPr id="14" name="Режим труда и отдыха"/>
          <p:cNvSpPr/>
          <p:nvPr/>
        </p:nvSpPr>
        <p:spPr>
          <a:xfrm>
            <a:off x="8259775" y="2377440"/>
            <a:ext cx="3474720" cy="1097280"/>
          </a:xfrm>
          <a:prstGeom prst="rect">
            <a:avLst/>
          </a:prstGeom>
          <a:solidFill>
            <a:schemeClr val="bg1"/>
          </a:solidFill>
          <a:ln w="9525">
            <a:solidFill>
              <a:schemeClr val="tx1"/>
            </a:solidFill>
            <a:prstDash val="solid"/>
          </a:ln>
        </p:spPr>
      </p:sp>
      <p:sp>
        <p:nvSpPr>
          <p:cNvPr id="15" name="Text 13"/>
          <p:cNvSpPr txBox="1"/>
          <p:nvPr/>
        </p:nvSpPr>
        <p:spPr>
          <a:xfrm>
            <a:off x="8369503" y="2423160"/>
            <a:ext cx="3255264" cy="1005840"/>
          </a:xfrm>
          <a:prstGeom prst="rect">
            <a:avLst/>
          </a:prstGeom>
          <a:noFill/>
          <a:ln/>
        </p:spPr>
        <p:txBody>
          <a:bodyPr wrap="square" lIns="0" tIns="0" rIns="0" bIns="0" rtlCol="0" anchor="ctr"/>
          <a:lstStyle/>
          <a:p>
            <a:pPr algn="ctr" indent="0" marL="0">
              <a:buNone/>
            </a:pPr>
            <a:r>
              <a:rPr lang="ru-RU" altLang="en-US" sz="1600" b="1" dirty="0">
                <a:solidFill>
                  <a:schemeClr val="tx1"/>
                </a:solidFill>
              </a:rPr>
              <a:t>Режим труда и отдыха</a:t>
            </a:r>
            <a:endParaRPr lang="ru-RU" sz="1400" dirty="0"/>
          </a:p>
          <a:p>
            <a:pPr algn="ctr" indent="0" marL="0">
              <a:buNone/>
            </a:pPr>
            <a:r>
              <a:rPr lang="ru-RU" altLang="en-US" sz="1400" dirty="0">
                <a:solidFill>
                  <a:schemeClr val="tx1"/>
                </a:solidFill>
              </a:rPr>
              <a:t>приказ Минтранса № 381: налёт до 800 ч (900 ч) в год</a:t>
            </a:r>
            <a:endParaRPr lang="ru-RU" sz="1400" dirty="0"/>
          </a:p>
        </p:txBody>
      </p:sp>
      <p:sp>
        <p:nvSpPr>
          <p:cNvPr id="16" name="Стрелка"/>
          <p:cNvSpPr/>
          <p:nvPr/>
        </p:nvSpPr>
        <p:spPr>
          <a:xfrm>
            <a:off x="9997135" y="1938528"/>
            <a:ext cx="0" cy="420624"/>
          </a:xfrm>
          <a:prstGeom prst="line">
            <a:avLst/>
          </a:prstGeom>
          <a:noFill/>
          <a:ln w="15875">
            <a:solidFill>
              <a:schemeClr val="tx1"/>
            </a:solidFill>
            <a:prstDash val="solid"/>
            <a:tailEnd type="triangle"/>
          </a:ln>
        </p:spPr>
      </p:sp>
      <p:sp>
        <p:nvSpPr>
          <p:cNvPr id="17" name="Стрелка"/>
          <p:cNvSpPr/>
          <p:nvPr/>
        </p:nvSpPr>
        <p:spPr>
          <a:xfrm flipH="1">
            <a:off x="7470648" y="3474720"/>
            <a:ext cx="2526487" cy="393192"/>
          </a:xfrm>
          <a:prstGeom prst="line">
            <a:avLst/>
          </a:prstGeom>
          <a:noFill/>
          <a:ln w="15875">
            <a:solidFill>
              <a:schemeClr val="tx1"/>
            </a:solidFill>
            <a:prstDash val="solid"/>
            <a:tailEnd type="triangle"/>
          </a:ln>
        </p:spPr>
      </p:sp>
      <p:sp>
        <p:nvSpPr>
          <p:cNvPr id="18" name="Член экипажа"/>
          <p:cNvSpPr/>
          <p:nvPr/>
        </p:nvSpPr>
        <p:spPr>
          <a:xfrm>
            <a:off x="3813048" y="3886200"/>
            <a:ext cx="4572000" cy="685800"/>
          </a:xfrm>
          <a:prstGeom prst="rect">
            <a:avLst/>
          </a:prstGeom>
          <a:solidFill>
            <a:schemeClr val="bg2"/>
          </a:solidFill>
          <a:ln w="9525">
            <a:solidFill>
              <a:schemeClr val="tx1"/>
            </a:solidFill>
            <a:prstDash val="solid"/>
          </a:ln>
        </p:spPr>
      </p:sp>
      <p:sp>
        <p:nvSpPr>
          <p:cNvPr id="19" name="Text 17"/>
          <p:cNvSpPr txBox="1"/>
          <p:nvPr/>
        </p:nvSpPr>
        <p:spPr>
          <a:xfrm>
            <a:off x="3922776" y="3931920"/>
            <a:ext cx="4352544" cy="594360"/>
          </a:xfrm>
          <a:prstGeom prst="rect">
            <a:avLst/>
          </a:prstGeom>
          <a:noFill/>
          <a:ln/>
        </p:spPr>
        <p:txBody>
          <a:bodyPr wrap="square" lIns="0" tIns="0" rIns="0" bIns="0" rtlCol="0" anchor="ctr"/>
          <a:lstStyle/>
          <a:p>
            <a:pPr algn="ctr" indent="0" marL="0">
              <a:buNone/>
            </a:pPr>
            <a:r>
              <a:rPr lang="ru-RU" altLang="en-US" sz="1600" b="1" dirty="0">
                <a:solidFill>
                  <a:schemeClr val="tx1"/>
                </a:solidFill>
              </a:rPr>
              <a:t>Член экипажа</a:t>
            </a:r>
            <a:endParaRPr lang="ru-RU" sz="1400" dirty="0"/>
          </a:p>
          <a:p>
            <a:pPr algn="ctr" indent="0" marL="0">
              <a:buNone/>
            </a:pPr>
            <a:r>
              <a:rPr lang="ru-RU" altLang="en-US" sz="1400" dirty="0">
                <a:solidFill>
                  <a:schemeClr val="tx1"/>
                </a:solidFill>
              </a:rPr>
              <a:t>лётный и кабинный экипаж</a:t>
            </a:r>
            <a:endParaRPr lang="ru-RU" sz="1400" dirty="0"/>
          </a:p>
        </p:txBody>
      </p:sp>
      <p:sp>
        <p:nvSpPr>
          <p:cNvPr id="20" name="Утратили силу"/>
          <p:cNvSpPr/>
          <p:nvPr/>
        </p:nvSpPr>
        <p:spPr>
          <a:xfrm>
            <a:off x="457200" y="4846320"/>
            <a:ext cx="5394960" cy="731520"/>
          </a:xfrm>
          <a:prstGeom prst="rect">
            <a:avLst/>
          </a:prstGeom>
          <a:solidFill>
            <a:schemeClr val="bg1"/>
          </a:solidFill>
          <a:ln w="9525">
            <a:solidFill>
              <a:schemeClr val="tx1"/>
            </a:solidFill>
            <a:prstDash val="dash"/>
          </a:ln>
        </p:spPr>
      </p:sp>
      <p:sp>
        <p:nvSpPr>
          <p:cNvPr id="21" name="Text 19"/>
          <p:cNvSpPr txBox="1"/>
          <p:nvPr/>
        </p:nvSpPr>
        <p:spPr>
          <a:xfrm>
            <a:off x="566928" y="4892040"/>
            <a:ext cx="5175504" cy="640080"/>
          </a:xfrm>
          <a:prstGeom prst="rect">
            <a:avLst/>
          </a:prstGeom>
          <a:noFill/>
          <a:ln/>
        </p:spPr>
        <p:txBody>
          <a:bodyPr wrap="square" lIns="0" tIns="0" rIns="0" bIns="0" rtlCol="0" anchor="ctr"/>
          <a:lstStyle/>
          <a:p>
            <a:pPr algn="ctr" indent="0" marL="0">
              <a:buNone/>
            </a:pPr>
            <a:r>
              <a:rPr lang="ru-RU" altLang="en-US" sz="1500" b="1" dirty="0">
                <a:solidFill>
                  <a:schemeClr val="tx1"/>
                </a:solidFill>
              </a:rPr>
              <a:t>Утратили силу:</a:t>
            </a:r>
            <a:endParaRPr lang="ru-RU" sz="1300" dirty="0"/>
          </a:p>
          <a:p>
            <a:pPr algn="ctr" indent="0" marL="0">
              <a:buNone/>
            </a:pPr>
            <a:r>
              <a:rPr lang="ru-RU" altLang="en-US" sz="1300" i="1" dirty="0">
                <a:solidFill>
                  <a:schemeClr val="tx1"/>
                </a:solidFill>
              </a:rPr>
              <a:t>СанПиН 2.5.1.2423‑08, СанПиН 2.6.1.2800‑10</a:t>
            </a:r>
            <a:endParaRPr lang="ru-RU" sz="1300" dirty="0"/>
          </a:p>
        </p:txBody>
      </p:sp>
      <p:sp>
        <p:nvSpPr>
          <p:cNvPr id="22" name="Не закреплено"/>
          <p:cNvSpPr/>
          <p:nvPr/>
        </p:nvSpPr>
        <p:spPr>
          <a:xfrm>
            <a:off x="6339535" y="4846320"/>
            <a:ext cx="5394960" cy="731520"/>
          </a:xfrm>
          <a:prstGeom prst="rect">
            <a:avLst/>
          </a:prstGeom>
          <a:solidFill>
            <a:schemeClr val="bg1"/>
          </a:solidFill>
          <a:ln w="9525">
            <a:solidFill>
              <a:schemeClr val="tx1"/>
            </a:solidFill>
            <a:prstDash val="dash"/>
          </a:ln>
        </p:spPr>
      </p:sp>
      <p:sp>
        <p:nvSpPr>
          <p:cNvPr id="23" name="Text 21"/>
          <p:cNvSpPr txBox="1"/>
          <p:nvPr/>
        </p:nvSpPr>
        <p:spPr>
          <a:xfrm>
            <a:off x="6449263" y="4892040"/>
            <a:ext cx="5175504" cy="640080"/>
          </a:xfrm>
          <a:prstGeom prst="rect">
            <a:avLst/>
          </a:prstGeom>
          <a:noFill/>
          <a:ln/>
        </p:spPr>
        <p:txBody>
          <a:bodyPr wrap="square" lIns="0" tIns="0" rIns="0" bIns="0" rtlCol="0" anchor="ctr"/>
          <a:lstStyle/>
          <a:p>
            <a:pPr algn="ctr" indent="0" marL="0">
              <a:buNone/>
            </a:pPr>
            <a:r>
              <a:rPr lang="ru-RU" altLang="en-US" sz="1500" b="1" dirty="0">
                <a:solidFill>
                  <a:schemeClr val="tx1"/>
                </a:solidFill>
              </a:rPr>
              <a:t>Не закреплено:</a:t>
            </a:r>
            <a:endParaRPr lang="ru-RU" sz="1300" dirty="0"/>
          </a:p>
          <a:p>
            <a:pPr algn="ctr" indent="0" marL="0">
              <a:buNone/>
            </a:pPr>
            <a:r>
              <a:rPr lang="ru-RU" altLang="en-US" sz="1300" i="1" dirty="0">
                <a:solidFill>
                  <a:schemeClr val="tx1"/>
                </a:solidFill>
              </a:rPr>
              <a:t>специальный порядок расчёта индивидуальных доз членов экипажей по фактическим рейсам</a:t>
            </a:r>
            <a:endParaRPr lang="ru-RU" sz="1300" dirty="0"/>
          </a:p>
        </p:txBody>
      </p:sp>
      <p:sp>
        <p:nvSpPr>
          <p:cNvPr id="24" name="Подпись"/>
          <p:cNvSpPr txBox="1"/>
          <p:nvPr/>
        </p:nvSpPr>
        <p:spPr>
          <a:xfrm>
            <a:off x="457200" y="5806440"/>
            <a:ext cx="11277295" cy="274320"/>
          </a:xfrm>
          <a:prstGeom prst="rect">
            <a:avLst/>
          </a:prstGeom>
          <a:noFill/>
          <a:ln/>
        </p:spPr>
        <p:txBody>
          <a:bodyPr wrap="square" lIns="0" tIns="0" rIns="0" bIns="0" rtlCol="0" anchor="t"/>
          <a:lstStyle/>
          <a:p>
            <a:pPr algn="ctr" indent="0" marL="0">
              <a:buNone/>
            </a:pPr>
            <a:r>
              <a:rPr lang="ru-RU" altLang="en-US" sz="1100" dirty="0">
                <a:solidFill>
                  <a:schemeClr val="tx1"/>
                </a:solidFill>
              </a:rPr>
              <a:t>Рисунок 3 – Система правового регулирования радиационной безопасности членов экипажей воздушных судов в Российской Федерации (составлено авторами)</a:t>
            </a:r>
            <a:endParaRPr lang="ru-RU" sz="11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9</a:t>
            </a:fld>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Ограничение налёта и оценка годовой дозы</a:t>
            </a:r>
            <a:endParaRPr lang="ru-RU" sz="2400" dirty="0"/>
          </a:p>
        </p:txBody>
      </p:sp>
      <p:sp>
        <p:nvSpPr>
          <p:cNvPr id="3" name="Text 1"/>
          <p:cNvSpPr txBox="1"/>
          <p:nvPr/>
        </p:nvSpPr>
        <p:spPr>
          <a:xfrm>
            <a:off x="457200" y="1234440"/>
            <a:ext cx="3931920" cy="320040"/>
          </a:xfrm>
          <a:prstGeom prst="rect">
            <a:avLst/>
          </a:prstGeom>
          <a:noFill/>
          <a:ln/>
        </p:spPr>
        <p:txBody>
          <a:bodyPr wrap="square" lIns="0" tIns="0" rIns="0" bIns="0" rtlCol="0" anchor="t"/>
          <a:lstStyle/>
          <a:p>
            <a:pPr indent="0" marL="0">
              <a:buNone/>
            </a:pPr>
            <a:r>
              <a:rPr lang="ru-RU" altLang="en-US" sz="1600" b="1" dirty="0">
                <a:solidFill>
                  <a:schemeClr val="tx1"/>
                </a:solidFill>
              </a:rPr>
              <a:t>Приказ Минтранса России № 381 [12]</a:t>
            </a:r>
            <a:endParaRPr lang="ru-RU" sz="1600" dirty="0"/>
          </a:p>
        </p:txBody>
      </p:sp>
      <p:sp>
        <p:nvSpPr>
          <p:cNvPr id="4" name="Text 2"/>
          <p:cNvSpPr txBox="1"/>
          <p:nvPr/>
        </p:nvSpPr>
        <p:spPr>
          <a:xfrm>
            <a:off x="457200" y="1554480"/>
            <a:ext cx="3931920" cy="274320"/>
          </a:xfrm>
          <a:prstGeom prst="rect">
            <a:avLst/>
          </a:prstGeom>
          <a:noFill/>
          <a:ln/>
        </p:spPr>
        <p:txBody>
          <a:bodyPr wrap="square" lIns="0" tIns="0" rIns="0" bIns="0" rtlCol="0" anchor="t"/>
          <a:lstStyle/>
          <a:p>
            <a:pPr indent="0" marL="0">
              <a:buNone/>
            </a:pPr>
            <a:r>
              <a:rPr lang="ru-RU" altLang="en-US" sz="1400" dirty="0">
                <a:solidFill>
                  <a:schemeClr val="tx2"/>
                </a:solidFill>
              </a:rPr>
              <a:t>действует с 01.03.2026 вместо приказа № 139</a:t>
            </a:r>
            <a:endParaRPr lang="ru-RU" sz="1400" dirty="0"/>
          </a:p>
        </p:txBody>
      </p:sp>
      <p:sp>
        <p:nvSpPr>
          <p:cNvPr id="5" name="Налёт 800"/>
          <p:cNvSpPr/>
          <p:nvPr/>
        </p:nvSpPr>
        <p:spPr>
          <a:xfrm>
            <a:off x="457200" y="1965960"/>
            <a:ext cx="3931920" cy="1325880"/>
          </a:xfrm>
          <a:prstGeom prst="rect">
            <a:avLst/>
          </a:prstGeom>
          <a:solidFill>
            <a:schemeClr val="bg1"/>
          </a:solidFill>
          <a:ln w="9525">
            <a:solidFill>
              <a:schemeClr val="tx1"/>
            </a:solidFill>
            <a:prstDash val="solid"/>
          </a:ln>
        </p:spPr>
      </p:sp>
      <p:sp>
        <p:nvSpPr>
          <p:cNvPr id="6" name="Text 4"/>
          <p:cNvSpPr txBox="1"/>
          <p:nvPr/>
        </p:nvSpPr>
        <p:spPr>
          <a:xfrm>
            <a:off x="457200" y="2057400"/>
            <a:ext cx="3931920" cy="566928"/>
          </a:xfrm>
          <a:prstGeom prst="rect">
            <a:avLst/>
          </a:prstGeom>
          <a:noFill/>
          <a:ln/>
        </p:spPr>
        <p:txBody>
          <a:bodyPr wrap="square" lIns="0" tIns="0" rIns="0" bIns="0" rtlCol="0" anchor="ctr"/>
          <a:lstStyle/>
          <a:p>
            <a:pPr algn="ctr" indent="0" marL="0">
              <a:buNone/>
            </a:pPr>
            <a:r>
              <a:rPr lang="ru-RU" altLang="en-US" sz="2800" b="1" dirty="0">
                <a:solidFill>
                  <a:schemeClr val="tx1"/>
                </a:solidFill>
              </a:rPr>
              <a:t>800 ч</a:t>
            </a:r>
            <a:endParaRPr lang="ru-RU" sz="2800" dirty="0"/>
          </a:p>
        </p:txBody>
      </p:sp>
      <p:sp>
        <p:nvSpPr>
          <p:cNvPr id="7" name="Text 5"/>
          <p:cNvSpPr txBox="1"/>
          <p:nvPr/>
        </p:nvSpPr>
        <p:spPr>
          <a:xfrm>
            <a:off x="594360" y="2660904"/>
            <a:ext cx="3657600" cy="557784"/>
          </a:xfrm>
          <a:prstGeom prst="rect">
            <a:avLst/>
          </a:prstGeom>
          <a:noFill/>
          <a:ln/>
        </p:spPr>
        <p:txBody>
          <a:bodyPr wrap="square" lIns="0" tIns="0" rIns="0" bIns="0" rtlCol="0" anchor="ctr"/>
          <a:lstStyle/>
          <a:p>
            <a:pPr algn="ctr" indent="0" marL="0">
              <a:buNone/>
            </a:pPr>
            <a:r>
              <a:rPr lang="ru-RU" altLang="en-US" sz="1400" dirty="0">
                <a:solidFill>
                  <a:schemeClr val="tx1"/>
                </a:solidFill>
              </a:rPr>
              <a:t>максимальное полётное время в год</a:t>
            </a:r>
            <a:endParaRPr lang="ru-RU" sz="1400" dirty="0"/>
          </a:p>
        </p:txBody>
      </p:sp>
      <p:sp>
        <p:nvSpPr>
          <p:cNvPr id="8" name="Налёт 900"/>
          <p:cNvSpPr/>
          <p:nvPr/>
        </p:nvSpPr>
        <p:spPr>
          <a:xfrm>
            <a:off x="457200" y="3520440"/>
            <a:ext cx="3931920" cy="1325880"/>
          </a:xfrm>
          <a:prstGeom prst="rect">
            <a:avLst/>
          </a:prstGeom>
          <a:solidFill>
            <a:schemeClr val="bg1"/>
          </a:solidFill>
          <a:ln w="9525">
            <a:solidFill>
              <a:schemeClr val="tx1"/>
            </a:solidFill>
            <a:prstDash val="solid"/>
          </a:ln>
        </p:spPr>
      </p:sp>
      <p:sp>
        <p:nvSpPr>
          <p:cNvPr id="9" name="Text 7"/>
          <p:cNvSpPr txBox="1"/>
          <p:nvPr/>
        </p:nvSpPr>
        <p:spPr>
          <a:xfrm>
            <a:off x="457200" y="3611880"/>
            <a:ext cx="3931920" cy="566928"/>
          </a:xfrm>
          <a:prstGeom prst="rect">
            <a:avLst/>
          </a:prstGeom>
          <a:noFill/>
          <a:ln/>
        </p:spPr>
        <p:txBody>
          <a:bodyPr wrap="square" lIns="0" tIns="0" rIns="0" bIns="0" rtlCol="0" anchor="ctr"/>
          <a:lstStyle/>
          <a:p>
            <a:pPr algn="ctr" indent="0" marL="0">
              <a:buNone/>
            </a:pPr>
            <a:r>
              <a:rPr lang="ru-RU" altLang="en-US" sz="2800" b="1" dirty="0">
                <a:solidFill>
                  <a:schemeClr val="tx1"/>
                </a:solidFill>
              </a:rPr>
              <a:t>900 ч</a:t>
            </a:r>
            <a:endParaRPr lang="ru-RU" sz="2800" dirty="0"/>
          </a:p>
        </p:txBody>
      </p:sp>
      <p:sp>
        <p:nvSpPr>
          <p:cNvPr id="10" name="Text 8"/>
          <p:cNvSpPr txBox="1"/>
          <p:nvPr/>
        </p:nvSpPr>
        <p:spPr>
          <a:xfrm>
            <a:off x="594360" y="4215384"/>
            <a:ext cx="3657600" cy="557784"/>
          </a:xfrm>
          <a:prstGeom prst="rect">
            <a:avLst/>
          </a:prstGeom>
          <a:noFill/>
          <a:ln/>
        </p:spPr>
        <p:txBody>
          <a:bodyPr wrap="square" lIns="0" tIns="0" rIns="0" bIns="0" rtlCol="0" anchor="ctr"/>
          <a:lstStyle/>
          <a:p>
            <a:pPr algn="ctr" indent="0" marL="0">
              <a:buNone/>
            </a:pPr>
            <a:r>
              <a:rPr lang="ru-RU" altLang="en-US" sz="1400" dirty="0">
                <a:solidFill>
                  <a:schemeClr val="tx1"/>
                </a:solidFill>
              </a:rPr>
              <a:t>с письменного согласия работника</a:t>
            </a:r>
            <a:endParaRPr lang="ru-RU" sz="1400" dirty="0"/>
          </a:p>
        </p:txBody>
      </p:sp>
      <p:sp>
        <p:nvSpPr>
          <p:cNvPr id="11" name="Text 9"/>
          <p:cNvSpPr txBox="1"/>
          <p:nvPr/>
        </p:nvSpPr>
        <p:spPr>
          <a:xfrm>
            <a:off x="457200" y="5029200"/>
            <a:ext cx="3931920" cy="868680"/>
          </a:xfrm>
          <a:prstGeom prst="rect">
            <a:avLst/>
          </a:prstGeom>
          <a:noFill/>
          <a:ln/>
        </p:spPr>
        <p:txBody>
          <a:bodyPr wrap="square" lIns="0" tIns="0" rIns="0" bIns="0" rtlCol="0" anchor="ctr"/>
          <a:lstStyle/>
          <a:p>
            <a:pPr indent="0" marL="0">
              <a:buNone/>
            </a:pPr>
            <a:r>
              <a:rPr lang="ru-RU" altLang="en-US" sz="1500" dirty="0">
                <a:solidFill>
                  <a:schemeClr val="tx1"/>
                </a:solidFill>
              </a:rPr>
              <a:t>362 мкЗв за месяц при налёте 90 ч [3] → ≈ 4 мкЗв за час полёта</a:t>
            </a:r>
            <a:endParaRPr lang="ru-RU" sz="1500" dirty="0"/>
          </a:p>
        </p:txBody>
      </p:sp>
      <p:sp>
        <p:nvSpPr>
          <p:cNvPr id="12" name="Text 10"/>
          <p:cNvSpPr txBox="1"/>
          <p:nvPr/>
        </p:nvSpPr>
        <p:spPr>
          <a:xfrm>
            <a:off x="4800600" y="1234440"/>
            <a:ext cx="6933895" cy="320040"/>
          </a:xfrm>
          <a:prstGeom prst="rect">
            <a:avLst/>
          </a:prstGeom>
          <a:noFill/>
          <a:ln/>
        </p:spPr>
        <p:txBody>
          <a:bodyPr wrap="square" lIns="0" tIns="0" rIns="0" bIns="0" rtlCol="0" anchor="t"/>
          <a:lstStyle/>
          <a:p>
            <a:pPr indent="0" marL="0">
              <a:buNone/>
            </a:pPr>
            <a:r>
              <a:rPr lang="ru-RU" altLang="en-US" sz="1600" b="1" dirty="0">
                <a:solidFill>
                  <a:schemeClr val="tx1"/>
                </a:solidFill>
              </a:rPr>
              <a:t>Оценка годовой дозы при ≈ 4 мкЗв/ч</a:t>
            </a:r>
            <a:endParaRPr lang="ru-RU" sz="1600" dirty="0"/>
          </a:p>
        </p:txBody>
      </p:sp>
      <p:graphicFrame>
        <p:nvGraphicFramePr>
          <p:cNvPr id="13" name="Рисунок 4" descr="Годовая доза: при налёте 800 ч ≈ 3,2 мЗв, при 900 ч ≈ 3,6 мЗв; предел 5 мЗв"/>
          <p:cNvGraphicFramePr/>
          <p:nvPr/>
        </p:nvGraphicFramePr>
        <p:xfrm>
          <a:off x="4800600" y="1600200"/>
          <a:ext cx="6933895" cy="2743200"/>
        </p:xfrm>
        <a:graphic xmlns:a="http://schemas.openxmlformats.org/drawingml/2006/main">
          <a:graphicData uri="http://schemas.openxmlformats.org/drawingml/2006/chart">
            <c:chart xmlns:c="http://schemas.openxmlformats.org/drawingml/2006/chart" r:id="rId1"/>
          </a:graphicData>
        </a:graphic>
      </p:graphicFrame>
      <p:sp>
        <p:nvSpPr>
          <p:cNvPr id="14" name="Подпись"/>
          <p:cNvSpPr txBox="1"/>
          <p:nvPr/>
        </p:nvSpPr>
        <p:spPr>
          <a:xfrm>
            <a:off x="4800600" y="4389120"/>
            <a:ext cx="6933895" cy="274320"/>
          </a:xfrm>
          <a:prstGeom prst="rect">
            <a:avLst/>
          </a:prstGeom>
          <a:noFill/>
          <a:ln/>
        </p:spPr>
        <p:txBody>
          <a:bodyPr wrap="square" lIns="0" tIns="0" rIns="0" bIns="0" rtlCol="0" anchor="t"/>
          <a:lstStyle/>
          <a:p>
            <a:pPr algn="ctr" indent="0" marL="0">
              <a:buNone/>
            </a:pPr>
            <a:r>
              <a:rPr lang="ru-RU" altLang="en-US" sz="1100" dirty="0">
                <a:solidFill>
                  <a:schemeClr val="tx1"/>
                </a:solidFill>
              </a:rPr>
              <a:t>Рисунок 4 – Оценка годовой дозы при предельном налёте (расчёт авторов по данным [3])</a:t>
            </a:r>
            <a:endParaRPr lang="ru-RU" sz="1100" dirty="0"/>
          </a:p>
        </p:txBody>
      </p:sp>
      <p:sp>
        <p:nvSpPr>
          <p:cNvPr id="15" name="Плашка"/>
          <p:cNvSpPr/>
          <p:nvPr/>
        </p:nvSpPr>
        <p:spPr>
          <a:xfrm>
            <a:off x="4800600" y="4937760"/>
            <a:ext cx="6933895" cy="960120"/>
          </a:xfrm>
          <a:prstGeom prst="rect">
            <a:avLst/>
          </a:prstGeom>
          <a:solidFill>
            <a:schemeClr val="bg2"/>
          </a:solidFill>
          <a:ln w="9525">
            <a:solidFill>
              <a:schemeClr val="tx1"/>
            </a:solidFill>
            <a:prstDash val="solid"/>
          </a:ln>
        </p:spPr>
      </p:sp>
      <p:sp>
        <p:nvSpPr>
          <p:cNvPr id="16" name="Text 13"/>
          <p:cNvSpPr txBox="1"/>
          <p:nvPr/>
        </p:nvSpPr>
        <p:spPr>
          <a:xfrm>
            <a:off x="4983480" y="5010912"/>
            <a:ext cx="6568135" cy="813816"/>
          </a:xfrm>
          <a:prstGeom prst="rect">
            <a:avLst/>
          </a:prstGeom>
          <a:noFill/>
          <a:ln/>
        </p:spPr>
        <p:txBody>
          <a:bodyPr wrap="square" lIns="0" tIns="0" rIns="0" bIns="0" rtlCol="0" anchor="ctr"/>
          <a:lstStyle/>
          <a:p>
            <a:pPr indent="0" marL="0">
              <a:buNone/>
            </a:pPr>
            <a:r>
              <a:rPr lang="ru-RU" altLang="en-US" sz="1500" b="1" dirty="0">
                <a:solidFill>
                  <a:schemeClr val="tx1"/>
                </a:solidFill>
              </a:rPr>
              <a:t>900 ч × 0,004 мЗв/ч ≈ 3,6 мЗв – </a:t>
            </a:r>
            <a:pPr indent="0" marL="0">
              <a:buNone/>
            </a:pPr>
            <a:r>
              <a:rPr lang="ru-RU" altLang="en-US" sz="1500" dirty="0">
                <a:solidFill>
                  <a:schemeClr val="tx1"/>
                </a:solidFill>
              </a:rPr>
              <a:t>более 70 % предела (в [3] – 3,62 мЗв за 10 месяцев). На высокоширотных маршрутах и при солнечных вспышках мощность дозы выше.</a:t>
            </a:r>
            <a:endParaRPr lang="ru-RU" sz="15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10</a:t>
            </a:fld>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Международный опыт</a:t>
            </a:r>
            <a:endParaRPr lang="ru-RU" sz="2400" dirty="0"/>
          </a:p>
        </p:txBody>
      </p:sp>
      <p:sp>
        <p:nvSpPr>
          <p:cNvPr id="3" name="МКРЗ"/>
          <p:cNvSpPr/>
          <p:nvPr/>
        </p:nvSpPr>
        <p:spPr>
          <a:xfrm>
            <a:off x="457200" y="1325880"/>
            <a:ext cx="3931920" cy="1554480"/>
          </a:xfrm>
          <a:prstGeom prst="rect">
            <a:avLst/>
          </a:prstGeom>
          <a:solidFill>
            <a:schemeClr val="bg1"/>
          </a:solidFill>
          <a:ln w="9525">
            <a:solidFill>
              <a:schemeClr val="tx1"/>
            </a:solidFill>
            <a:prstDash val="solid"/>
          </a:ln>
        </p:spPr>
      </p:sp>
      <p:sp>
        <p:nvSpPr>
          <p:cNvPr id="4" name="Text 2"/>
          <p:cNvSpPr txBox="1"/>
          <p:nvPr/>
        </p:nvSpPr>
        <p:spPr>
          <a:xfrm>
            <a:off x="457200" y="1417320"/>
            <a:ext cx="3931920" cy="566928"/>
          </a:xfrm>
          <a:prstGeom prst="rect">
            <a:avLst/>
          </a:prstGeom>
          <a:noFill/>
          <a:ln/>
        </p:spPr>
        <p:txBody>
          <a:bodyPr wrap="square" lIns="0" tIns="0" rIns="0" bIns="0" rtlCol="0" anchor="ctr"/>
          <a:lstStyle/>
          <a:p>
            <a:pPr algn="ctr" indent="0" marL="0">
              <a:buNone/>
            </a:pPr>
            <a:r>
              <a:rPr lang="ru-RU" altLang="en-US" sz="3000" b="1" dirty="0">
                <a:solidFill>
                  <a:schemeClr val="tx1"/>
                </a:solidFill>
              </a:rPr>
              <a:t>5–10 мЗв в год</a:t>
            </a:r>
            <a:endParaRPr lang="ru-RU" sz="3000" dirty="0"/>
          </a:p>
        </p:txBody>
      </p:sp>
      <p:sp>
        <p:nvSpPr>
          <p:cNvPr id="5" name="Text 3"/>
          <p:cNvSpPr txBox="1"/>
          <p:nvPr/>
        </p:nvSpPr>
        <p:spPr>
          <a:xfrm>
            <a:off x="594360" y="2020824"/>
            <a:ext cx="3657600" cy="786384"/>
          </a:xfrm>
          <a:prstGeom prst="rect">
            <a:avLst/>
          </a:prstGeom>
          <a:noFill/>
          <a:ln/>
        </p:spPr>
        <p:txBody>
          <a:bodyPr wrap="square" lIns="0" tIns="0" rIns="0" bIns="0" rtlCol="0" anchor="ctr"/>
          <a:lstStyle/>
          <a:p>
            <a:pPr algn="ctr" indent="0" marL="0">
              <a:buNone/>
            </a:pPr>
            <a:r>
              <a:rPr lang="ru-RU" altLang="en-US" sz="1400" dirty="0">
                <a:solidFill>
                  <a:schemeClr val="tx1"/>
                </a:solidFill>
              </a:rPr>
              <a:t>типичный диапазон референтного уровня для экипажей, рекомендуемый МКРЗ [2]</a:t>
            </a:r>
            <a:endParaRPr lang="ru-RU" sz="1400" dirty="0"/>
          </a:p>
        </p:txBody>
      </p:sp>
      <p:sp>
        <p:nvSpPr>
          <p:cNvPr id="6" name="Евратом"/>
          <p:cNvSpPr/>
          <p:nvPr/>
        </p:nvSpPr>
        <p:spPr>
          <a:xfrm>
            <a:off x="4754880" y="1325880"/>
            <a:ext cx="6979615" cy="2926080"/>
          </a:xfrm>
          <a:prstGeom prst="rect">
            <a:avLst/>
          </a:prstGeom>
          <a:solidFill>
            <a:schemeClr val="bg1"/>
          </a:solidFill>
          <a:ln w="9525">
            <a:solidFill>
              <a:schemeClr val="tx1"/>
            </a:solidFill>
            <a:prstDash val="solid"/>
          </a:ln>
        </p:spPr>
      </p:sp>
      <p:sp>
        <p:nvSpPr>
          <p:cNvPr id="7" name="Text 5"/>
          <p:cNvSpPr txBox="1"/>
          <p:nvPr/>
        </p:nvSpPr>
        <p:spPr>
          <a:xfrm>
            <a:off x="4983480" y="1444752"/>
            <a:ext cx="6522415" cy="384048"/>
          </a:xfrm>
          <a:prstGeom prst="rect">
            <a:avLst/>
          </a:prstGeom>
          <a:noFill/>
          <a:ln/>
        </p:spPr>
        <p:txBody>
          <a:bodyPr wrap="square" lIns="0" tIns="0" rIns="0" bIns="0" rtlCol="0" anchor="t"/>
          <a:lstStyle/>
          <a:p>
            <a:pPr indent="0" marL="0">
              <a:buNone/>
            </a:pPr>
            <a:r>
              <a:rPr lang="ru-RU" altLang="en-US" sz="1800" b="1" dirty="0">
                <a:solidFill>
                  <a:schemeClr val="tx1"/>
                </a:solidFill>
              </a:rPr>
              <a:t>Директива 2013/59/Евратом, ст. 35, п. 3 [13]</a:t>
            </a:r>
            <a:endParaRPr lang="ru-RU" sz="1800" dirty="0"/>
          </a:p>
        </p:txBody>
      </p:sp>
      <p:sp>
        <p:nvSpPr>
          <p:cNvPr id="8" name="Text 6"/>
          <p:cNvSpPr txBox="1"/>
          <p:nvPr/>
        </p:nvSpPr>
        <p:spPr>
          <a:xfrm>
            <a:off x="4983480" y="1856232"/>
            <a:ext cx="6522415" cy="548640"/>
          </a:xfrm>
          <a:prstGeom prst="rect">
            <a:avLst/>
          </a:prstGeom>
          <a:noFill/>
          <a:ln/>
        </p:spPr>
        <p:txBody>
          <a:bodyPr wrap="square" lIns="0" tIns="0" rIns="0" bIns="0" rtlCol="0" anchor="t"/>
          <a:lstStyle/>
          <a:p>
            <a:pPr indent="0" marL="0">
              <a:buNone/>
            </a:pPr>
            <a:r>
              <a:rPr lang="ru-RU" altLang="en-US" sz="1600" dirty="0">
                <a:solidFill>
                  <a:schemeClr val="tx1"/>
                </a:solidFill>
              </a:rPr>
              <a:t>Государства – члены ЕС обязаны обеспечить, чтобы при вероятной дозе более 1 мЗв в год эксплуатант:</a:t>
            </a:r>
            <a:endParaRPr lang="ru-RU" sz="1600" dirty="0"/>
          </a:p>
        </p:txBody>
      </p:sp>
      <p:sp>
        <p:nvSpPr>
          <p:cNvPr id="9" name="Text 7"/>
          <p:cNvSpPr txBox="1"/>
          <p:nvPr/>
        </p:nvSpPr>
        <p:spPr>
          <a:xfrm>
            <a:off x="4983480" y="2487168"/>
            <a:ext cx="548640" cy="512064"/>
          </a:xfrm>
          <a:prstGeom prst="rect">
            <a:avLst/>
          </a:prstGeom>
          <a:noFill/>
          <a:ln/>
        </p:spPr>
        <p:txBody>
          <a:bodyPr wrap="square" lIns="0" tIns="0" rIns="0" bIns="0" rtlCol="0" anchor="ctr"/>
          <a:lstStyle/>
          <a:p>
            <a:pPr algn="ctr" indent="0" marL="0">
              <a:buNone/>
            </a:pPr>
            <a:r>
              <a:rPr lang="ru-RU" altLang="en-US" sz="3000" b="1" dirty="0">
                <a:solidFill>
                  <a:schemeClr val="tx1"/>
                </a:solidFill>
              </a:rPr>
              <a:t>1</a:t>
            </a:r>
            <a:endParaRPr lang="ru-RU" sz="3000" dirty="0"/>
          </a:p>
        </p:txBody>
      </p:sp>
      <p:sp>
        <p:nvSpPr>
          <p:cNvPr id="10" name="Shape 8"/>
          <p:cNvSpPr/>
          <p:nvPr/>
        </p:nvSpPr>
        <p:spPr>
          <a:xfrm>
            <a:off x="5669280" y="2560320"/>
            <a:ext cx="0" cy="365760"/>
          </a:xfrm>
          <a:prstGeom prst="line">
            <a:avLst/>
          </a:prstGeom>
          <a:noFill/>
          <a:ln w="9525">
            <a:solidFill>
              <a:schemeClr val="tx1"/>
            </a:solidFill>
            <a:prstDash val="solid"/>
          </a:ln>
        </p:spPr>
      </p:sp>
      <p:sp>
        <p:nvSpPr>
          <p:cNvPr id="11" name="Text 9"/>
          <p:cNvSpPr txBox="1"/>
          <p:nvPr/>
        </p:nvSpPr>
        <p:spPr>
          <a:xfrm>
            <a:off x="5852160" y="2487168"/>
            <a:ext cx="5653735" cy="512064"/>
          </a:xfrm>
          <a:prstGeom prst="rect">
            <a:avLst/>
          </a:prstGeom>
          <a:noFill/>
          <a:ln/>
        </p:spPr>
        <p:txBody>
          <a:bodyPr wrap="square" lIns="0" tIns="0" rIns="0" bIns="0" rtlCol="0" anchor="ctr"/>
          <a:lstStyle/>
          <a:p>
            <a:pPr indent="0" marL="0">
              <a:buNone/>
            </a:pPr>
            <a:r>
              <a:rPr lang="ru-RU" altLang="en-US" sz="1600" dirty="0">
                <a:solidFill>
                  <a:schemeClr val="tx1"/>
                </a:solidFill>
              </a:rPr>
              <a:t>оценивал облучение экипажа;</a:t>
            </a:r>
            <a:endParaRPr lang="ru-RU" sz="1600" dirty="0"/>
          </a:p>
        </p:txBody>
      </p:sp>
      <p:sp>
        <p:nvSpPr>
          <p:cNvPr id="12" name="Text 10"/>
          <p:cNvSpPr txBox="1"/>
          <p:nvPr/>
        </p:nvSpPr>
        <p:spPr>
          <a:xfrm>
            <a:off x="4983480" y="3054096"/>
            <a:ext cx="548640" cy="512064"/>
          </a:xfrm>
          <a:prstGeom prst="rect">
            <a:avLst/>
          </a:prstGeom>
          <a:noFill/>
          <a:ln/>
        </p:spPr>
        <p:txBody>
          <a:bodyPr wrap="square" lIns="0" tIns="0" rIns="0" bIns="0" rtlCol="0" anchor="ctr"/>
          <a:lstStyle/>
          <a:p>
            <a:pPr algn="ctr" indent="0" marL="0">
              <a:buNone/>
            </a:pPr>
            <a:r>
              <a:rPr lang="ru-RU" altLang="en-US" sz="3000" b="1" dirty="0">
                <a:solidFill>
                  <a:schemeClr val="tx1"/>
                </a:solidFill>
              </a:rPr>
              <a:t>2</a:t>
            </a:r>
            <a:endParaRPr lang="ru-RU" sz="3000" dirty="0"/>
          </a:p>
        </p:txBody>
      </p:sp>
      <p:sp>
        <p:nvSpPr>
          <p:cNvPr id="13" name="Shape 11"/>
          <p:cNvSpPr/>
          <p:nvPr/>
        </p:nvSpPr>
        <p:spPr>
          <a:xfrm>
            <a:off x="5669280" y="3127248"/>
            <a:ext cx="0" cy="365760"/>
          </a:xfrm>
          <a:prstGeom prst="line">
            <a:avLst/>
          </a:prstGeom>
          <a:noFill/>
          <a:ln w="9525">
            <a:solidFill>
              <a:schemeClr val="tx1"/>
            </a:solidFill>
            <a:prstDash val="solid"/>
          </a:ln>
        </p:spPr>
      </p:sp>
      <p:sp>
        <p:nvSpPr>
          <p:cNvPr id="14" name="Text 12"/>
          <p:cNvSpPr txBox="1"/>
          <p:nvPr/>
        </p:nvSpPr>
        <p:spPr>
          <a:xfrm>
            <a:off x="5852160" y="3054096"/>
            <a:ext cx="5653735" cy="512064"/>
          </a:xfrm>
          <a:prstGeom prst="rect">
            <a:avLst/>
          </a:prstGeom>
          <a:noFill/>
          <a:ln/>
        </p:spPr>
        <p:txBody>
          <a:bodyPr wrap="square" lIns="0" tIns="0" rIns="0" bIns="0" rtlCol="0" anchor="ctr"/>
          <a:lstStyle/>
          <a:p>
            <a:pPr indent="0" marL="0">
              <a:buNone/>
            </a:pPr>
            <a:r>
              <a:rPr lang="ru-RU" altLang="en-US" sz="1600" dirty="0">
                <a:solidFill>
                  <a:schemeClr val="tx1"/>
                </a:solidFill>
              </a:rPr>
              <a:t>учитывал его при составлении графиков работы;</a:t>
            </a:r>
            <a:endParaRPr lang="ru-RU" sz="1600" dirty="0"/>
          </a:p>
        </p:txBody>
      </p:sp>
      <p:sp>
        <p:nvSpPr>
          <p:cNvPr id="15" name="Text 13"/>
          <p:cNvSpPr txBox="1"/>
          <p:nvPr/>
        </p:nvSpPr>
        <p:spPr>
          <a:xfrm>
            <a:off x="4983480" y="3621024"/>
            <a:ext cx="548640" cy="512064"/>
          </a:xfrm>
          <a:prstGeom prst="rect">
            <a:avLst/>
          </a:prstGeom>
          <a:noFill/>
          <a:ln/>
        </p:spPr>
        <p:txBody>
          <a:bodyPr wrap="square" lIns="0" tIns="0" rIns="0" bIns="0" rtlCol="0" anchor="ctr"/>
          <a:lstStyle/>
          <a:p>
            <a:pPr algn="ctr" indent="0" marL="0">
              <a:buNone/>
            </a:pPr>
            <a:r>
              <a:rPr lang="ru-RU" altLang="en-US" sz="3000" b="1" dirty="0">
                <a:solidFill>
                  <a:schemeClr val="tx1"/>
                </a:solidFill>
              </a:rPr>
              <a:t>3</a:t>
            </a:r>
            <a:endParaRPr lang="ru-RU" sz="3000" dirty="0"/>
          </a:p>
        </p:txBody>
      </p:sp>
      <p:sp>
        <p:nvSpPr>
          <p:cNvPr id="16" name="Shape 14"/>
          <p:cNvSpPr/>
          <p:nvPr/>
        </p:nvSpPr>
        <p:spPr>
          <a:xfrm>
            <a:off x="5669280" y="3694176"/>
            <a:ext cx="0" cy="365760"/>
          </a:xfrm>
          <a:prstGeom prst="line">
            <a:avLst/>
          </a:prstGeom>
          <a:noFill/>
          <a:ln w="9525">
            <a:solidFill>
              <a:schemeClr val="tx1"/>
            </a:solidFill>
            <a:prstDash val="solid"/>
          </a:ln>
        </p:spPr>
      </p:sp>
      <p:sp>
        <p:nvSpPr>
          <p:cNvPr id="17" name="Text 15"/>
          <p:cNvSpPr txBox="1"/>
          <p:nvPr/>
        </p:nvSpPr>
        <p:spPr>
          <a:xfrm>
            <a:off x="5852160" y="3621024"/>
            <a:ext cx="5653735" cy="512064"/>
          </a:xfrm>
          <a:prstGeom prst="rect">
            <a:avLst/>
          </a:prstGeom>
          <a:noFill/>
          <a:ln/>
        </p:spPr>
        <p:txBody>
          <a:bodyPr wrap="square" lIns="0" tIns="0" rIns="0" bIns="0" rtlCol="0" anchor="ctr"/>
          <a:lstStyle/>
          <a:p>
            <a:pPr indent="0" marL="0">
              <a:buNone/>
            </a:pPr>
            <a:r>
              <a:rPr lang="ru-RU" altLang="en-US" sz="1600" dirty="0">
                <a:solidFill>
                  <a:schemeClr val="tx1"/>
                </a:solidFill>
              </a:rPr>
              <a:t>информировал работников о рисках и индивидуальных дозах.</a:t>
            </a:r>
            <a:endParaRPr lang="ru-RU" sz="1600" dirty="0"/>
          </a:p>
        </p:txBody>
      </p:sp>
      <p:sp>
        <p:nvSpPr>
          <p:cNvPr id="18" name="Порог"/>
          <p:cNvSpPr/>
          <p:nvPr/>
        </p:nvSpPr>
        <p:spPr>
          <a:xfrm>
            <a:off x="457200" y="3154680"/>
            <a:ext cx="3931920" cy="1097280"/>
          </a:xfrm>
          <a:prstGeom prst="rect">
            <a:avLst/>
          </a:prstGeom>
          <a:solidFill>
            <a:schemeClr val="bg1"/>
          </a:solidFill>
          <a:ln w="9525">
            <a:solidFill>
              <a:schemeClr val="tx1"/>
            </a:solidFill>
            <a:prstDash val="solid"/>
          </a:ln>
        </p:spPr>
      </p:sp>
      <p:sp>
        <p:nvSpPr>
          <p:cNvPr id="19" name="Text 17"/>
          <p:cNvSpPr txBox="1"/>
          <p:nvPr/>
        </p:nvSpPr>
        <p:spPr>
          <a:xfrm>
            <a:off x="457200" y="3246120"/>
            <a:ext cx="3931920" cy="566928"/>
          </a:xfrm>
          <a:prstGeom prst="rect">
            <a:avLst/>
          </a:prstGeom>
          <a:noFill/>
          <a:ln/>
        </p:spPr>
        <p:txBody>
          <a:bodyPr wrap="square" lIns="0" tIns="0" rIns="0" bIns="0" rtlCol="0" anchor="ctr"/>
          <a:lstStyle/>
          <a:p>
            <a:pPr algn="ctr" indent="0" marL="0">
              <a:buNone/>
            </a:pPr>
            <a:r>
              <a:rPr lang="ru-RU" altLang="en-US" sz="2600" b="1" dirty="0">
                <a:solidFill>
                  <a:schemeClr val="tx1"/>
                </a:solidFill>
              </a:rPr>
              <a:t>&gt; 1 мЗв в год</a:t>
            </a:r>
            <a:endParaRPr lang="ru-RU" sz="2600" dirty="0"/>
          </a:p>
        </p:txBody>
      </p:sp>
      <p:sp>
        <p:nvSpPr>
          <p:cNvPr id="20" name="Text 18"/>
          <p:cNvSpPr txBox="1"/>
          <p:nvPr/>
        </p:nvSpPr>
        <p:spPr>
          <a:xfrm>
            <a:off x="594360" y="3849624"/>
            <a:ext cx="3657600" cy="329184"/>
          </a:xfrm>
          <a:prstGeom prst="rect">
            <a:avLst/>
          </a:prstGeom>
          <a:noFill/>
          <a:ln/>
        </p:spPr>
        <p:txBody>
          <a:bodyPr wrap="square" lIns="0" tIns="0" rIns="0" bIns="0" rtlCol="0" anchor="ctr"/>
          <a:lstStyle/>
          <a:p>
            <a:pPr algn="ctr" indent="0" marL="0">
              <a:buNone/>
            </a:pPr>
            <a:r>
              <a:rPr lang="ru-RU" altLang="en-US" sz="1400" dirty="0">
                <a:solidFill>
                  <a:schemeClr val="tx1"/>
                </a:solidFill>
              </a:rPr>
              <a:t>порог обязательных мер по Директиве [13]</a:t>
            </a:r>
            <a:endParaRPr lang="ru-RU" sz="1400" dirty="0"/>
          </a:p>
        </p:txBody>
      </p:sp>
      <p:sp>
        <p:nvSpPr>
          <p:cNvPr id="21" name="Плашка"/>
          <p:cNvSpPr/>
          <p:nvPr/>
        </p:nvSpPr>
        <p:spPr>
          <a:xfrm>
            <a:off x="457200" y="4526280"/>
            <a:ext cx="11277295" cy="1325880"/>
          </a:xfrm>
          <a:prstGeom prst="rect">
            <a:avLst/>
          </a:prstGeom>
          <a:solidFill>
            <a:schemeClr val="bg2"/>
          </a:solidFill>
          <a:ln w="9525">
            <a:solidFill>
              <a:schemeClr val="tx1"/>
            </a:solidFill>
            <a:prstDash val="solid"/>
          </a:ln>
        </p:spPr>
      </p:sp>
      <p:sp>
        <p:nvSpPr>
          <p:cNvPr id="22" name="Text 20"/>
          <p:cNvSpPr txBox="1"/>
          <p:nvPr/>
        </p:nvSpPr>
        <p:spPr>
          <a:xfrm>
            <a:off x="640080" y="4599432"/>
            <a:ext cx="10911535" cy="1179576"/>
          </a:xfrm>
          <a:prstGeom prst="rect">
            <a:avLst/>
          </a:prstGeom>
          <a:noFill/>
          <a:ln/>
        </p:spPr>
        <p:txBody>
          <a:bodyPr wrap="square" lIns="0" tIns="0" rIns="0" bIns="0" rtlCol="0" anchor="ctr"/>
          <a:lstStyle/>
          <a:p>
            <a:pPr indent="0" marL="0">
              <a:buNone/>
            </a:pPr>
            <a:r>
              <a:rPr lang="ru-RU" altLang="en-US" sz="1600" b="1" dirty="0">
                <a:solidFill>
                  <a:schemeClr val="tx1"/>
                </a:solidFill>
              </a:rPr>
              <a:t>Российская Федерация. </a:t>
            </a:r>
            <a:pPr indent="0" marL="0">
              <a:buNone/>
            </a:pPr>
            <a:r>
              <a:rPr lang="ru-RU" altLang="en-US" sz="1600" dirty="0">
                <a:solidFill>
                  <a:schemeClr val="tx1"/>
                </a:solidFill>
              </a:rPr>
              <a:t>Предел дозы установлен и действует, но специальный порядок расчёта индивидуальной дозы каждого члена экипажа по всем рейсам в рассмотренных актах не закреплён, тогда как в праве ЕС он уже действует [13].</a:t>
            </a:r>
            <a:endParaRPr lang="ru-RU" sz="16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11</a:t>
            </a:fld>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Выводы</a:t>
            </a:r>
            <a:endParaRPr lang="ru-RU" sz="2400" dirty="0"/>
          </a:p>
        </p:txBody>
      </p:sp>
      <p:sp>
        <p:nvSpPr>
          <p:cNvPr id="3" name="Text 1"/>
          <p:cNvSpPr txBox="1"/>
          <p:nvPr/>
        </p:nvSpPr>
        <p:spPr>
          <a:xfrm>
            <a:off x="457200" y="1325880"/>
            <a:ext cx="548640" cy="1371600"/>
          </a:xfrm>
          <a:prstGeom prst="rect">
            <a:avLst/>
          </a:prstGeom>
          <a:noFill/>
          <a:ln/>
        </p:spPr>
        <p:txBody>
          <a:bodyPr wrap="square" lIns="0" tIns="0" rIns="0" bIns="0" rtlCol="0" anchor="ctr"/>
          <a:lstStyle/>
          <a:p>
            <a:pPr algn="ctr" indent="0" marL="0">
              <a:buNone/>
            </a:pPr>
            <a:r>
              <a:rPr lang="ru-RU" altLang="en-US" sz="3000" b="1" dirty="0">
                <a:solidFill>
                  <a:schemeClr val="tx1"/>
                </a:solidFill>
              </a:rPr>
              <a:t>1</a:t>
            </a:r>
            <a:endParaRPr lang="ru-RU" sz="3000" dirty="0"/>
          </a:p>
        </p:txBody>
      </p:sp>
      <p:sp>
        <p:nvSpPr>
          <p:cNvPr id="4" name="Shape 2"/>
          <p:cNvSpPr/>
          <p:nvPr/>
        </p:nvSpPr>
        <p:spPr>
          <a:xfrm>
            <a:off x="1143000" y="1399032"/>
            <a:ext cx="0" cy="1225296"/>
          </a:xfrm>
          <a:prstGeom prst="line">
            <a:avLst/>
          </a:prstGeom>
          <a:noFill/>
          <a:ln w="9525">
            <a:solidFill>
              <a:schemeClr val="tx1"/>
            </a:solidFill>
            <a:prstDash val="solid"/>
          </a:ln>
        </p:spPr>
      </p:sp>
      <p:sp>
        <p:nvSpPr>
          <p:cNvPr id="5" name="Text 3"/>
          <p:cNvSpPr txBox="1"/>
          <p:nvPr/>
        </p:nvSpPr>
        <p:spPr>
          <a:xfrm>
            <a:off x="1325880" y="1325880"/>
            <a:ext cx="10408615" cy="1371600"/>
          </a:xfrm>
          <a:prstGeom prst="rect">
            <a:avLst/>
          </a:prstGeom>
          <a:noFill/>
          <a:ln/>
        </p:spPr>
        <p:txBody>
          <a:bodyPr wrap="square" lIns="0" tIns="0" rIns="0" bIns="0" rtlCol="0" anchor="ctr"/>
          <a:lstStyle/>
          <a:p>
            <a:pPr indent="0" marL="0">
              <a:buNone/>
            </a:pPr>
            <a:r>
              <a:rPr lang="ru-RU" altLang="en-US" sz="1800" dirty="0">
                <a:solidFill>
                  <a:schemeClr val="tx1"/>
                </a:solidFill>
              </a:rPr>
              <a:t>Облучение экипажей в Российской Федерации нормируется: предел 5 мЗв в год по пп. 4.1 и 4.3 НРБ‑99/2009 сохранился после отмены специальных санитарных правил.</a:t>
            </a:r>
            <a:endParaRPr lang="ru-RU" sz="1800" dirty="0"/>
          </a:p>
        </p:txBody>
      </p:sp>
      <p:sp>
        <p:nvSpPr>
          <p:cNvPr id="6" name="Text 4"/>
          <p:cNvSpPr txBox="1"/>
          <p:nvPr/>
        </p:nvSpPr>
        <p:spPr>
          <a:xfrm>
            <a:off x="457200" y="2880360"/>
            <a:ext cx="548640" cy="1371600"/>
          </a:xfrm>
          <a:prstGeom prst="rect">
            <a:avLst/>
          </a:prstGeom>
          <a:noFill/>
          <a:ln/>
        </p:spPr>
        <p:txBody>
          <a:bodyPr wrap="square" lIns="0" tIns="0" rIns="0" bIns="0" rtlCol="0" anchor="ctr"/>
          <a:lstStyle/>
          <a:p>
            <a:pPr algn="ctr" indent="0" marL="0">
              <a:buNone/>
            </a:pPr>
            <a:r>
              <a:rPr lang="ru-RU" altLang="en-US" sz="3000" b="1" dirty="0">
                <a:solidFill>
                  <a:schemeClr val="tx1"/>
                </a:solidFill>
              </a:rPr>
              <a:t>2</a:t>
            </a:r>
            <a:endParaRPr lang="ru-RU" sz="3000" dirty="0"/>
          </a:p>
        </p:txBody>
      </p:sp>
      <p:sp>
        <p:nvSpPr>
          <p:cNvPr id="7" name="Shape 5"/>
          <p:cNvSpPr/>
          <p:nvPr/>
        </p:nvSpPr>
        <p:spPr>
          <a:xfrm>
            <a:off x="1143000" y="2953512"/>
            <a:ext cx="0" cy="1225296"/>
          </a:xfrm>
          <a:prstGeom prst="line">
            <a:avLst/>
          </a:prstGeom>
          <a:noFill/>
          <a:ln w="9525">
            <a:solidFill>
              <a:schemeClr val="tx1"/>
            </a:solidFill>
            <a:prstDash val="solid"/>
          </a:ln>
        </p:spPr>
      </p:sp>
      <p:sp>
        <p:nvSpPr>
          <p:cNvPr id="8" name="Text 6"/>
          <p:cNvSpPr txBox="1"/>
          <p:nvPr/>
        </p:nvSpPr>
        <p:spPr>
          <a:xfrm>
            <a:off x="1325880" y="2880360"/>
            <a:ext cx="10408615" cy="1371600"/>
          </a:xfrm>
          <a:prstGeom prst="rect">
            <a:avLst/>
          </a:prstGeom>
          <a:noFill/>
          <a:ln/>
        </p:spPr>
        <p:txBody>
          <a:bodyPr wrap="square" lIns="0" tIns="0" rIns="0" bIns="0" rtlCol="0" anchor="ctr"/>
          <a:lstStyle/>
          <a:p>
            <a:pPr indent="0" marL="0">
              <a:buNone/>
            </a:pPr>
            <a:r>
              <a:rPr lang="ru-RU" altLang="en-US" sz="1800" dirty="0">
                <a:solidFill>
                  <a:schemeClr val="tx1"/>
                </a:solidFill>
              </a:rPr>
              <a:t>Специальная оценка условий труда и ограничение налёта не заменяют индивидуального учёта дозы: по нашей оценке, при налёте 900 часов доза может превышать 70 % предела.</a:t>
            </a:r>
            <a:endParaRPr lang="ru-RU" sz="1800" dirty="0"/>
          </a:p>
        </p:txBody>
      </p:sp>
      <p:sp>
        <p:nvSpPr>
          <p:cNvPr id="9" name="Text 7"/>
          <p:cNvSpPr txBox="1"/>
          <p:nvPr/>
        </p:nvSpPr>
        <p:spPr>
          <a:xfrm>
            <a:off x="457200" y="4434840"/>
            <a:ext cx="548640" cy="1371600"/>
          </a:xfrm>
          <a:prstGeom prst="rect">
            <a:avLst/>
          </a:prstGeom>
          <a:noFill/>
          <a:ln/>
        </p:spPr>
        <p:txBody>
          <a:bodyPr wrap="square" lIns="0" tIns="0" rIns="0" bIns="0" rtlCol="0" anchor="ctr"/>
          <a:lstStyle/>
          <a:p>
            <a:pPr algn="ctr" indent="0" marL="0">
              <a:buNone/>
            </a:pPr>
            <a:r>
              <a:rPr lang="ru-RU" altLang="en-US" sz="3000" b="1" dirty="0">
                <a:solidFill>
                  <a:schemeClr val="tx1"/>
                </a:solidFill>
              </a:rPr>
              <a:t>3</a:t>
            </a:r>
            <a:endParaRPr lang="ru-RU" sz="3000" dirty="0"/>
          </a:p>
        </p:txBody>
      </p:sp>
      <p:sp>
        <p:nvSpPr>
          <p:cNvPr id="10" name="Shape 8"/>
          <p:cNvSpPr/>
          <p:nvPr/>
        </p:nvSpPr>
        <p:spPr>
          <a:xfrm>
            <a:off x="1143000" y="4507992"/>
            <a:ext cx="0" cy="1225296"/>
          </a:xfrm>
          <a:prstGeom prst="line">
            <a:avLst/>
          </a:prstGeom>
          <a:noFill/>
          <a:ln w="9525">
            <a:solidFill>
              <a:schemeClr val="tx1"/>
            </a:solidFill>
            <a:prstDash val="solid"/>
          </a:ln>
        </p:spPr>
      </p:sp>
      <p:sp>
        <p:nvSpPr>
          <p:cNvPr id="11" name="Text 9"/>
          <p:cNvSpPr txBox="1"/>
          <p:nvPr/>
        </p:nvSpPr>
        <p:spPr>
          <a:xfrm>
            <a:off x="1325880" y="4434840"/>
            <a:ext cx="10408615" cy="1371600"/>
          </a:xfrm>
          <a:prstGeom prst="rect">
            <a:avLst/>
          </a:prstGeom>
          <a:noFill/>
          <a:ln/>
        </p:spPr>
        <p:txBody>
          <a:bodyPr wrap="square" lIns="0" tIns="0" rIns="0" bIns="0" rtlCol="0" anchor="ctr"/>
          <a:lstStyle/>
          <a:p>
            <a:pPr indent="0" marL="0">
              <a:buNone/>
            </a:pPr>
            <a:r>
              <a:rPr lang="ru-RU" altLang="en-US" sz="1800" dirty="0">
                <a:solidFill>
                  <a:schemeClr val="tx1"/>
                </a:solidFill>
              </a:rPr>
              <a:t>Наиболее целесообразным мы считаем закрепление порядка расчёта индивидуальных доз по фактическим рейсам, информирования работников и учёта доз при составлении графиков, как это сделано в праве Европейского союза.</a:t>
            </a:r>
            <a:endParaRPr lang="ru-RU" sz="18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12</a:t>
            </a:fld>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4" type="title" hasCustomPrompt="1"/>
          </p:nvPr>
        </p:nvSpPr>
        <p:spPr>
          <a:xfrm>
            <a:off x="1207008" y="182880"/>
            <a:ext cx="10664647" cy="749808"/>
          </a:xfrm>
          <a:prstGeom prst="rect">
            <a:avLst/>
          </a:prstGeom>
          <a:noFill/>
          <a:ln/>
        </p:spPr>
        <p:txBody>
          <a:bodyPr wrap="square" lIns="0" tIns="0" rIns="0" bIns="0" rtlCol="0" anchor="ctr"/>
          <a:lstStyle/>
          <a:p>
            <a:pPr algn="l" indent="0" marL="0">
              <a:buNone/>
            </a:pPr>
            <a:r>
              <a:rPr lang="ru-RU" altLang="en-US" sz="2400" b="1" dirty="0">
                <a:solidFill>
                  <a:schemeClr val="tx1"/>
                </a:solidFill>
              </a:rPr>
              <a:t>Список использованных источников</a:t>
            </a:r>
            <a:endParaRPr lang="ru-RU" sz="2400" dirty="0"/>
          </a:p>
        </p:txBody>
      </p:sp>
      <p:sp>
        <p:nvSpPr>
          <p:cNvPr id="3" name="Источники"/>
          <p:cNvSpPr txBox="1"/>
          <p:nvPr/>
        </p:nvSpPr>
        <p:spPr>
          <a:xfrm>
            <a:off x="457200" y="1234440"/>
            <a:ext cx="11277295" cy="50749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ru-RU" altLang="en-US" sz="1300" dirty="0">
                <a:solidFill>
                  <a:schemeClr val="tx1"/>
                </a:solidFill>
              </a:rPr>
              <a:t>Громова Н. Ю., Шутов Н. Р. Исследование радиационного фона на борту воздушного судна в различных фазах полета и его влияние на радиационную безопасность летного состава : рукопись. – Ульяновск, 2026.</a:t>
            </a:r>
            <a:endParaRPr lang="ru-RU" sz="1300" dirty="0"/>
          </a:p>
          <a:p>
            <a:pPr marL="342900" indent="-342900">
              <a:spcAft>
                <a:spcPts val="400"/>
              </a:spcAft>
              <a:buSzPct val="100000"/>
              <a:buFont typeface="+mj-lt"/>
              <a:buAutoNum type="arabicPeriod" startAt="1"/>
            </a:pPr>
            <a:r>
              <a:rPr lang="ru-RU" altLang="en-US" sz="1300" dirty="0">
                <a:solidFill>
                  <a:schemeClr val="tx1"/>
                </a:solidFill>
              </a:rPr>
              <a:t>ICRP Publication 132. Radiological Protection from Cosmic Radiation in Aviation // Annals of the ICRP. – 2016. – Vol. 45, № 1.</a:t>
            </a:r>
            <a:endParaRPr lang="ru-RU" sz="1300" dirty="0"/>
          </a:p>
          <a:p>
            <a:pPr marL="342900" indent="-342900">
              <a:spcAft>
                <a:spcPts val="400"/>
              </a:spcAft>
              <a:buSzPct val="100000"/>
              <a:buFont typeface="+mj-lt"/>
              <a:buAutoNum type="arabicPeriod" startAt="1"/>
            </a:pPr>
            <a:r>
              <a:rPr lang="ru-RU" altLang="en-US" sz="1300" dirty="0">
                <a:solidFill>
                  <a:schemeClr val="tx1"/>
                </a:solidFill>
              </a:rPr>
              <a:t>Маткевич Е. И., Бурмистров В. И., Иванов И. В. Оценка доз облучения летного состава воздушных судов и обоснование мероприятий по их снижению // Медицинская радиология и радиационная безопасность. – 2025. – Т. 70, № 6. – С. 28–39.</a:t>
            </a:r>
            <a:endParaRPr lang="ru-RU" sz="1300" dirty="0"/>
          </a:p>
          <a:p>
            <a:pPr marL="342900" indent="-342900">
              <a:spcAft>
                <a:spcPts val="400"/>
              </a:spcAft>
              <a:buSzPct val="100000"/>
              <a:buFont typeface="+mj-lt"/>
              <a:buAutoNum type="arabicPeriod" startAt="1"/>
            </a:pPr>
            <a:r>
              <a:rPr lang="ru-RU" altLang="en-US" sz="1300" dirty="0">
                <a:solidFill>
                  <a:schemeClr val="tx1"/>
                </a:solidFill>
              </a:rPr>
              <a:t>О радиационной безопасности населения : Федеральный закон от 09.01.1996 № 3‑ФЗ.</a:t>
            </a:r>
            <a:endParaRPr lang="ru-RU" sz="1300" dirty="0"/>
          </a:p>
          <a:p>
            <a:pPr marL="342900" indent="-342900">
              <a:spcAft>
                <a:spcPts val="400"/>
              </a:spcAft>
              <a:buSzPct val="100000"/>
              <a:buFont typeface="+mj-lt"/>
              <a:buAutoNum type="arabicPeriod" startAt="1"/>
            </a:pPr>
            <a:r>
              <a:rPr lang="ru-RU" altLang="en-US" sz="1300" dirty="0">
                <a:solidFill>
                  <a:schemeClr val="tx1"/>
                </a:solidFill>
              </a:rPr>
              <a:t>О санитарно-эпидемиологическом благополучии населения : Федеральный закон от 30.03.1999 № 52‑ФЗ.</a:t>
            </a:r>
            <a:endParaRPr lang="ru-RU" sz="1300" dirty="0"/>
          </a:p>
          <a:p>
            <a:pPr marL="342900" indent="-342900">
              <a:spcAft>
                <a:spcPts val="400"/>
              </a:spcAft>
              <a:buSzPct val="100000"/>
              <a:buFont typeface="+mj-lt"/>
              <a:buAutoNum type="arabicPeriod" startAt="1"/>
            </a:pPr>
            <a:r>
              <a:rPr lang="ru-RU" altLang="en-US" sz="1300" dirty="0">
                <a:solidFill>
                  <a:schemeClr val="tx1"/>
                </a:solidFill>
              </a:rPr>
              <a:t>СанПиН 2.6.1.2523‑09. Нормы радиационной безопасности (НРБ‑99/2009) : утв. постановлением Главного государственного санитарного врача РФ от 07.07.2009 № 47.</a:t>
            </a:r>
            <a:endParaRPr lang="ru-RU" sz="1300" dirty="0"/>
          </a:p>
          <a:p>
            <a:pPr marL="342900" indent="-342900">
              <a:spcAft>
                <a:spcPts val="400"/>
              </a:spcAft>
              <a:buSzPct val="100000"/>
              <a:buFont typeface="+mj-lt"/>
              <a:buAutoNum type="arabicPeriod" startAt="1"/>
            </a:pPr>
            <a:r>
              <a:rPr lang="ru-RU" altLang="en-US" sz="1300" dirty="0">
                <a:solidFill>
                  <a:schemeClr val="tx1"/>
                </a:solidFill>
              </a:rPr>
              <a:t>Воздушный кодекс Российской Федерации от 19.03.1997 № 60‑ФЗ.</a:t>
            </a:r>
            <a:endParaRPr lang="ru-RU" sz="1300" dirty="0"/>
          </a:p>
          <a:p>
            <a:pPr marL="342900" indent="-342900">
              <a:spcAft>
                <a:spcPts val="400"/>
              </a:spcAft>
              <a:buSzPct val="100000"/>
              <a:buFont typeface="+mj-lt"/>
              <a:buAutoNum type="arabicPeriod" startAt="1"/>
            </a:pPr>
            <a:r>
              <a:rPr lang="ru-RU" altLang="en-US" sz="1300" dirty="0">
                <a:solidFill>
                  <a:schemeClr val="tx1"/>
                </a:solidFill>
              </a:rPr>
              <a:t>Постановление Правительства РФ от 08.10.2020 № 1631 (об утрате силы СанПиН 2.5.1.2423‑08 с 01.01.2021).</a:t>
            </a:r>
            <a:endParaRPr lang="ru-RU" sz="1300" dirty="0"/>
          </a:p>
          <a:p>
            <a:pPr marL="342900" indent="-342900">
              <a:spcAft>
                <a:spcPts val="400"/>
              </a:spcAft>
              <a:buSzPct val="100000"/>
              <a:buFont typeface="+mj-lt"/>
              <a:buAutoNum type="arabicPeriod" startAt="1"/>
            </a:pPr>
            <a:r>
              <a:rPr lang="ru-RU" altLang="en-US" sz="1300" dirty="0">
                <a:solidFill>
                  <a:schemeClr val="tx1"/>
                </a:solidFill>
              </a:rPr>
              <a:t>СанПиН 2.6.4115‑25 : утв. постановлением Главного государственного санитарного врача РФ от 27.03.2025 № 6 (об утрате силы СанПиН 2.6.1.2800‑10 с 01.09.2025).</a:t>
            </a:r>
            <a:endParaRPr lang="ru-RU" sz="1300" dirty="0"/>
          </a:p>
          <a:p>
            <a:pPr marL="342900" indent="-342900">
              <a:spcAft>
                <a:spcPts val="400"/>
              </a:spcAft>
              <a:buSzPct val="100000"/>
              <a:buFont typeface="+mj-lt"/>
              <a:buAutoNum type="arabicPeriod" startAt="1"/>
            </a:pPr>
            <a:r>
              <a:rPr lang="ru-RU" altLang="en-US" sz="1300" dirty="0">
                <a:solidFill>
                  <a:schemeClr val="tx1"/>
                </a:solidFill>
              </a:rPr>
              <a:t>Трудовой кодекс Российской Федерации от 30.12.2001 № 197‑ФЗ.</a:t>
            </a:r>
            <a:endParaRPr lang="ru-RU" sz="1300" dirty="0"/>
          </a:p>
          <a:p>
            <a:pPr marL="342900" indent="-342900">
              <a:spcAft>
                <a:spcPts val="400"/>
              </a:spcAft>
              <a:buSzPct val="100000"/>
              <a:buFont typeface="+mj-lt"/>
              <a:buAutoNum type="arabicPeriod" startAt="1"/>
            </a:pPr>
            <a:r>
              <a:rPr lang="ru-RU" altLang="en-US" sz="1300" dirty="0">
                <a:solidFill>
                  <a:schemeClr val="tx1"/>
                </a:solidFill>
              </a:rPr>
              <a:t>Об утверждении особенностей проведения специальной оценки условий труда на рабочих местах членов летных и кабинных экипажей воздушных судов гражданской авиации : приказ Минтруда России от 06.05.2024 № 255н.</a:t>
            </a:r>
            <a:endParaRPr lang="ru-RU" sz="1300" dirty="0"/>
          </a:p>
          <a:p>
            <a:pPr marL="342900" indent="-342900">
              <a:spcAft>
                <a:spcPts val="400"/>
              </a:spcAft>
              <a:buSzPct val="100000"/>
              <a:buFont typeface="+mj-lt"/>
              <a:buAutoNum type="arabicPeriod" startAt="1"/>
            </a:pPr>
            <a:r>
              <a:rPr lang="ru-RU" altLang="en-US" sz="1300" dirty="0">
                <a:solidFill>
                  <a:schemeClr val="tx1"/>
                </a:solidFill>
              </a:rPr>
              <a:t>Приказ Минтранса России от 10.11.2025 № 381 «Об установлении Особенностей режима рабочего времени и времени отдыха специалистов авиационного персонала гражданской авиации…». – Введ. 01.03.2026.</a:t>
            </a:r>
            <a:endParaRPr lang="ru-RU" sz="1300" dirty="0"/>
          </a:p>
          <a:p>
            <a:pPr marL="342900" indent="-342900">
              <a:spcAft>
                <a:spcPts val="400"/>
              </a:spcAft>
              <a:buSzPct val="100000"/>
              <a:buFont typeface="+mj-lt"/>
              <a:buAutoNum type="arabicPeriod" startAt="1"/>
            </a:pPr>
            <a:r>
              <a:rPr lang="ru-RU" altLang="en-US" sz="1300" dirty="0">
                <a:solidFill>
                  <a:schemeClr val="tx1"/>
                </a:solidFill>
              </a:rPr>
              <a:t>Council Directive 2013/59/Euratom of 5 December 2013 laying down basic safety standards for protection against the dangers arising from exposure to ionising radiation. – Ст. 35.</a:t>
            </a:r>
            <a:endParaRPr lang="ru-RU" sz="1300" dirty="0"/>
          </a:p>
        </p:txBody>
      </p:sp>
      <p:sp>
        <p:nvSpPr>
          <p:cNvPr id="25" name="Slide Number Placeholder 0"/>
          <p:cNvSpPr>
            <a:spLocks noGrp="1"/>
          </p:cNvSpPr>
          <p:nvPr>
            <p:ph type="sldNum" sz="quarter" idx="4294967295"/>
          </p:nvPr>
        </p:nvSpPr>
        <p:spPr>
          <a:xfrm>
            <a:off x="11140135" y="6455664"/>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1"/>
                </a:solidFill>
              </a:defRPr>
            </a:lvl1pPr>
          </a:lstStyle>
          <a:p>
            <a:pPr algn="r"/>
            <a:fld id="{F7021451-1387-4CA6-816F-3879F97B5CBC}" type="slidenum">
              <a:rPr b="0" lang="ru-RU"/>
              <a:t>13</a:t>
            </a:fld>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Шапка"/>
          <p:cNvSpPr txBox="1"/>
          <p:nvPr/>
        </p:nvSpPr>
        <p:spPr>
          <a:xfrm>
            <a:off x="1463040" y="274320"/>
            <a:ext cx="9262872" cy="1097280"/>
          </a:xfrm>
          <a:prstGeom prst="rect">
            <a:avLst/>
          </a:prstGeom>
          <a:noFill/>
          <a:ln/>
        </p:spPr>
        <p:txBody>
          <a:bodyPr wrap="square" lIns="0" tIns="0" rIns="0" bIns="0" rtlCol="0" anchor="t"/>
          <a:lstStyle/>
          <a:p>
            <a:pPr algn="ctr" indent="0" marL="0">
              <a:buNone/>
            </a:pPr>
            <a:r>
              <a:rPr lang="ru-RU" altLang="en-US" sz="1500" b="1" dirty="0">
                <a:solidFill>
                  <a:schemeClr val="tx1"/>
                </a:solidFill>
              </a:rPr>
              <a:t>МИНИСТЕРСТВО ТРАНСПОРТА РОССИЙСКОЙ ФЕДЕРАЦИИ</a:t>
            </a:r>
            <a:endParaRPr lang="ru-RU" sz="1500" dirty="0"/>
          </a:p>
          <a:p>
            <a:pPr algn="ctr" indent="0" marL="0">
              <a:buNone/>
            </a:pPr>
            <a:r>
              <a:rPr lang="ru-RU" altLang="en-US" sz="1500" b="1" dirty="0">
                <a:solidFill>
                  <a:schemeClr val="tx1"/>
                </a:solidFill>
              </a:rPr>
              <a:t>ФЕДЕРАЛЬНОЕ ГОСУДАРСТВЕННОЕ БЮДЖЕТНОЕ ОБРАЗОВАТЕЛЬНОЕ УЧРЕЖДЕНИЕ ВЫСШЕГО ОБРАЗОВАНИЯ</a:t>
            </a:r>
            <a:endParaRPr lang="ru-RU" sz="1500" dirty="0"/>
          </a:p>
          <a:p>
            <a:pPr algn="ctr" indent="0" marL="0">
              <a:buNone/>
            </a:pPr>
            <a:r>
              <a:rPr lang="ru-RU" altLang="en-US" sz="1500" b="1" dirty="0">
                <a:solidFill>
                  <a:schemeClr val="tx1"/>
                </a:solidFill>
              </a:rPr>
              <a:t>УЛЬЯНОВСКИЙ ИНСТИТУТ ГРАЖДАНСКОЙ АВИАЦИИ</a:t>
            </a:r>
            <a:endParaRPr lang="ru-RU" sz="1500" dirty="0"/>
          </a:p>
          <a:p>
            <a:pPr algn="ctr" indent="0" marL="0">
              <a:buNone/>
            </a:pPr>
            <a:r>
              <a:rPr lang="ru-RU" altLang="en-US" sz="1500" b="1" dirty="0">
                <a:solidFill>
                  <a:schemeClr val="tx1"/>
                </a:solidFill>
              </a:rPr>
              <a:t>ИМЕНИ ГЛАВНОГО МАРШАЛА АВИАЦИИ Б. П. БУГАЕВА</a:t>
            </a:r>
            <a:endParaRPr lang="ru-RU" sz="1500" dirty="0"/>
          </a:p>
        </p:txBody>
      </p:sp>
      <p:sp>
        <p:nvSpPr>
          <p:cNvPr id="3" name="Text 1"/>
          <p:cNvSpPr txBox="1"/>
          <p:nvPr/>
        </p:nvSpPr>
        <p:spPr>
          <a:xfrm>
            <a:off x="548640" y="1737360"/>
            <a:ext cx="11091672" cy="731520"/>
          </a:xfrm>
          <a:prstGeom prst="rect">
            <a:avLst/>
          </a:prstGeom>
          <a:noFill/>
          <a:ln/>
        </p:spPr>
        <p:txBody>
          <a:bodyPr wrap="square" lIns="0" tIns="0" rIns="0" bIns="0" rtlCol="0" anchor="ctr"/>
          <a:lstStyle/>
          <a:p>
            <a:pPr algn="ctr" indent="0" marL="0">
              <a:buNone/>
            </a:pPr>
            <a:r>
              <a:rPr lang="ru-RU" altLang="en-US" sz="3200" b="1" dirty="0">
                <a:solidFill>
                  <a:schemeClr val="tx1"/>
                </a:solidFill>
              </a:rPr>
              <a:t>Спасибо за внимание!</a:t>
            </a:r>
            <a:endParaRPr lang="ru-RU" sz="3200" dirty="0"/>
          </a:p>
        </p:txBody>
      </p:sp>
      <p:sp>
        <p:nvSpPr>
          <p:cNvPr id="4" name="Text 2"/>
          <p:cNvSpPr txBox="1"/>
          <p:nvPr/>
        </p:nvSpPr>
        <p:spPr>
          <a:xfrm>
            <a:off x="1280160" y="2560320"/>
            <a:ext cx="9628632" cy="914400"/>
          </a:xfrm>
          <a:prstGeom prst="rect">
            <a:avLst/>
          </a:prstGeom>
          <a:noFill/>
          <a:ln/>
        </p:spPr>
        <p:txBody>
          <a:bodyPr wrap="square" lIns="0" tIns="0" rIns="0" bIns="0" rtlCol="0" anchor="ctr"/>
          <a:lstStyle/>
          <a:p>
            <a:pPr algn="ctr" indent="0" marL="0">
              <a:buNone/>
            </a:pPr>
            <a:r>
              <a:rPr lang="ru-RU" altLang="en-US" sz="1800" i="1" dirty="0">
                <a:solidFill>
                  <a:schemeClr val="tx1"/>
                </a:solidFill>
              </a:rPr>
              <a:t>«Космическое облучение членов экипажей воздушных судов и их правовая защита в Российской Федерации»</a:t>
            </a:r>
            <a:endParaRPr lang="ru-RU" sz="1800" dirty="0"/>
          </a:p>
        </p:txBody>
      </p:sp>
      <p:sp>
        <p:nvSpPr>
          <p:cNvPr id="5" name="Text 3"/>
          <p:cNvSpPr txBox="1"/>
          <p:nvPr/>
        </p:nvSpPr>
        <p:spPr>
          <a:xfrm>
            <a:off x="5788152" y="4114800"/>
            <a:ext cx="5943600" cy="2057400"/>
          </a:xfrm>
          <a:prstGeom prst="rect">
            <a:avLst/>
          </a:prstGeom>
          <a:noFill/>
          <a:ln/>
        </p:spPr>
        <p:txBody>
          <a:bodyPr wrap="square" lIns="0" tIns="0" rIns="0" bIns="0" rtlCol="0" anchor="t"/>
          <a:lstStyle/>
          <a:p>
            <a:pPr algn="r" indent="0" marL="0">
              <a:buNone/>
            </a:pPr>
            <a:r>
              <a:rPr lang="ru-RU" altLang="en-US" sz="1500" b="1" dirty="0">
                <a:solidFill>
                  <a:schemeClr val="tx1"/>
                </a:solidFill>
              </a:rPr>
              <a:t>Выполнили: </a:t>
            </a:r>
            <a:pPr algn="r" indent="0" marL="0">
              <a:buNone/>
            </a:pPr>
            <a:r>
              <a:rPr lang="ru-RU" altLang="en-US" sz="1500" dirty="0">
                <a:solidFill>
                  <a:schemeClr val="tx1"/>
                </a:solidFill>
              </a:rPr>
              <a:t>курсанты</a:t>
            </a:r>
            <a:endParaRPr lang="ru-RU" sz="1500" dirty="0"/>
          </a:p>
          <a:p>
            <a:pPr algn="r" indent="0" marL="0">
              <a:buNone/>
            </a:pPr>
            <a:r>
              <a:rPr lang="ru-RU" altLang="en-US" sz="1500" dirty="0">
                <a:solidFill>
                  <a:schemeClr val="tx1"/>
                </a:solidFill>
              </a:rPr>
              <a:t>Шутов Н. Р. (группа П-24-7)</a:t>
            </a:r>
            <a:endParaRPr lang="ru-RU" sz="1500" dirty="0"/>
          </a:p>
          <a:p>
            <a:pPr algn="r" indent="0" marL="0">
              <a:buNone/>
            </a:pPr>
            <a:r>
              <a:rPr lang="ru-RU" altLang="en-US" sz="1500" dirty="0">
                <a:solidFill>
                  <a:schemeClr val="tx1"/>
                </a:solidFill>
              </a:rPr>
              <a:t>Ролдугин И. Д. (группа П-24-4)</a:t>
            </a:r>
            <a:endParaRPr lang="ru-RU" sz="1500" dirty="0"/>
          </a:p>
          <a:p>
            <a:pPr algn="r" indent="0" marL="0">
              <a:buNone/>
            </a:pPr>
            <a:r>
              <a:rPr lang="ru-RU" altLang="en-US" sz="1500" b="1" dirty="0">
                <a:solidFill>
                  <a:schemeClr val="tx1"/>
                </a:solidFill>
              </a:rPr>
              <a:t>Научный руководитель:</a:t>
            </a:r>
            <a:endParaRPr lang="ru-RU" sz="1500" dirty="0"/>
          </a:p>
          <a:p>
            <a:pPr algn="r" indent="0" marL="0">
              <a:buNone/>
            </a:pPr>
            <a:r>
              <a:rPr lang="ru-RU" altLang="en-US" sz="1500" dirty="0">
                <a:solidFill>
                  <a:schemeClr val="tx1"/>
                </a:solidFill>
              </a:rPr>
              <a:t>профессор кафедры ЛЭиБП,</a:t>
            </a:r>
            <a:endParaRPr lang="ru-RU" sz="1500" dirty="0"/>
          </a:p>
          <a:p>
            <a:pPr algn="r" indent="0" marL="0">
              <a:buNone/>
            </a:pPr>
            <a:r>
              <a:rPr lang="ru-RU" altLang="en-US" sz="1500" dirty="0">
                <a:solidFill>
                  <a:schemeClr val="tx1"/>
                </a:solidFill>
              </a:rPr>
              <a:t>д-р ист. наук, канд. юрид. наук, доцент</a:t>
            </a:r>
            <a:endParaRPr lang="ru-RU" sz="1500" dirty="0"/>
          </a:p>
          <a:p>
            <a:pPr algn="r" indent="0" marL="0">
              <a:buNone/>
            </a:pPr>
            <a:r>
              <a:rPr lang="ru-RU" altLang="en-US" sz="1500" dirty="0">
                <a:solidFill>
                  <a:schemeClr val="tx1"/>
                </a:solidFill>
              </a:rPr>
              <a:t>Бойко Н. С.</a:t>
            </a:r>
            <a:endParaRPr lang="ru-RU" sz="1500" dirty="0"/>
          </a:p>
        </p:txBody>
      </p:sp>
      <p:sp>
        <p:nvSpPr>
          <p:cNvPr id="6" name="Контакты"/>
          <p:cNvSpPr txBox="1"/>
          <p:nvPr/>
        </p:nvSpPr>
        <p:spPr>
          <a:xfrm>
            <a:off x="457200" y="4114800"/>
            <a:ext cx="4846320" cy="914400"/>
          </a:xfrm>
          <a:prstGeom prst="rect">
            <a:avLst/>
          </a:prstGeom>
          <a:noFill/>
          <a:ln/>
        </p:spPr>
        <p:txBody>
          <a:bodyPr wrap="square" lIns="0" tIns="0" rIns="0" bIns="0" rtlCol="0" anchor="t"/>
          <a:lstStyle/>
          <a:p>
            <a:pPr indent="0" marL="0">
              <a:buNone/>
            </a:pPr>
            <a:r>
              <a:rPr lang="ru-RU" altLang="en-US" sz="1500" b="1" dirty="0">
                <a:solidFill>
                  <a:schemeClr val="tx1"/>
                </a:solidFill>
              </a:rPr>
              <a:t>Контакты:</a:t>
            </a:r>
            <a:endParaRPr lang="ru-RU" sz="1500" dirty="0"/>
          </a:p>
          <a:p>
            <a:pPr indent="0" marL="0">
              <a:buNone/>
            </a:pPr>
            <a:r>
              <a:rPr lang="ru-RU" altLang="en-US" sz="1500" dirty="0">
                <a:solidFill>
                  <a:schemeClr val="tx1"/>
                </a:solidFill>
              </a:rPr>
              <a:t>nikita999343@gmail.com</a:t>
            </a:r>
            <a:endParaRPr lang="ru-RU" sz="1500" dirty="0"/>
          </a:p>
          <a:p>
            <a:pPr indent="0" marL="0">
              <a:buNone/>
            </a:pPr>
            <a:r>
              <a:rPr lang="ru-RU" altLang="en-US" sz="1500" dirty="0">
                <a:solidFill>
                  <a:schemeClr val="tx1"/>
                </a:solidFill>
              </a:rPr>
              <a:t>roldugin_2002@mail.ru</a:t>
            </a:r>
            <a:endParaRPr lang="ru-RU" sz="1500" dirty="0"/>
          </a:p>
        </p:txBody>
      </p:sp>
      <p:sp>
        <p:nvSpPr>
          <p:cNvPr id="7" name="Text 5"/>
          <p:cNvSpPr txBox="1"/>
          <p:nvPr/>
        </p:nvSpPr>
        <p:spPr>
          <a:xfrm>
            <a:off x="4270248" y="6263640"/>
            <a:ext cx="3657600" cy="365760"/>
          </a:xfrm>
          <a:prstGeom prst="rect">
            <a:avLst/>
          </a:prstGeom>
          <a:noFill/>
          <a:ln/>
        </p:spPr>
        <p:txBody>
          <a:bodyPr wrap="square" lIns="0" tIns="0" rIns="0" bIns="0" rtlCol="0" anchor="t"/>
          <a:lstStyle/>
          <a:p>
            <a:pPr algn="ctr" indent="0" marL="0">
              <a:buNone/>
            </a:pPr>
            <a:r>
              <a:rPr lang="ru-RU" altLang="en-US" sz="1500" b="1" dirty="0">
                <a:solidFill>
                  <a:schemeClr val="tx1"/>
                </a:solidFill>
              </a:rPr>
              <a:t>Ульяновск 2026</a:t>
            </a:r>
            <a:endParaRPr lang="ru-RU" sz="1500" dirty="0"/>
          </a:p>
        </p:txBody>
      </p:sp>
    </p:spTree>
  </p:cSld>
  <p:clrMapOvr>
    <a:masterClrMapping/>
  </p:clrMapOvr>
</p:sld>
</file>

<file path=ppt/theme/theme1.xml><?xml version="1.0" encoding="utf-8"?>
<a:theme xmlns:a="http://schemas.openxmlformats.org/drawingml/2006/main" name="УИ ГА официальный">
  <a:themeElements>
    <a:clrScheme name="УИ ГА официальный">
      <a:dk1>
        <a:srgbClr val="000000"/>
      </a:dk1>
      <a:lt1>
        <a:srgbClr val="FFFFFF"/>
      </a:lt1>
      <a:dk2>
        <a:srgbClr val="595959"/>
      </a:dk2>
      <a:lt2>
        <a:srgbClr val="F2F2F2"/>
      </a:lt2>
      <a:accent1>
        <a:srgbClr val="1F3864"/>
      </a:accent1>
      <a:accent2>
        <a:srgbClr val="808080"/>
      </a:accent2>
      <a:accent3>
        <a:srgbClr val="E00000"/>
      </a:accent3>
      <a:accent4>
        <a:srgbClr val="A6A6A6"/>
      </a:accent4>
      <a:accent5>
        <a:srgbClr val="404040"/>
      </a:accent5>
      <a:accent6>
        <a:srgbClr val="D9D9D9"/>
      </a:accent6>
      <a:hlink>
        <a:srgbClr val="1F3864"/>
      </a:hlink>
      <a:folHlink>
        <a:srgbClr val="595959"/>
      </a:folHlink>
    </a:clrScheme>
    <a:fontScheme name="УИ ГА официальный">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УИ ГА им. Б. П. Бугаева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Космическое облучение членов экипажей воздушных судов и их правовая защита в Российской Федерации</dc:title>
  <dc:subject>Воздушное право</dc:subject>
  <dc:creator>Шутов Н. Р., Ролдугин И. Д.</dc:creator>
  <cp:lastModifiedBy>Шутов Н. Р., Ролдугин И. Д.</cp:lastModifiedBy>
  <cp:revision>1</cp:revision>
  <dcterms:created xsi:type="dcterms:W3CDTF">2026-10-10T08:12:24Z</dcterms:created>
  <dcterms:modified xsi:type="dcterms:W3CDTF">2026-10-10T08:12:24Z</dcterms:modified>
</cp:coreProperties>
</file>