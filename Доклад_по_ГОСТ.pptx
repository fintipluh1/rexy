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NIKITA:
Good afternoon. My name is Nikita Shutov, and this is my colleague Ilya Roldugin. We are cadets of the Ulyanovsk Civil Aviation Institute. Our topic is “Cosmic radiation exposure of aircraft crew members and their legal protection in Russia”. Our supervisor is Professor Natalia Boyko.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NIKITA:
Why is this topic important? At cruising level, radiation is 11 to 22 times higher than on the ground. Since 1990, international experts have treated this exposure as part of the job. Special sanitary rules for aircrew were cancelled in 2021 and 2025. And with 900 flight hours a year, the dose can reach about 3.6 millisieverts. That is more than 70 percent of the limit. So our question is simple: does the law really protect each crew 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NIKITA:
Our aim is to find gaps in the law and to suggest how to close them. We used legal analysis, history of the law and comparison with foreign law. We had four tasks: to study the current rules, to see how they changed, to compare them with the European Union and Germany, and to make proposals.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NIKITA:
First, a few facts from my previous work. I measured radiation on two flights with a home-made Geiger counter. Near the ground the device showed about 8 to 15 microroentgens per hour. At cruising level it showed 170 to 184. But a Geiger counter does not see neutrons, and neutrons give a large part of the dose. So the real annual dose must be calculated, not just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NIKITA:
Here are the readings on the Novokuznetsk – Irkutsk flight: 13.2 before take-off, about 195 at flight level three-five-zero, and 9.9 after landing. Now Ilya will explain how the law regulates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ILYA:
Thank you, Nikita. This diagram shows the current system. At the top are federal laws: the law on radiation safety, the Air Code and the Labour Code. Below them are three groups of rules. The radiation safety standards set the limit: 5 millisieverts a year. The Ministry of Labour sets the rules for checking working conditions. The Ministry of Transport limits flight time. But nobody is told who must calculate the dose of each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ILYA:
This table shows how the rules changed. Two sanitary rules had special parts about aircrew. The first was cancelled in 2021, the second in 2025. Only one short clause is left. It says that aircrew exposure is limited to 5 millisieverts a year. So the limit is still there, but the rules on how to keep to it are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ILYA:
We found several gaps. First, apart from that one clause, we did not find any special rules for aircrew. Second, the law does not say who must calculate the dose of each crew member, or how. Third, the Federal Law requires records of individual doses, but we did not find a way for crew doses to get into the state dose register. As a result, nobody can check if a person stays under the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ILYA:
There are more gaps. The check of working conditions is done during one test flight. It cannot show the dose for a whole year on different routes. Flight time limits — 800 hours, or 900 with consent — do not take the dose into account. A crew member agrees to fly more without knowing his or her dose. Nobody has to tell a worker their personal dose. And there is no special dose rule for pregnant crew members. Nikita will now talk about foreign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NIKITA:
Thank you, Ilya. In the European Union and in Germany the system is different. If a crew member may get more than 1 millisievert a year, the airline must calculate the dose. It must take the dose into account in work schedules. It must tell the worker his or her dose. For a pregnant crew member, the dose to the baby must not be more than 1 millisievert. In Russia these rules do not exist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NIKITA:
So what do we propose? First, the sanitary rules should say: if a crew member may get more than 1 millisievert a year, the airline must calculate the personal dose, appoint a responsible person and keep records. Second, there should be a control level below the limit. When a person reaches it, the airline must change his or her schedule. Third, the sanitary service should approve one method to calculate the dose from real routes, flight levels and flight time. Ilya will continue.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ILYA:
We also propose four more steps. Crew doses should go into the state dose register, and each worker should get his or her dose every year. The order of the Ministry of Transport should include the dose in work schedules. A crew member should agree to 900 hours only after he or she knows his or her dose. A pregnant crew member should be able to move to ground work or to low-dose flights. And the rules for checking working conditions should include cosmic radiation when they are revised before 2029.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ILYA:
To sum up. Russia has a dose limit for aircrew: 5 millisieverts a year. But the law does not say how to keep to this limit. After the special rules were cancelled, nobody has to calculate and record the dose of each crew member. We propose to fix this, using the European rules as 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ILYA:
Here is the list of our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ILYA:
And the rest of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ILYA:
Thank you for your attention. We are ready to answer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Титульный слайд">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Заголовок и объект">
    <p:bg>
      <p:bgPr>
        <a:solidFill>
          <a:schemeClr val="bg1"/>
        </a:solidFill>
      </p:bgPr>
    </p:bg>
    <p:spTree>
      <p:nvGrpSpPr>
        <p:cNvPr id="1" name=""/>
        <p:cNvGrpSpPr/>
        <p:nvPr/>
      </p:nvGrpSpPr>
      <p:grpSpPr>
        <a:xfrm>
          <a:off x="0" y="0"/>
          <a:ext cx="0" cy="0"/>
          <a:chOff x="0" y="0"/>
          <a:chExt cx="0" cy="0"/>
        </a:xfrm>
      </p:grpSpPr>
      <p:pic>
        <p:nvPicPr>
          <p:cNvPr id="2" name="Image 0" descr="Эмблема УИ ГА">    </p:cNvPr>
          <p:cNvPicPr>
            <a:picLocks noChangeAspect="1"/>
          </p:cNvPicPr>
          <p:nvPr/>
        </p:nvPicPr>
        <p:blipFill>
          <a:blip r:embed="rId1"/>
          <a:stretch>
            <a:fillRect/>
          </a:stretch>
        </p:blipFill>
        <p:spPr>
          <a:xfrm>
            <a:off x="365760" y="320040"/>
            <a:ext cx="822960" cy="822960"/>
          </a:xfrm>
          <a:prstGeom prst="rect">
            <a:avLst/>
          </a:prstGeom>
        </p:spPr>
      </p:pic>
      <p:sp>
        <p:nvSpPr>
          <p:cNvPr id="3" name="Text 0"/>
          <p:cNvSpPr/>
          <p:nvPr>
            <p:ph idx="101" type="title" hasCustomPrompt="1"/>
          </p:nvPr>
        </p:nvSpPr>
        <p:spPr>
          <a:xfrm>
            <a:off x="1325880" y="274320"/>
            <a:ext cx="9539935" cy="914400"/>
          </a:xfrm>
          <a:prstGeom prst="rect">
            <a:avLst/>
          </a:prstGeom>
          <a:noFill/>
          <a:ln/>
        </p:spPr>
        <p:txBody>
          <a:bodyPr wrap="square" rtlCol="0"/>
          <a:lstStyle>
            <a:lvl1pPr algn="ctr" indent="0" marL="0">
              <a:buNone/>
              <a:defRPr lang="ru-RU" altLang="en-US" sz="3200" b="1" dirty="0">
                <a:solidFill>
                  <a:schemeClr val="tx1"/>
                </a:solidFill>
              </a:defRPr>
            </a:lvl1pPr>
          </a:lstStyle>
          <a:p>
            <a:pPr algn="ctr" indent="0" marL="0">
              <a:buNone/>
            </a:pPr>
            <a:endParaRPr lang="ru-RU" sz="3200" dirty="0"/>
          </a:p>
        </p:txBody>
      </p:sp>
      <p:sp>
        <p:nvSpPr>
          <p:cNvPr id="4" name="Text 0"/>
          <p:cNvSpPr/>
          <p:nvPr>
            <p:ph idx="102" type="body" hasCustomPrompt="1"/>
          </p:nvPr>
        </p:nvSpPr>
        <p:spPr>
          <a:xfrm>
            <a:off x="548640" y="1371600"/>
            <a:ext cx="11094415" cy="4846320"/>
          </a:xfrm>
          <a:prstGeom prst="rect">
            <a:avLst/>
          </a:prstGeom>
          <a:noFill/>
          <a:ln/>
        </p:spPr>
        <p:txBody>
          <a:bodyPr wrap="square" rtlCol="0"/>
          <a:lstStyle>
            <a:lvl1pPr algn="l" indent="0" marL="0">
              <a:buNone/>
              <a:defRPr lang="ru-RU" altLang="en-US" sz="2400" dirty="0">
                <a:solidFill>
                  <a:schemeClr val="tx1"/>
                </a:solidFill>
              </a:defRPr>
            </a:lvl1pPr>
          </a:lstStyle>
          <a:p>
            <a:pPr algn="l" indent="0" marL="0">
              <a:buNone/>
            </a:pPr>
            <a:endParaRPr lang="ru-RU" sz="2400" dirty="0"/>
          </a:p>
        </p:txBody>
      </p:sp>
      <p:sp>
        <p:nvSpPr>
          <p:cNvPr id="25" name="Slide Number Placeholder 0"/>
          <p:cNvSpPr>
            <a:spLocks noGrp="1"/>
          </p:cNvSpPr>
          <p:nvPr>
            <p:ph type="sldNum" sz="quarter" idx="4294967295"/>
          </p:nvPr>
        </p:nvSpPr>
        <p:spPr>
          <a:xfrm>
            <a:off x="11002975" y="635508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ru-RU"/>
              <a:t>1003</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Только заголовок">
    <p:bg>
      <p:bgPr>
        <a:solidFill>
          <a:schemeClr val="bg1"/>
        </a:solidFill>
      </p:bgPr>
    </p:bg>
    <p:spTree>
      <p:nvGrpSpPr>
        <p:cNvPr id="1" name=""/>
        <p:cNvGrpSpPr/>
        <p:nvPr/>
      </p:nvGrpSpPr>
      <p:grpSpPr>
        <a:xfrm>
          <a:off x="0" y="0"/>
          <a:ext cx="0" cy="0"/>
          <a:chOff x="0" y="0"/>
          <a:chExt cx="0" cy="0"/>
        </a:xfrm>
      </p:grpSpPr>
      <p:pic>
        <p:nvPicPr>
          <p:cNvPr id="2" name="Image 0" descr="Эмблема УИ ГА">    </p:cNvPr>
          <p:cNvPicPr>
            <a:picLocks noChangeAspect="1"/>
          </p:cNvPicPr>
          <p:nvPr/>
        </p:nvPicPr>
        <p:blipFill>
          <a:blip r:embed="rId1"/>
          <a:stretch>
            <a:fillRect/>
          </a:stretch>
        </p:blipFill>
        <p:spPr>
          <a:xfrm>
            <a:off x="365760" y="320040"/>
            <a:ext cx="822960" cy="822960"/>
          </a:xfrm>
          <a:prstGeom prst="rect">
            <a:avLst/>
          </a:prstGeom>
        </p:spPr>
      </p:pic>
      <p:sp>
        <p:nvSpPr>
          <p:cNvPr id="3" name="Text 0"/>
          <p:cNvSpPr/>
          <p:nvPr>
            <p:ph idx="101" type="title" hasCustomPrompt="1"/>
          </p:nvPr>
        </p:nvSpPr>
        <p:spPr>
          <a:xfrm>
            <a:off x="1325880" y="274320"/>
            <a:ext cx="9539935" cy="914400"/>
          </a:xfrm>
          <a:prstGeom prst="rect">
            <a:avLst/>
          </a:prstGeom>
          <a:noFill/>
          <a:ln/>
        </p:spPr>
        <p:txBody>
          <a:bodyPr wrap="square" rtlCol="0"/>
          <a:lstStyle>
            <a:lvl1pPr algn="ctr" indent="0" marL="0">
              <a:buNone/>
              <a:defRPr lang="ru-RU" altLang="en-US" sz="3200" b="1" dirty="0">
                <a:solidFill>
                  <a:schemeClr val="tx1"/>
                </a:solidFill>
              </a:defRPr>
            </a:lvl1pPr>
          </a:lstStyle>
          <a:p>
            <a:pPr algn="ctr" indent="0" marL="0">
              <a:buNone/>
            </a:pPr>
            <a:endParaRPr lang="ru-RU" sz="3200" dirty="0"/>
          </a:p>
        </p:txBody>
      </p:sp>
      <p:sp>
        <p:nvSpPr>
          <p:cNvPr id="25" name="Slide Number Placeholder 0"/>
          <p:cNvSpPr>
            <a:spLocks noGrp="1"/>
          </p:cNvSpPr>
          <p:nvPr>
            <p:ph type="sldNum" sz="quarter" idx="4294967295"/>
          </p:nvPr>
        </p:nvSpPr>
        <p:spPr>
          <a:xfrm>
            <a:off x="11002975" y="635508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ru-RU"/>
              <a:t>1004</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35508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ru-RU"/>
              <a:t>null</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Эмблема УИ ГА">    </p:cNvPr>
          <p:cNvPicPr>
            <a:picLocks noChangeAspect="1"/>
          </p:cNvPicPr>
          <p:nvPr/>
        </p:nvPicPr>
        <p:blipFill>
          <a:blip r:embed="rId1"/>
          <a:stretch>
            <a:fillRect/>
          </a:stretch>
        </p:blipFill>
        <p:spPr>
          <a:xfrm>
            <a:off x="411480" y="274320"/>
            <a:ext cx="914400" cy="914400"/>
          </a:xfrm>
          <a:prstGeom prst="rect">
            <a:avLst/>
          </a:prstGeom>
        </p:spPr>
      </p:pic>
      <p:sp>
        <p:nvSpPr>
          <p:cNvPr id="3" name="Text 0"/>
          <p:cNvSpPr txBox="1"/>
          <p:nvPr/>
        </p:nvSpPr>
        <p:spPr>
          <a:xfrm>
            <a:off x="1463040" y="274320"/>
            <a:ext cx="9262872" cy="1143000"/>
          </a:xfrm>
          <a:prstGeom prst="rect">
            <a:avLst/>
          </a:prstGeom>
          <a:noFill/>
          <a:ln/>
        </p:spPr>
        <p:txBody>
          <a:bodyPr wrap="square" lIns="635" tIns="635" rIns="635" bIns="635" rtlCol="0" anchor="t"/>
          <a:lstStyle/>
          <a:p>
            <a:pPr algn="ctr" indent="0" marL="0">
              <a:lnSpc>
                <a:spcPct val="100000"/>
              </a:lnSpc>
              <a:buNone/>
            </a:pPr>
            <a:r>
              <a:rPr lang="ru-RU" altLang="en-US" sz="1400" dirty="0">
                <a:solidFill>
                  <a:schemeClr val="tx1"/>
                </a:solidFill>
              </a:rPr>
              <a:t>МИНИСТЕРСТВО ТРАНСПОРТА РОССИЙСКОЙ ФЕДЕРАЦИИ</a:t>
            </a:r>
            <a:endParaRPr lang="ru-RU" sz="1400" dirty="0"/>
          </a:p>
          <a:p>
            <a:pPr algn="ctr" indent="0" marL="0">
              <a:lnSpc>
                <a:spcPct val="100000"/>
              </a:lnSpc>
              <a:buNone/>
            </a:pPr>
            <a:r>
              <a:rPr lang="ru-RU" altLang="en-US" sz="1400" dirty="0">
                <a:solidFill>
                  <a:schemeClr val="tx1"/>
                </a:solidFill>
              </a:rPr>
              <a:t>ФЕДЕРАЛЬНОЕ ГОСУДАРСТВЕННОЕ БЮДЖЕТНОЕ ОБРАЗОВАТЕЛЬНОЕ УЧРЕЖДЕНИЕ ВЫСШЕГО ОБРАЗОВАНИЯ</a:t>
            </a:r>
            <a:endParaRPr lang="ru-RU" sz="1400" dirty="0"/>
          </a:p>
          <a:p>
            <a:pPr algn="ctr" indent="0" marL="0">
              <a:lnSpc>
                <a:spcPct val="100000"/>
              </a:lnSpc>
              <a:buNone/>
            </a:pPr>
            <a:r>
              <a:rPr lang="ru-RU" altLang="en-US" sz="1400" dirty="0">
                <a:solidFill>
                  <a:schemeClr val="tx1"/>
                </a:solidFill>
              </a:rPr>
              <a:t>«УЛЬЯНОВСКИЙ ИНСТИТУТ ГРАЖДАНСКОЙ АВИАЦИИ</a:t>
            </a:r>
            <a:endParaRPr lang="ru-RU" sz="1400" dirty="0"/>
          </a:p>
          <a:p>
            <a:pPr algn="ctr" indent="0" marL="0">
              <a:lnSpc>
                <a:spcPct val="100000"/>
              </a:lnSpc>
              <a:buNone/>
            </a:pPr>
            <a:r>
              <a:rPr lang="ru-RU" altLang="en-US" sz="1400" dirty="0">
                <a:solidFill>
                  <a:schemeClr val="tx1"/>
                </a:solidFill>
              </a:rPr>
              <a:t>ИМЕНИ ГЛАВНОГО МАРШАЛА АВИАЦИИ Б. П. БУГАЕВА»</a:t>
            </a:r>
            <a:endParaRPr lang="ru-RU" sz="1400" dirty="0"/>
          </a:p>
        </p:txBody>
      </p:sp>
      <p:sp>
        <p:nvSpPr>
          <p:cNvPr id="4" name="Text 1"/>
          <p:cNvSpPr txBox="1"/>
          <p:nvPr/>
        </p:nvSpPr>
        <p:spPr>
          <a:xfrm>
            <a:off x="1463040" y="1508760"/>
            <a:ext cx="9262872" cy="365760"/>
          </a:xfrm>
          <a:prstGeom prst="rect">
            <a:avLst/>
          </a:prstGeom>
          <a:noFill/>
          <a:ln/>
        </p:spPr>
        <p:txBody>
          <a:bodyPr wrap="square" lIns="635" tIns="635" rIns="635" bIns="635" rtlCol="0" anchor="t"/>
          <a:lstStyle/>
          <a:p>
            <a:pPr algn="ctr" indent="0" marL="0">
              <a:buNone/>
            </a:pPr>
            <a:r>
              <a:rPr lang="ru-RU" altLang="en-US" sz="1600" dirty="0">
                <a:solidFill>
                  <a:schemeClr val="tx1"/>
                </a:solidFill>
              </a:rPr>
              <a:t>Кафедра лётной эксплуатации и безопасности полётов</a:t>
            </a:r>
            <a:endParaRPr lang="ru-RU" sz="1600" dirty="0"/>
          </a:p>
        </p:txBody>
      </p:sp>
      <p:sp>
        <p:nvSpPr>
          <p:cNvPr id="5" name="Text 2"/>
          <p:cNvSpPr txBox="1"/>
          <p:nvPr/>
        </p:nvSpPr>
        <p:spPr>
          <a:xfrm>
            <a:off x="1463040" y="2148840"/>
            <a:ext cx="9262872" cy="411480"/>
          </a:xfrm>
          <a:prstGeom prst="rect">
            <a:avLst/>
          </a:prstGeom>
          <a:noFill/>
          <a:ln/>
        </p:spPr>
        <p:txBody>
          <a:bodyPr wrap="square" lIns="635" tIns="635" rIns="635" bIns="635" rtlCol="0" anchor="t"/>
          <a:lstStyle/>
          <a:p>
            <a:pPr algn="ctr" indent="0" marL="0">
              <a:buNone/>
            </a:pPr>
            <a:r>
              <a:rPr lang="ru-RU" altLang="en-US" sz="2000" b="1" dirty="0">
                <a:solidFill>
                  <a:schemeClr val="tx1"/>
                </a:solidFill>
              </a:rPr>
              <a:t>ДОКЛАД</a:t>
            </a:r>
            <a:endParaRPr lang="ru-RU" sz="2000" dirty="0"/>
          </a:p>
        </p:txBody>
      </p:sp>
      <p:sp>
        <p:nvSpPr>
          <p:cNvPr id="6" name="Text 3"/>
          <p:cNvSpPr txBox="1"/>
          <p:nvPr/>
        </p:nvSpPr>
        <p:spPr>
          <a:xfrm>
            <a:off x="731520" y="2606040"/>
            <a:ext cx="10725912" cy="1097280"/>
          </a:xfrm>
          <a:prstGeom prst="rect">
            <a:avLst/>
          </a:prstGeom>
          <a:noFill/>
          <a:ln/>
        </p:spPr>
        <p:txBody>
          <a:bodyPr wrap="square" lIns="635" tIns="635" rIns="635" bIns="635" rtlCol="0" anchor="ctr"/>
          <a:lstStyle/>
          <a:p>
            <a:pPr algn="ctr" indent="0" marL="0">
              <a:buNone/>
            </a:pPr>
            <a:r>
              <a:rPr lang="ru-RU" altLang="en-US" sz="2400" b="1" dirty="0">
                <a:solidFill>
                  <a:schemeClr val="tx1"/>
                </a:solidFill>
              </a:rPr>
              <a:t>«Космическое облучение членов экипажей воздушных судов и их правовая защита в Российской Федерации»</a:t>
            </a:r>
            <a:endParaRPr lang="ru-RU" sz="2400" dirty="0"/>
          </a:p>
        </p:txBody>
      </p:sp>
      <p:sp>
        <p:nvSpPr>
          <p:cNvPr id="7" name="Text 4"/>
          <p:cNvSpPr txBox="1"/>
          <p:nvPr/>
        </p:nvSpPr>
        <p:spPr>
          <a:xfrm>
            <a:off x="1463040" y="3703320"/>
            <a:ext cx="9262872" cy="365760"/>
          </a:xfrm>
          <a:prstGeom prst="rect">
            <a:avLst/>
          </a:prstGeom>
          <a:noFill/>
          <a:ln/>
        </p:spPr>
        <p:txBody>
          <a:bodyPr wrap="square" lIns="635" tIns="635" rIns="635" bIns="635" rtlCol="0" anchor="t"/>
          <a:lstStyle/>
          <a:p>
            <a:pPr algn="ctr" indent="0" marL="0">
              <a:buNone/>
            </a:pPr>
            <a:r>
              <a:rPr lang="ru-RU" altLang="en-US" sz="1600" dirty="0">
                <a:solidFill>
                  <a:schemeClr val="tx1"/>
                </a:solidFill>
              </a:rPr>
              <a:t>по дисциплине «Воздушное право»</a:t>
            </a:r>
            <a:endParaRPr lang="ru-RU" sz="1600" dirty="0"/>
          </a:p>
        </p:txBody>
      </p:sp>
      <p:sp>
        <p:nvSpPr>
          <p:cNvPr id="8" name="Text 5"/>
          <p:cNvSpPr txBox="1"/>
          <p:nvPr/>
        </p:nvSpPr>
        <p:spPr>
          <a:xfrm>
            <a:off x="6675120" y="4206240"/>
            <a:ext cx="4983480" cy="1783080"/>
          </a:xfrm>
          <a:prstGeom prst="rect">
            <a:avLst/>
          </a:prstGeom>
          <a:noFill/>
          <a:ln/>
        </p:spPr>
        <p:txBody>
          <a:bodyPr wrap="square" lIns="635" tIns="635" rIns="635" bIns="635" rtlCol="0" anchor="t"/>
          <a:lstStyle/>
          <a:p>
            <a:pPr algn="l" indent="0" marL="0">
              <a:buNone/>
            </a:pPr>
            <a:r>
              <a:rPr lang="ru-RU" altLang="en-US" sz="1600" b="1" dirty="0">
                <a:solidFill>
                  <a:schemeClr val="tx1"/>
                </a:solidFill>
              </a:rPr>
              <a:t>Выполнили:</a:t>
            </a:r>
            <a:endParaRPr lang="ru-RU" sz="1600" dirty="0"/>
          </a:p>
          <a:p>
            <a:pPr algn="l" indent="0" marL="0">
              <a:buNone/>
            </a:pPr>
            <a:r>
              <a:rPr lang="ru-RU" altLang="en-US" sz="1600" dirty="0">
                <a:solidFill>
                  <a:schemeClr val="tx1"/>
                </a:solidFill>
              </a:rPr>
              <a:t>курсанты группы П-24-4</a:t>
            </a:r>
            <a:endParaRPr lang="ru-RU" sz="1600" dirty="0"/>
          </a:p>
          <a:p>
            <a:pPr algn="l" indent="0" marL="0">
              <a:buNone/>
            </a:pPr>
            <a:r>
              <a:rPr lang="ru-RU" altLang="en-US" sz="1600" dirty="0">
                <a:solidFill>
                  <a:schemeClr val="tx1"/>
                </a:solidFill>
              </a:rPr>
              <a:t>Шутов Н. Р., Ролдугин И. Д.</a:t>
            </a:r>
            <a:endParaRPr lang="ru-RU" sz="1600" dirty="0"/>
          </a:p>
          <a:p>
            <a:pPr algn="l" indent="0" marL="0">
              <a:buNone/>
            </a:pPr>
            <a:r>
              <a:rPr lang="ru-RU" altLang="en-US" sz="1600" b="1" dirty="0">
                <a:solidFill>
                  <a:schemeClr val="tx1"/>
                </a:solidFill>
              </a:rPr>
              <a:t>Научный руководитель:</a:t>
            </a:r>
            <a:endParaRPr lang="ru-RU" sz="1600" dirty="0"/>
          </a:p>
          <a:p>
            <a:pPr algn="l" indent="0" marL="0">
              <a:buNone/>
            </a:pPr>
            <a:r>
              <a:rPr lang="ru-RU" altLang="en-US" sz="1600" dirty="0">
                <a:solidFill>
                  <a:schemeClr val="tx1"/>
                </a:solidFill>
              </a:rPr>
              <a:t>профессор кафедры ЛЭиБП, д-р ист. наук,</a:t>
            </a:r>
            <a:endParaRPr lang="ru-RU" sz="1600" dirty="0"/>
          </a:p>
          <a:p>
            <a:pPr algn="l" indent="0" marL="0">
              <a:buNone/>
            </a:pPr>
            <a:r>
              <a:rPr lang="ru-RU" altLang="en-US" sz="1600" dirty="0">
                <a:solidFill>
                  <a:schemeClr val="tx1"/>
                </a:solidFill>
              </a:rPr>
              <a:t>канд. юрид. наук, доцент Бойко Н. С.</a:t>
            </a:r>
            <a:endParaRPr lang="ru-RU" sz="1600" dirty="0"/>
          </a:p>
        </p:txBody>
      </p:sp>
      <p:sp>
        <p:nvSpPr>
          <p:cNvPr id="9" name="Text 6"/>
          <p:cNvSpPr txBox="1"/>
          <p:nvPr/>
        </p:nvSpPr>
        <p:spPr>
          <a:xfrm>
            <a:off x="4270248" y="6263640"/>
            <a:ext cx="3657600" cy="365760"/>
          </a:xfrm>
          <a:prstGeom prst="rect">
            <a:avLst/>
          </a:prstGeom>
          <a:noFill/>
          <a:ln/>
        </p:spPr>
        <p:txBody>
          <a:bodyPr wrap="square" lIns="635" tIns="635" rIns="635" bIns="635" rtlCol="0" anchor="t"/>
          <a:lstStyle/>
          <a:p>
            <a:pPr algn="ctr" indent="0" marL="0">
              <a:buNone/>
            </a:pPr>
            <a:r>
              <a:rPr lang="ru-RU" altLang="en-US" sz="1600" dirty="0">
                <a:solidFill>
                  <a:schemeClr val="tx1"/>
                </a:solidFill>
              </a:rPr>
              <a:t>Ульяновск 2026</a:t>
            </a:r>
            <a:endParaRPr lang="ru-RU"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1325880" y="274320"/>
            <a:ext cx="9539935" cy="914400"/>
          </a:xfrm>
          <a:prstGeom prst="rect">
            <a:avLst/>
          </a:prstGeom>
          <a:noFill/>
          <a:ln/>
        </p:spPr>
        <p:txBody>
          <a:bodyPr wrap="square" lIns="635" tIns="635" rIns="635" bIns="635" rtlCol="0" anchor="ctr"/>
          <a:lstStyle/>
          <a:p>
            <a:pPr algn="ctr" indent="0" marL="0">
              <a:buNone/>
            </a:pPr>
            <a:r>
              <a:rPr lang="ru-RU" altLang="en-US" sz="3200" b="1" dirty="0">
                <a:solidFill>
                  <a:schemeClr val="tx1"/>
                </a:solidFill>
              </a:rPr>
              <a:t>Актуальность темы</a:t>
            </a:r>
            <a:endParaRPr lang="ru-RU" sz="3200" dirty="0"/>
          </a:p>
        </p:txBody>
      </p:sp>
      <p:sp>
        <p:nvSpPr>
          <p:cNvPr id="3" name="Text 0"/>
          <p:cNvSpPr/>
          <p:nvPr>
            <p:ph idx="102" type="body" hasCustomPrompt="1"/>
          </p:nvPr>
        </p:nvSpPr>
        <p:spPr>
          <a:xfrm>
            <a:off x="548640" y="1371600"/>
            <a:ext cx="11094415" cy="4846320"/>
          </a:xfrm>
          <a:prstGeom prst="rect">
            <a:avLst/>
          </a:prstGeom>
          <a:noFill/>
          <a:ln/>
        </p:spPr>
        <p:txBody>
          <a:bodyPr wrap="square" lIns="635" tIns="635" rIns="635" bIns="635" rtlCol="0" anchor="t"/>
          <a:lstStyle/>
          <a:p>
            <a:pPr algn="l" marL="304800" indent="-304800">
              <a:spcAft>
                <a:spcPts val="1000"/>
              </a:spcAft>
              <a:buSzPct val="100000"/>
              <a:buChar char="–"/>
            </a:pPr>
            <a:r>
              <a:rPr lang="ru-RU" altLang="en-US" sz="2400" dirty="0">
                <a:solidFill>
                  <a:schemeClr val="tx1"/>
                </a:solidFill>
              </a:rPr>
              <a:t>На эшелоне радиационный фон в 11–⁠22 раза выше, чем у земли [1]</a:t>
            </a:r>
            <a:endParaRPr lang="ru-RU" sz="2400" dirty="0"/>
          </a:p>
          <a:p>
            <a:pPr algn="l" marL="304800" indent="-304800">
              <a:spcAft>
                <a:spcPts val="1000"/>
              </a:spcAft>
              <a:buSzPct val="100000"/>
              <a:buChar char="–"/>
            </a:pPr>
            <a:r>
              <a:rPr lang="ru-RU" altLang="en-US" sz="2400" dirty="0">
                <a:solidFill>
                  <a:schemeClr val="tx1"/>
                </a:solidFill>
              </a:rPr>
              <a:t>С 1990 года МКРЗ относит облучение экипажей к профессиональному [2]</a:t>
            </a:r>
            <a:endParaRPr lang="ru-RU" sz="2400" dirty="0"/>
          </a:p>
          <a:p>
            <a:pPr algn="l" marL="304800" indent="-304800">
              <a:spcAft>
                <a:spcPts val="1000"/>
              </a:spcAft>
              <a:buSzPct val="100000"/>
              <a:buChar char="–"/>
            </a:pPr>
            <a:r>
              <a:rPr lang="ru-RU" altLang="en-US" sz="2400" dirty="0">
                <a:solidFill>
                  <a:schemeClr val="tx1"/>
                </a:solidFill>
              </a:rPr>
              <a:t>Специальные санитарные правила об облучении экипажей утратили силу в 2021 и 2025 годах [8, 9]</a:t>
            </a:r>
            <a:endParaRPr lang="ru-RU" sz="2400" dirty="0"/>
          </a:p>
          <a:p>
            <a:pPr algn="l" marL="304800" indent="-304800">
              <a:spcAft>
                <a:spcPts val="1000"/>
              </a:spcAft>
              <a:buSzPct val="100000"/>
              <a:buChar char="–"/>
            </a:pPr>
            <a:r>
              <a:rPr lang="ru-RU" altLang="en-US" sz="2400" dirty="0">
                <a:solidFill>
                  <a:schemeClr val="tx1"/>
                </a:solidFill>
              </a:rPr>
              <a:t>По модельной оценке, при налёте 900 часов в год доза может составить около 3,6 мЗв – более 70 % предела [3]</a:t>
            </a:r>
            <a:endParaRPr lang="ru-RU" sz="2400" dirty="0"/>
          </a:p>
          <a:p>
            <a:pPr algn="l" marL="304800" indent="-304800">
              <a:spcAft>
                <a:spcPts val="1000"/>
              </a:spcAft>
              <a:buSzPct val="100000"/>
              <a:buChar char="–"/>
            </a:pPr>
            <a:r>
              <a:rPr lang="ru-RU" altLang="en-US" sz="2400" dirty="0">
                <a:solidFill>
                  <a:schemeClr val="tx1"/>
                </a:solidFill>
              </a:rPr>
              <a:t>Вопрос: обеспечено ли правом соблюдение предела дозы для каждого члена экипажа?</a:t>
            </a:r>
            <a:endParaRPr lang="ru-RU" sz="2400" dirty="0"/>
          </a:p>
        </p:txBody>
      </p:sp>
      <p:sp>
        <p:nvSpPr>
          <p:cNvPr id="25" name="Slide Number Placeholder 0"/>
          <p:cNvSpPr>
            <a:spLocks noGrp="1"/>
          </p:cNvSpPr>
          <p:nvPr>
            <p:ph type="sldNum" sz="quarter" idx="4294967295"/>
          </p:nvPr>
        </p:nvSpPr>
        <p:spPr>
          <a:xfrm>
            <a:off x="11002975" y="635508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ru-RU"/>
              <a:t>2</a:t>
            </a:fld>
            <a:endParaRPr lang="ru-RU"/>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1325880" y="274320"/>
            <a:ext cx="9539935" cy="914400"/>
          </a:xfrm>
          <a:prstGeom prst="rect">
            <a:avLst/>
          </a:prstGeom>
          <a:noFill/>
          <a:ln/>
        </p:spPr>
        <p:txBody>
          <a:bodyPr wrap="square" lIns="635" tIns="635" rIns="635" bIns="635" rtlCol="0" anchor="ctr"/>
          <a:lstStyle/>
          <a:p>
            <a:pPr algn="ctr" indent="0" marL="0">
              <a:buNone/>
            </a:pPr>
            <a:r>
              <a:rPr lang="ru-RU" altLang="en-US" sz="3200" b="1" dirty="0">
                <a:solidFill>
                  <a:schemeClr val="tx1"/>
                </a:solidFill>
              </a:rPr>
              <a:t>Цель и задачи исследования</a:t>
            </a:r>
            <a:endParaRPr lang="ru-RU" sz="3200" dirty="0"/>
          </a:p>
        </p:txBody>
      </p:sp>
      <p:sp>
        <p:nvSpPr>
          <p:cNvPr id="3" name="Text 1"/>
          <p:cNvSpPr txBox="1"/>
          <p:nvPr/>
        </p:nvSpPr>
        <p:spPr>
          <a:xfrm>
            <a:off x="548640" y="1371600"/>
            <a:ext cx="11094415" cy="1828800"/>
          </a:xfrm>
          <a:prstGeom prst="rect">
            <a:avLst/>
          </a:prstGeom>
          <a:noFill/>
          <a:ln/>
        </p:spPr>
        <p:txBody>
          <a:bodyPr wrap="square" lIns="635" tIns="635" rIns="635" bIns="635" rtlCol="0" anchor="t"/>
          <a:lstStyle/>
          <a:p>
            <a:pPr algn="l" indent="0" marL="0">
              <a:spcAft>
                <a:spcPts val="1000"/>
              </a:spcAft>
              <a:buNone/>
            </a:pPr>
            <a:r>
              <a:rPr lang="ru-RU" altLang="en-US" sz="2400" b="1" dirty="0">
                <a:solidFill>
                  <a:schemeClr val="tx1"/>
                </a:solidFill>
              </a:rPr>
              <a:t>Цель: </a:t>
            </a:r>
            <a:pPr algn="l" indent="0" marL="0">
              <a:spcAft>
                <a:spcPts val="1000"/>
              </a:spcAft>
              <a:buNone/>
            </a:pPr>
            <a:r>
              <a:rPr lang="ru-RU" altLang="en-US" sz="2400" dirty="0">
                <a:solidFill>
                  <a:schemeClr val="tx1"/>
                </a:solidFill>
              </a:rPr>
              <a:t>выявить пробелы в правовом регулировании защиты членов экипажей воздушных судов от космического излучения и предложить пути их устранения.</a:t>
            </a:r>
            <a:endParaRPr lang="ru-RU" sz="2400" dirty="0"/>
          </a:p>
          <a:p>
            <a:pPr algn="l" indent="0" marL="0">
              <a:spcAft>
                <a:spcPts val="1000"/>
              </a:spcAft>
              <a:buNone/>
            </a:pPr>
            <a:r>
              <a:rPr lang="ru-RU" altLang="en-US" sz="2400" b="1" dirty="0">
                <a:solidFill>
                  <a:schemeClr val="tx1"/>
                </a:solidFill>
              </a:rPr>
              <a:t>Методы: </a:t>
            </a:r>
            <a:pPr algn="l" indent="0" marL="0">
              <a:spcAft>
                <a:spcPts val="1000"/>
              </a:spcAft>
              <a:buNone/>
            </a:pPr>
            <a:r>
              <a:rPr lang="ru-RU" altLang="en-US" sz="2400" dirty="0">
                <a:solidFill>
                  <a:schemeClr val="tx1"/>
                </a:solidFill>
              </a:rPr>
              <a:t>формально-юридический, историко-правовой, сравнительно-правовой.</a:t>
            </a:r>
            <a:endParaRPr lang="ru-RU" sz="2400" dirty="0"/>
          </a:p>
        </p:txBody>
      </p:sp>
      <p:sp>
        <p:nvSpPr>
          <p:cNvPr id="4" name="Text 2"/>
          <p:cNvSpPr txBox="1"/>
          <p:nvPr/>
        </p:nvSpPr>
        <p:spPr>
          <a:xfrm>
            <a:off x="548640" y="3337560"/>
            <a:ext cx="11094415" cy="411480"/>
          </a:xfrm>
          <a:prstGeom prst="rect">
            <a:avLst/>
          </a:prstGeom>
          <a:noFill/>
          <a:ln/>
        </p:spPr>
        <p:txBody>
          <a:bodyPr wrap="square" lIns="635" tIns="635" rIns="635" bIns="635" rtlCol="0" anchor="t"/>
          <a:lstStyle/>
          <a:p>
            <a:pPr indent="0" marL="0">
              <a:buNone/>
            </a:pPr>
            <a:r>
              <a:rPr lang="ru-RU" altLang="en-US" sz="2400" b="1" dirty="0">
                <a:solidFill>
                  <a:schemeClr val="tx1"/>
                </a:solidFill>
              </a:rPr>
              <a:t>Задачи:</a:t>
            </a:r>
            <a:endParaRPr lang="ru-RU" sz="2400" dirty="0"/>
          </a:p>
        </p:txBody>
      </p:sp>
      <p:sp>
        <p:nvSpPr>
          <p:cNvPr id="5" name="Text 3"/>
          <p:cNvSpPr txBox="1"/>
          <p:nvPr/>
        </p:nvSpPr>
        <p:spPr>
          <a:xfrm>
            <a:off x="548640" y="3794760"/>
            <a:ext cx="11094415" cy="2468880"/>
          </a:xfrm>
          <a:prstGeom prst="rect">
            <a:avLst/>
          </a:prstGeom>
          <a:noFill/>
          <a:ln/>
        </p:spPr>
        <p:txBody>
          <a:bodyPr wrap="square" lIns="635" tIns="635" rIns="635" bIns="635" rtlCol="0" anchor="t"/>
          <a:lstStyle/>
          <a:p>
            <a:pPr marL="342900" indent="-342900">
              <a:spcAft>
                <a:spcPts val="400"/>
              </a:spcAft>
              <a:buSzPct val="100000"/>
              <a:buFont typeface="+mj-lt"/>
              <a:buAutoNum type="arabicParenR" startAt="1"/>
            </a:pPr>
            <a:r>
              <a:rPr lang="ru-RU" altLang="en-US" sz="2400" dirty="0">
                <a:solidFill>
                  <a:schemeClr val="tx1"/>
                </a:solidFill>
              </a:rPr>
              <a:t>проанализировать действующие нормы российского права;</a:t>
            </a:r>
            <a:endParaRPr lang="ru-RU" sz="2400" dirty="0"/>
          </a:p>
          <a:p>
            <a:pPr marL="342900" indent="-342900">
              <a:spcAft>
                <a:spcPts val="400"/>
              </a:spcAft>
              <a:buSzPct val="100000"/>
              <a:buFont typeface="+mj-lt"/>
              <a:buAutoNum type="arabicParenR" startAt="1"/>
            </a:pPr>
            <a:r>
              <a:rPr lang="ru-RU" altLang="en-US" sz="2400" dirty="0">
                <a:solidFill>
                  <a:schemeClr val="tx1"/>
                </a:solidFill>
              </a:rPr>
              <a:t>проследить изменения законодательства в 2021–⁠2026 годах;</a:t>
            </a:r>
            <a:endParaRPr lang="ru-RU" sz="2400" dirty="0"/>
          </a:p>
          <a:p>
            <a:pPr marL="342900" indent="-342900">
              <a:spcAft>
                <a:spcPts val="400"/>
              </a:spcAft>
              <a:buSzPct val="100000"/>
              <a:buFont typeface="+mj-lt"/>
              <a:buAutoNum type="arabicParenR" startAt="1"/>
            </a:pPr>
            <a:r>
              <a:rPr lang="ru-RU" altLang="en-US" sz="2400" dirty="0">
                <a:solidFill>
                  <a:schemeClr val="tx1"/>
                </a:solidFill>
              </a:rPr>
              <a:t>сравнить российское регулирование с правом ЕС и Германии;</a:t>
            </a:r>
            <a:endParaRPr lang="ru-RU" sz="2400" dirty="0"/>
          </a:p>
          <a:p>
            <a:pPr marL="342900" indent="-342900">
              <a:spcAft>
                <a:spcPts val="400"/>
              </a:spcAft>
              <a:buSzPct val="100000"/>
              <a:buFont typeface="+mj-lt"/>
              <a:buAutoNum type="arabicParenR" startAt="1"/>
            </a:pPr>
            <a:r>
              <a:rPr lang="ru-RU" altLang="en-US" sz="2400" dirty="0">
                <a:solidFill>
                  <a:schemeClr val="tx1"/>
                </a:solidFill>
              </a:rPr>
              <a:t>сформулировать предложения по совершенствованию законодательства.</a:t>
            </a:r>
            <a:endParaRPr lang="ru-RU" sz="2400" dirty="0"/>
          </a:p>
        </p:txBody>
      </p:sp>
      <p:sp>
        <p:nvSpPr>
          <p:cNvPr id="25" name="Slide Number Placeholder 0"/>
          <p:cNvSpPr>
            <a:spLocks noGrp="1"/>
          </p:cNvSpPr>
          <p:nvPr>
            <p:ph type="sldNum" sz="quarter" idx="4294967295"/>
          </p:nvPr>
        </p:nvSpPr>
        <p:spPr>
          <a:xfrm>
            <a:off x="11002975" y="635508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ru-RU"/>
              <a:t>3</a:t>
            </a:fld>
            <a:endParaRPr lang="ru-RU"/>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1325880" y="274320"/>
            <a:ext cx="9539935" cy="914400"/>
          </a:xfrm>
          <a:prstGeom prst="rect">
            <a:avLst/>
          </a:prstGeom>
          <a:noFill/>
          <a:ln/>
        </p:spPr>
        <p:txBody>
          <a:bodyPr wrap="square" lIns="635" tIns="635" rIns="635" bIns="635" rtlCol="0" anchor="ctr"/>
          <a:lstStyle/>
          <a:p>
            <a:pPr algn="ctr" indent="0" marL="0">
              <a:buNone/>
            </a:pPr>
            <a:r>
              <a:rPr lang="ru-RU" altLang="en-US" sz="3200" b="1" dirty="0">
                <a:solidFill>
                  <a:schemeClr val="tx1"/>
                </a:solidFill>
              </a:rPr>
              <a:t>Измерения на борту</a:t>
            </a:r>
            <a:endParaRPr lang="ru-RU" sz="3200" dirty="0"/>
          </a:p>
        </p:txBody>
      </p:sp>
      <p:sp>
        <p:nvSpPr>
          <p:cNvPr id="3" name="Text 1"/>
          <p:cNvSpPr txBox="1"/>
          <p:nvPr/>
        </p:nvSpPr>
        <p:spPr>
          <a:xfrm>
            <a:off x="548640" y="1280160"/>
            <a:ext cx="6675120" cy="411480"/>
          </a:xfrm>
          <a:prstGeom prst="rect">
            <a:avLst/>
          </a:prstGeom>
          <a:noFill/>
          <a:ln/>
        </p:spPr>
        <p:txBody>
          <a:bodyPr wrap="square" lIns="635" tIns="635" rIns="635" bIns="635" rtlCol="0" anchor="t"/>
          <a:lstStyle/>
          <a:p>
            <a:pPr indent="0" marL="0">
              <a:buNone/>
            </a:pPr>
            <a:r>
              <a:rPr lang="ru-RU" altLang="en-US" sz="2000" dirty="0">
                <a:solidFill>
                  <a:schemeClr val="tx1"/>
                </a:solidFill>
              </a:rPr>
              <a:t>Таблица 1 – Показания дозиметра на этапах полёта [1]</a:t>
            </a:r>
            <a:endParaRPr lang="ru-RU" sz="2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6675120" cy="914400"/>
        </p:xfrm>
        <a:graphic>
          <a:graphicData uri="http://schemas.openxmlformats.org/drawingml/2006/table">
            <a:tbl>
              <a:tblPr/>
              <a:tblGrid>
                <a:gridCol w="2194560"/>
                <a:gridCol w="1417320"/>
                <a:gridCol w="1417320"/>
                <a:gridCol w="1645920"/>
              </a:tblGrid>
              <a:tr h="502920">
                <a:tc>
                  <a:txBody>
                    <a:bodyPr/>
                    <a:lstStyle/>
                    <a:p>
                      <a:pPr algn="ctr" indent="0" marL="0">
                        <a:buNone/>
                      </a:pPr>
                      <a:r>
                        <a:rPr lang="ru-RU" sz="1800" b="1" dirty="0">
                          <a:solidFill>
                            <a:schemeClr val="tx1"/>
                          </a:solidFill>
                          <a:latin typeface="Times New Roman" pitchFamily="34" charset="0"/>
                          <a:ea typeface="Times New Roman" pitchFamily="34" charset="-122"/>
                          <a:cs typeface="Times New Roman" pitchFamily="34" charset="-120"/>
                        </a:rPr>
                        <a:t>Место измерения</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ru-RU" sz="1800" b="1" dirty="0">
                          <a:solidFill>
                            <a:schemeClr val="tx1"/>
                          </a:solidFill>
                          <a:latin typeface="Times New Roman" pitchFamily="34" charset="0"/>
                          <a:ea typeface="Times New Roman" pitchFamily="34" charset="-122"/>
                          <a:cs typeface="Times New Roman" pitchFamily="34" charset="-120"/>
                        </a:rPr>
                        <a:t>Этап полёта</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ru-RU" sz="1800" b="1" dirty="0">
                          <a:solidFill>
                            <a:schemeClr val="tx1"/>
                          </a:solidFill>
                          <a:latin typeface="Times New Roman" pitchFamily="34" charset="0"/>
                          <a:ea typeface="Times New Roman" pitchFamily="34" charset="-122"/>
                          <a:cs typeface="Times New Roman" pitchFamily="34" charset="-120"/>
                        </a:rPr>
                        <a:t>Высота, фут</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ru-RU" sz="1800" b="1" dirty="0">
                          <a:solidFill>
                            <a:schemeClr val="tx1"/>
                          </a:solidFill>
                          <a:latin typeface="Times New Roman" pitchFamily="34" charset="0"/>
                          <a:ea typeface="Times New Roman" pitchFamily="34" charset="-122"/>
                          <a:cs typeface="Times New Roman" pitchFamily="34" charset="-120"/>
                        </a:rPr>
                        <a:t>Показания, мкР/ч</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2920">
                <a:tc>
                  <a:txBody>
                    <a:bodyPr/>
                    <a:lstStyle/>
                    <a:p>
                      <a:pPr algn="l" indent="0" marL="0">
                        <a:buNone/>
                      </a:pPr>
                      <a:r>
                        <a:rPr lang="ru-RU" sz="1800" dirty="0">
                          <a:solidFill>
                            <a:schemeClr val="tx1"/>
                          </a:solidFill>
                          <a:latin typeface="Times New Roman" pitchFamily="34" charset="0"/>
                          <a:ea typeface="Times New Roman" pitchFamily="34" charset="-122"/>
                          <a:cs typeface="Times New Roman" pitchFamily="34" charset="-120"/>
                        </a:rPr>
                        <a:t>Новокузнецк</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ru-RU" sz="1800" dirty="0">
                          <a:solidFill>
                            <a:schemeClr val="tx1"/>
                          </a:solidFill>
                          <a:latin typeface="Times New Roman" pitchFamily="34" charset="0"/>
                          <a:ea typeface="Times New Roman" pitchFamily="34" charset="-122"/>
                          <a:cs typeface="Times New Roman" pitchFamily="34" charset="-120"/>
                        </a:rPr>
                        <a:t>взлёт</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ru-RU" sz="1800" dirty="0">
                          <a:solidFill>
                            <a:schemeClr val="tx1"/>
                          </a:solidFill>
                          <a:latin typeface="Times New Roman" pitchFamily="34" charset="0"/>
                          <a:ea typeface="Times New Roman" pitchFamily="34" charset="-122"/>
                          <a:cs typeface="Times New Roman" pitchFamily="34" charset="-120"/>
                        </a:rPr>
                        <a:t>1023</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ru-RU" sz="1800" dirty="0">
                          <a:solidFill>
                            <a:schemeClr val="tx1"/>
                          </a:solidFill>
                          <a:latin typeface="Times New Roman" pitchFamily="34" charset="0"/>
                          <a:ea typeface="Times New Roman" pitchFamily="34" charset="-122"/>
                          <a:cs typeface="Times New Roman" pitchFamily="34" charset="-120"/>
                        </a:rPr>
                        <a:t>10,8</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2920">
                <a:tc>
                  <a:txBody>
                    <a:bodyPr/>
                    <a:lstStyle/>
                    <a:p>
                      <a:pPr algn="l" indent="0" marL="0">
                        <a:buNone/>
                      </a:pPr>
                      <a:r>
                        <a:rPr lang="ru-RU" sz="1800" dirty="0">
                          <a:solidFill>
                            <a:schemeClr val="tx1"/>
                          </a:solidFill>
                          <a:latin typeface="Times New Roman" pitchFamily="34" charset="0"/>
                          <a:ea typeface="Times New Roman" pitchFamily="34" charset="-122"/>
                          <a:cs typeface="Times New Roman" pitchFamily="34" charset="-120"/>
                        </a:rPr>
                        <a:t>т. NILRA</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ru-RU" sz="1800" dirty="0">
                          <a:solidFill>
                            <a:schemeClr val="tx1"/>
                          </a:solidFill>
                          <a:latin typeface="Times New Roman" pitchFamily="34" charset="0"/>
                          <a:ea typeface="Times New Roman" pitchFamily="34" charset="-122"/>
                          <a:cs typeface="Times New Roman" pitchFamily="34" charset="-120"/>
                        </a:rPr>
                        <a:t>полёт</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ru-RU" sz="1800" dirty="0">
                          <a:solidFill>
                            <a:schemeClr val="tx1"/>
                          </a:solidFill>
                          <a:latin typeface="Times New Roman" pitchFamily="34" charset="0"/>
                          <a:ea typeface="Times New Roman" pitchFamily="34" charset="-122"/>
                          <a:cs typeface="Times New Roman" pitchFamily="34" charset="-120"/>
                        </a:rPr>
                        <a:t>35 000</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ru-RU" sz="1800" dirty="0">
                          <a:solidFill>
                            <a:schemeClr val="tx1"/>
                          </a:solidFill>
                          <a:latin typeface="Times New Roman" pitchFamily="34" charset="0"/>
                          <a:ea typeface="Times New Roman" pitchFamily="34" charset="-122"/>
                          <a:cs typeface="Times New Roman" pitchFamily="34" charset="-120"/>
                        </a:rPr>
                        <a:t>184,0</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2920">
                <a:tc>
                  <a:txBody>
                    <a:bodyPr/>
                    <a:lstStyle/>
                    <a:p>
                      <a:pPr algn="l" indent="0" marL="0">
                        <a:buNone/>
                      </a:pPr>
                      <a:r>
                        <a:rPr lang="ru-RU" sz="1800" dirty="0">
                          <a:solidFill>
                            <a:schemeClr val="tx1"/>
                          </a:solidFill>
                          <a:latin typeface="Times New Roman" pitchFamily="34" charset="0"/>
                          <a:ea typeface="Times New Roman" pitchFamily="34" charset="-122"/>
                          <a:cs typeface="Times New Roman" pitchFamily="34" charset="-120"/>
                        </a:rPr>
                        <a:t>Иркутск</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ru-RU" sz="1800" dirty="0">
                          <a:solidFill>
                            <a:schemeClr val="tx1"/>
                          </a:solidFill>
                          <a:latin typeface="Times New Roman" pitchFamily="34" charset="0"/>
                          <a:ea typeface="Times New Roman" pitchFamily="34" charset="-122"/>
                          <a:cs typeface="Times New Roman" pitchFamily="34" charset="-120"/>
                        </a:rPr>
                        <a:t>посадка</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ru-RU" sz="1800" dirty="0">
                          <a:solidFill>
                            <a:schemeClr val="tx1"/>
                          </a:solidFill>
                          <a:latin typeface="Times New Roman" pitchFamily="34" charset="0"/>
                          <a:ea typeface="Times New Roman" pitchFamily="34" charset="-122"/>
                          <a:cs typeface="Times New Roman" pitchFamily="34" charset="-120"/>
                        </a:rPr>
                        <a:t>1575</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ru-RU" sz="1800" dirty="0">
                          <a:solidFill>
                            <a:schemeClr val="tx1"/>
                          </a:solidFill>
                          <a:latin typeface="Times New Roman" pitchFamily="34" charset="0"/>
                          <a:ea typeface="Times New Roman" pitchFamily="34" charset="-122"/>
                          <a:cs typeface="Times New Roman" pitchFamily="34" charset="-120"/>
                        </a:rPr>
                        <a:t>11,0</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2920">
                <a:tc>
                  <a:txBody>
                    <a:bodyPr/>
                    <a:lstStyle/>
                    <a:p>
                      <a:pPr algn="l" indent="0" marL="0">
                        <a:buNone/>
                      </a:pPr>
                      <a:r>
                        <a:rPr lang="ru-RU" sz="1800" dirty="0">
                          <a:solidFill>
                            <a:schemeClr val="tx1"/>
                          </a:solidFill>
                          <a:latin typeface="Times New Roman" pitchFamily="34" charset="0"/>
                          <a:ea typeface="Times New Roman" pitchFamily="34" charset="-122"/>
                          <a:cs typeface="Times New Roman" pitchFamily="34" charset="-120"/>
                        </a:rPr>
                        <a:t>Екатеринбург</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ru-RU" sz="1800" dirty="0">
                          <a:solidFill>
                            <a:schemeClr val="tx1"/>
                          </a:solidFill>
                          <a:latin typeface="Times New Roman" pitchFamily="34" charset="0"/>
                          <a:ea typeface="Times New Roman" pitchFamily="34" charset="-122"/>
                          <a:cs typeface="Times New Roman" pitchFamily="34" charset="-120"/>
                        </a:rPr>
                        <a:t>взлёт</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ru-RU" sz="1800" dirty="0">
                          <a:solidFill>
                            <a:schemeClr val="tx1"/>
                          </a:solidFill>
                          <a:latin typeface="Times New Roman" pitchFamily="34" charset="0"/>
                          <a:ea typeface="Times New Roman" pitchFamily="34" charset="-122"/>
                          <a:cs typeface="Times New Roman" pitchFamily="34" charset="-120"/>
                        </a:rPr>
                        <a:t>740</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ru-RU" sz="1800" dirty="0">
                          <a:solidFill>
                            <a:schemeClr val="tx1"/>
                          </a:solidFill>
                          <a:latin typeface="Times New Roman" pitchFamily="34" charset="0"/>
                          <a:ea typeface="Times New Roman" pitchFamily="34" charset="-122"/>
                          <a:cs typeface="Times New Roman" pitchFamily="34" charset="-120"/>
                        </a:rPr>
                        <a:t>7,8</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2920">
                <a:tc>
                  <a:txBody>
                    <a:bodyPr/>
                    <a:lstStyle/>
                    <a:p>
                      <a:pPr algn="l" indent="0" marL="0">
                        <a:buNone/>
                      </a:pPr>
                      <a:r>
                        <a:rPr lang="ru-RU" sz="1800" dirty="0">
                          <a:solidFill>
                            <a:schemeClr val="tx1"/>
                          </a:solidFill>
                          <a:latin typeface="Times New Roman" pitchFamily="34" charset="0"/>
                          <a:ea typeface="Times New Roman" pitchFamily="34" charset="-122"/>
                          <a:cs typeface="Times New Roman" pitchFamily="34" charset="-120"/>
                        </a:rPr>
                        <a:t>т. NAPOR</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ru-RU" sz="1800" dirty="0">
                          <a:solidFill>
                            <a:schemeClr val="tx1"/>
                          </a:solidFill>
                          <a:latin typeface="Times New Roman" pitchFamily="34" charset="0"/>
                          <a:ea typeface="Times New Roman" pitchFamily="34" charset="-122"/>
                          <a:cs typeface="Times New Roman" pitchFamily="34" charset="-120"/>
                        </a:rPr>
                        <a:t>полёт</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ru-RU" sz="1800" dirty="0">
                          <a:solidFill>
                            <a:schemeClr val="tx1"/>
                          </a:solidFill>
                          <a:latin typeface="Times New Roman" pitchFamily="34" charset="0"/>
                          <a:ea typeface="Times New Roman" pitchFamily="34" charset="-122"/>
                          <a:cs typeface="Times New Roman" pitchFamily="34" charset="-120"/>
                        </a:rPr>
                        <a:t>33 055</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ru-RU" sz="1800" dirty="0">
                          <a:solidFill>
                            <a:schemeClr val="tx1"/>
                          </a:solidFill>
                          <a:latin typeface="Times New Roman" pitchFamily="34" charset="0"/>
                          <a:ea typeface="Times New Roman" pitchFamily="34" charset="-122"/>
                          <a:cs typeface="Times New Roman" pitchFamily="34" charset="-120"/>
                        </a:rPr>
                        <a:t>170,0</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2920">
                <a:tc>
                  <a:txBody>
                    <a:bodyPr/>
                    <a:lstStyle/>
                    <a:p>
                      <a:pPr algn="l" indent="0" marL="0">
                        <a:buNone/>
                      </a:pPr>
                      <a:r>
                        <a:rPr lang="ru-RU" sz="1800" dirty="0">
                          <a:solidFill>
                            <a:schemeClr val="tx1"/>
                          </a:solidFill>
                          <a:latin typeface="Times New Roman" pitchFamily="34" charset="0"/>
                          <a:ea typeface="Times New Roman" pitchFamily="34" charset="-122"/>
                          <a:cs typeface="Times New Roman" pitchFamily="34" charset="-120"/>
                        </a:rPr>
                        <a:t>Чита</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ru-RU" sz="1800" dirty="0">
                          <a:solidFill>
                            <a:schemeClr val="tx1"/>
                          </a:solidFill>
                          <a:latin typeface="Times New Roman" pitchFamily="34" charset="0"/>
                          <a:ea typeface="Times New Roman" pitchFamily="34" charset="-122"/>
                          <a:cs typeface="Times New Roman" pitchFamily="34" charset="-120"/>
                        </a:rPr>
                        <a:t>посадка</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ru-RU" sz="1800" dirty="0">
                          <a:solidFill>
                            <a:schemeClr val="tx1"/>
                          </a:solidFill>
                          <a:latin typeface="Times New Roman" pitchFamily="34" charset="0"/>
                          <a:ea typeface="Times New Roman" pitchFamily="34" charset="-122"/>
                          <a:cs typeface="Times New Roman" pitchFamily="34" charset="-120"/>
                        </a:rPr>
                        <a:t>2220</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ru-RU" sz="1800" dirty="0">
                          <a:solidFill>
                            <a:schemeClr val="tx1"/>
                          </a:solidFill>
                          <a:latin typeface="Times New Roman" pitchFamily="34" charset="0"/>
                          <a:ea typeface="Times New Roman" pitchFamily="34" charset="-122"/>
                          <a:cs typeface="Times New Roman" pitchFamily="34" charset="-120"/>
                        </a:rPr>
                        <a:t>15,0</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 name="Text 2"/>
          <p:cNvSpPr txBox="1"/>
          <p:nvPr/>
        </p:nvSpPr>
        <p:spPr>
          <a:xfrm>
            <a:off x="7543800" y="1737360"/>
            <a:ext cx="4099255" cy="4480560"/>
          </a:xfrm>
          <a:prstGeom prst="rect">
            <a:avLst/>
          </a:prstGeom>
          <a:noFill/>
          <a:ln/>
        </p:spPr>
        <p:txBody>
          <a:bodyPr wrap="square" lIns="635" tIns="635" rIns="635" bIns="635" rtlCol="0" anchor="t"/>
          <a:lstStyle/>
          <a:p>
            <a:pPr algn="l" marL="304800" indent="-304800">
              <a:spcAft>
                <a:spcPts val="1000"/>
              </a:spcAft>
              <a:buSzPct val="100000"/>
              <a:buChar char="–"/>
            </a:pPr>
            <a:r>
              <a:rPr lang="ru-RU" altLang="en-US" sz="2200" dirty="0">
                <a:solidFill>
                  <a:schemeClr val="tx1"/>
                </a:solidFill>
              </a:rPr>
              <a:t>на эшелоне показания в 11–⁠22 раза выше, чем у земли</a:t>
            </a:r>
            <a:endParaRPr lang="ru-RU" sz="2200" dirty="0"/>
          </a:p>
          <a:p>
            <a:pPr algn="l" marL="304800" indent="-304800">
              <a:spcAft>
                <a:spcPts val="1000"/>
              </a:spcAft>
              <a:buSzPct val="100000"/>
              <a:buChar char="–"/>
            </a:pPr>
            <a:r>
              <a:rPr lang="ru-RU" altLang="en-US" sz="2200" dirty="0">
                <a:solidFill>
                  <a:schemeClr val="tx1"/>
                </a:solidFill>
              </a:rPr>
              <a:t>счётчик Гейгера почти не регистрирует нейтроны</a:t>
            </a:r>
            <a:endParaRPr lang="ru-RU" sz="2200" dirty="0"/>
          </a:p>
          <a:p>
            <a:pPr algn="l" marL="304800" indent="-304800">
              <a:spcAft>
                <a:spcPts val="1000"/>
              </a:spcAft>
              <a:buSzPct val="100000"/>
              <a:buChar char="–"/>
            </a:pPr>
            <a:r>
              <a:rPr lang="ru-RU" altLang="en-US" sz="2200" dirty="0">
                <a:solidFill>
                  <a:schemeClr val="tx1"/>
                </a:solidFill>
              </a:rPr>
              <a:t>поэтому годовую дозу определяют расчётом по маршрутам и времени полёта [3]</a:t>
            </a:r>
            <a:endParaRPr lang="ru-RU" sz="2200" dirty="0"/>
          </a:p>
        </p:txBody>
      </p:sp>
      <p:sp>
        <p:nvSpPr>
          <p:cNvPr id="25" name="Slide Number Placeholder 0"/>
          <p:cNvSpPr>
            <a:spLocks noGrp="1"/>
          </p:cNvSpPr>
          <p:nvPr>
            <p:ph type="sldNum" sz="quarter" idx="4294967295"/>
          </p:nvPr>
        </p:nvSpPr>
        <p:spPr>
          <a:xfrm>
            <a:off x="11002975" y="635508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ru-RU"/>
              <a:t>4</a:t>
            </a:fld>
            <a:endParaRPr lang="ru-RU"/>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1325880" y="274320"/>
            <a:ext cx="9539935" cy="914400"/>
          </a:xfrm>
          <a:prstGeom prst="rect">
            <a:avLst/>
          </a:prstGeom>
          <a:noFill/>
          <a:ln/>
        </p:spPr>
        <p:txBody>
          <a:bodyPr wrap="square" lIns="635" tIns="635" rIns="635" bIns="635" rtlCol="0" anchor="ctr"/>
          <a:lstStyle/>
          <a:p>
            <a:pPr algn="ctr" indent="0" marL="0">
              <a:buNone/>
            </a:pPr>
            <a:r>
              <a:rPr lang="ru-RU" altLang="en-US" sz="3200" b="1" dirty="0">
                <a:solidFill>
                  <a:schemeClr val="tx1"/>
                </a:solidFill>
              </a:rPr>
              <a:t>Показания на рейсе Новокузнецк – Иркутск</a:t>
            </a:r>
            <a:endParaRPr lang="ru-RU" sz="3200" dirty="0"/>
          </a:p>
        </p:txBody>
      </p:sp>
      <p:pic>
        <p:nvPicPr>
          <p:cNvPr id="3" name="Image 0" descr="Дозиметр перед взлётом в аэропорту Новокузнецк: 13,2 мкР/ч">    </p:cNvPr>
          <p:cNvPicPr>
            <a:picLocks noChangeAspect="1"/>
          </p:cNvPicPr>
          <p:nvPr/>
        </p:nvPicPr>
        <p:blipFill>
          <a:blip r:embed="rId1"/>
          <a:stretch>
            <a:fillRect/>
          </a:stretch>
        </p:blipFill>
        <p:spPr>
          <a:xfrm>
            <a:off x="548640" y="1234440"/>
            <a:ext cx="2606040" cy="3694176"/>
          </a:xfrm>
          <a:prstGeom prst="rect">
            <a:avLst/>
          </a:prstGeom>
        </p:spPr>
      </p:pic>
      <p:sp>
        <p:nvSpPr>
          <p:cNvPr id="4" name="Text 1"/>
          <p:cNvSpPr txBox="1"/>
          <p:nvPr/>
        </p:nvSpPr>
        <p:spPr>
          <a:xfrm>
            <a:off x="457200" y="4974336"/>
            <a:ext cx="2788920" cy="320040"/>
          </a:xfrm>
          <a:prstGeom prst="rect">
            <a:avLst/>
          </a:prstGeom>
          <a:noFill/>
          <a:ln/>
        </p:spPr>
        <p:txBody>
          <a:bodyPr wrap="square" lIns="635" tIns="635" rIns="635" bIns="635" rtlCol="0" anchor="t"/>
          <a:lstStyle/>
          <a:p>
            <a:pPr algn="ctr" indent="0" marL="0">
              <a:buNone/>
            </a:pPr>
            <a:r>
              <a:rPr lang="ru-RU" altLang="en-US" sz="1400" dirty="0">
                <a:solidFill>
                  <a:schemeClr val="tx1"/>
                </a:solidFill>
              </a:rPr>
              <a:t>а</a:t>
            </a:r>
            <a:endParaRPr lang="ru-RU" sz="1400" dirty="0"/>
          </a:p>
        </p:txBody>
      </p:sp>
      <p:pic>
        <p:nvPicPr>
          <p:cNvPr id="5" name="Image 1" descr="Дозиметр на эшелоне FL350: 194,8 мкР/ч">    </p:cNvPr>
          <p:cNvPicPr>
            <a:picLocks noChangeAspect="1"/>
          </p:cNvPicPr>
          <p:nvPr/>
        </p:nvPicPr>
        <p:blipFill>
          <a:blip r:embed="rId2"/>
          <a:stretch>
            <a:fillRect/>
          </a:stretch>
        </p:blipFill>
        <p:spPr>
          <a:xfrm>
            <a:off x="3378098" y="1234440"/>
            <a:ext cx="2606040" cy="3694176"/>
          </a:xfrm>
          <a:prstGeom prst="rect">
            <a:avLst/>
          </a:prstGeom>
        </p:spPr>
      </p:pic>
      <p:sp>
        <p:nvSpPr>
          <p:cNvPr id="6" name="Text 2"/>
          <p:cNvSpPr txBox="1"/>
          <p:nvPr/>
        </p:nvSpPr>
        <p:spPr>
          <a:xfrm>
            <a:off x="3286658" y="4974336"/>
            <a:ext cx="2788920" cy="320040"/>
          </a:xfrm>
          <a:prstGeom prst="rect">
            <a:avLst/>
          </a:prstGeom>
          <a:noFill/>
          <a:ln/>
        </p:spPr>
        <p:txBody>
          <a:bodyPr wrap="square" lIns="635" tIns="635" rIns="635" bIns="635" rtlCol="0" anchor="t"/>
          <a:lstStyle/>
          <a:p>
            <a:pPr algn="ctr" indent="0" marL="0">
              <a:buNone/>
            </a:pPr>
            <a:r>
              <a:rPr lang="ru-RU" altLang="en-US" sz="1400" dirty="0">
                <a:solidFill>
                  <a:schemeClr val="tx1"/>
                </a:solidFill>
              </a:rPr>
              <a:t>б</a:t>
            </a:r>
            <a:endParaRPr lang="ru-RU" sz="1400" dirty="0"/>
          </a:p>
        </p:txBody>
      </p:sp>
      <p:pic>
        <p:nvPicPr>
          <p:cNvPr id="7" name="Image 2" descr="Дозиметр после посадки в аэропорту Иркутск: 9,9 мкР/ч">    </p:cNvPr>
          <p:cNvPicPr>
            <a:picLocks noChangeAspect="1"/>
          </p:cNvPicPr>
          <p:nvPr/>
        </p:nvPicPr>
        <p:blipFill>
          <a:blip r:embed="rId3"/>
          <a:stretch>
            <a:fillRect/>
          </a:stretch>
        </p:blipFill>
        <p:spPr>
          <a:xfrm>
            <a:off x="6207557" y="1234440"/>
            <a:ext cx="2606040" cy="3694176"/>
          </a:xfrm>
          <a:prstGeom prst="rect">
            <a:avLst/>
          </a:prstGeom>
        </p:spPr>
      </p:pic>
      <p:sp>
        <p:nvSpPr>
          <p:cNvPr id="8" name="Text 3"/>
          <p:cNvSpPr txBox="1"/>
          <p:nvPr/>
        </p:nvSpPr>
        <p:spPr>
          <a:xfrm>
            <a:off x="6116117" y="4974336"/>
            <a:ext cx="2788920" cy="320040"/>
          </a:xfrm>
          <a:prstGeom prst="rect">
            <a:avLst/>
          </a:prstGeom>
          <a:noFill/>
          <a:ln/>
        </p:spPr>
        <p:txBody>
          <a:bodyPr wrap="square" lIns="635" tIns="635" rIns="635" bIns="635" rtlCol="0" anchor="t"/>
          <a:lstStyle/>
          <a:p>
            <a:pPr algn="ctr" indent="0" marL="0">
              <a:buNone/>
            </a:pPr>
            <a:r>
              <a:rPr lang="ru-RU" altLang="en-US" sz="1400" dirty="0">
                <a:solidFill>
                  <a:schemeClr val="tx1"/>
                </a:solidFill>
              </a:rPr>
              <a:t>в</a:t>
            </a:r>
            <a:endParaRPr lang="ru-RU" sz="1400" dirty="0"/>
          </a:p>
        </p:txBody>
      </p:sp>
      <p:pic>
        <p:nvPicPr>
          <p:cNvPr id="9" name="Image 3" descr="Пилотажный дисплей: эшелон FL350, точка NILRA в 0,6 NM">    </p:cNvPr>
          <p:cNvPicPr>
            <a:picLocks noChangeAspect="1"/>
          </p:cNvPicPr>
          <p:nvPr/>
        </p:nvPicPr>
        <p:blipFill>
          <a:blip r:embed="rId4"/>
          <a:stretch>
            <a:fillRect/>
          </a:stretch>
        </p:blipFill>
        <p:spPr>
          <a:xfrm>
            <a:off x="9037015" y="1234440"/>
            <a:ext cx="2606040" cy="3694176"/>
          </a:xfrm>
          <a:prstGeom prst="rect">
            <a:avLst/>
          </a:prstGeom>
        </p:spPr>
      </p:pic>
      <p:sp>
        <p:nvSpPr>
          <p:cNvPr id="10" name="Text 4"/>
          <p:cNvSpPr txBox="1"/>
          <p:nvPr/>
        </p:nvSpPr>
        <p:spPr>
          <a:xfrm>
            <a:off x="8945575" y="4974336"/>
            <a:ext cx="2788920" cy="320040"/>
          </a:xfrm>
          <a:prstGeom prst="rect">
            <a:avLst/>
          </a:prstGeom>
          <a:noFill/>
          <a:ln/>
        </p:spPr>
        <p:txBody>
          <a:bodyPr wrap="square" lIns="635" tIns="635" rIns="635" bIns="635" rtlCol="0" anchor="t"/>
          <a:lstStyle/>
          <a:p>
            <a:pPr algn="ctr" indent="0" marL="0">
              <a:buNone/>
            </a:pPr>
            <a:r>
              <a:rPr lang="ru-RU" altLang="en-US" sz="1400" dirty="0">
                <a:solidFill>
                  <a:schemeClr val="tx1"/>
                </a:solidFill>
              </a:rPr>
              <a:t>г</a:t>
            </a:r>
            <a:endParaRPr lang="ru-RU" sz="1400" dirty="0"/>
          </a:p>
        </p:txBody>
      </p:sp>
      <p:sp>
        <p:nvSpPr>
          <p:cNvPr id="11" name="Подпись"/>
          <p:cNvSpPr txBox="1"/>
          <p:nvPr/>
        </p:nvSpPr>
        <p:spPr>
          <a:xfrm>
            <a:off x="548640" y="5440680"/>
            <a:ext cx="11094415" cy="731520"/>
          </a:xfrm>
          <a:prstGeom prst="rect">
            <a:avLst/>
          </a:prstGeom>
          <a:noFill/>
          <a:ln/>
        </p:spPr>
        <p:txBody>
          <a:bodyPr wrap="square" lIns="635" tIns="635" rIns="635" bIns="635" rtlCol="0" anchor="t"/>
          <a:lstStyle/>
          <a:p>
            <a:pPr algn="ctr" indent="0" marL="0">
              <a:buNone/>
            </a:pPr>
            <a:r>
              <a:rPr lang="ru-RU" altLang="en-US" sz="1600" dirty="0">
                <a:solidFill>
                  <a:schemeClr val="tx1"/>
                </a:solidFill>
              </a:rPr>
              <a:t>Рисунок 1 – Показания дозиметра: а – перед взлётом (13,2 мкР/ч); б – на эшелоне FL350 (194,8 мкР/ч); в – после посадки (9,9 мкР/ч); г – точка NILRA на пилотажном дисплее</a:t>
            </a:r>
            <a:endParaRPr lang="ru-RU" sz="1600" dirty="0"/>
          </a:p>
        </p:txBody>
      </p:sp>
      <p:sp>
        <p:nvSpPr>
          <p:cNvPr id="25" name="Slide Number Placeholder 0"/>
          <p:cNvSpPr>
            <a:spLocks noGrp="1"/>
          </p:cNvSpPr>
          <p:nvPr>
            <p:ph type="sldNum" sz="quarter" idx="4294967295"/>
          </p:nvPr>
        </p:nvSpPr>
        <p:spPr>
          <a:xfrm>
            <a:off x="11002975" y="635508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ru-RU"/>
              <a:t>5</a:t>
            </a:fld>
            <a:endParaRPr lang="ru-RU"/>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1325880" y="274320"/>
            <a:ext cx="9539935" cy="914400"/>
          </a:xfrm>
          <a:prstGeom prst="rect">
            <a:avLst/>
          </a:prstGeom>
          <a:noFill/>
          <a:ln/>
        </p:spPr>
        <p:txBody>
          <a:bodyPr wrap="square" lIns="635" tIns="635" rIns="635" bIns="635" rtlCol="0" anchor="ctr"/>
          <a:lstStyle/>
          <a:p>
            <a:pPr algn="ctr" indent="0" marL="0">
              <a:buNone/>
            </a:pPr>
            <a:r>
              <a:rPr lang="ru-RU" altLang="en-US" sz="3200" b="1" dirty="0">
                <a:solidFill>
                  <a:schemeClr val="tx1"/>
                </a:solidFill>
              </a:rPr>
              <a:t>Действующее правовое регулирование</a:t>
            </a:r>
            <a:endParaRPr lang="ru-RU" sz="3200" dirty="0"/>
          </a:p>
        </p:txBody>
      </p:sp>
      <p:sp>
        <p:nvSpPr>
          <p:cNvPr id="3" name="Shape 1"/>
          <p:cNvSpPr/>
          <p:nvPr/>
        </p:nvSpPr>
        <p:spPr>
          <a:xfrm>
            <a:off x="1737360" y="1234440"/>
            <a:ext cx="8714232" cy="777240"/>
          </a:xfrm>
          <a:prstGeom prst="rect">
            <a:avLst/>
          </a:prstGeom>
          <a:solidFill>
            <a:schemeClr val="bg1"/>
          </a:solidFill>
          <a:ln w="12700">
            <a:solidFill>
              <a:schemeClr val="tx1"/>
            </a:solidFill>
            <a:prstDash val="solid"/>
          </a:ln>
        </p:spPr>
      </p:sp>
      <p:sp>
        <p:nvSpPr>
          <p:cNvPr id="4" name="Text 2"/>
          <p:cNvSpPr txBox="1"/>
          <p:nvPr/>
        </p:nvSpPr>
        <p:spPr>
          <a:xfrm>
            <a:off x="1828800" y="1271016"/>
            <a:ext cx="8531352" cy="704088"/>
          </a:xfrm>
          <a:prstGeom prst="rect">
            <a:avLst/>
          </a:prstGeom>
          <a:noFill/>
          <a:ln/>
        </p:spPr>
        <p:txBody>
          <a:bodyPr wrap="square" lIns="635" tIns="635" rIns="635" bIns="635" rtlCol="0" anchor="ctr"/>
          <a:lstStyle/>
          <a:p>
            <a:pPr algn="ctr" indent="0" marL="0">
              <a:buNone/>
            </a:pPr>
            <a:r>
              <a:rPr lang="ru-RU" altLang="en-US" sz="1600" b="1" dirty="0">
                <a:solidFill>
                  <a:schemeClr val="tx1"/>
                </a:solidFill>
              </a:rPr>
              <a:t>Федеральные законы</a:t>
            </a:r>
            <a:endParaRPr lang="ru-RU" sz="1600" dirty="0"/>
          </a:p>
          <a:p>
            <a:pPr algn="ctr" indent="0" marL="0">
              <a:buNone/>
            </a:pPr>
            <a:r>
              <a:rPr lang="ru-RU" altLang="en-US" sz="1600" dirty="0">
                <a:solidFill>
                  <a:schemeClr val="tx1"/>
                </a:solidFill>
              </a:rPr>
              <a:t>№ 3‑ФЗ (ст. 18), № 52‑ФЗ, Воздушный кодекс РФ (ст. 56), Трудовой кодекс РФ (ст. 214, 254, 329)</a:t>
            </a:r>
            <a:endParaRPr lang="ru-RU" sz="1600" dirty="0"/>
          </a:p>
        </p:txBody>
      </p:sp>
      <p:sp>
        <p:nvSpPr>
          <p:cNvPr id="5" name="Shape 3"/>
          <p:cNvSpPr/>
          <p:nvPr/>
        </p:nvSpPr>
        <p:spPr>
          <a:xfrm>
            <a:off x="548640" y="2423160"/>
            <a:ext cx="3429000" cy="1097280"/>
          </a:xfrm>
          <a:prstGeom prst="rect">
            <a:avLst/>
          </a:prstGeom>
          <a:solidFill>
            <a:schemeClr val="bg1"/>
          </a:solidFill>
          <a:ln w="12700">
            <a:solidFill>
              <a:schemeClr val="tx1"/>
            </a:solidFill>
            <a:prstDash val="solid"/>
          </a:ln>
        </p:spPr>
      </p:sp>
      <p:sp>
        <p:nvSpPr>
          <p:cNvPr id="6" name="Text 4"/>
          <p:cNvSpPr txBox="1"/>
          <p:nvPr/>
        </p:nvSpPr>
        <p:spPr>
          <a:xfrm>
            <a:off x="640080" y="2459736"/>
            <a:ext cx="3246120" cy="1024128"/>
          </a:xfrm>
          <a:prstGeom prst="rect">
            <a:avLst/>
          </a:prstGeom>
          <a:noFill/>
          <a:ln/>
        </p:spPr>
        <p:txBody>
          <a:bodyPr wrap="square" lIns="635" tIns="635" rIns="635" bIns="635" rtlCol="0" anchor="ctr"/>
          <a:lstStyle/>
          <a:p>
            <a:pPr algn="ctr" indent="0" marL="0">
              <a:buNone/>
            </a:pPr>
            <a:r>
              <a:rPr lang="ru-RU" altLang="en-US" sz="1600" b="1" dirty="0">
                <a:solidFill>
                  <a:schemeClr val="tx1"/>
                </a:solidFill>
              </a:rPr>
              <a:t>Санитарные нормы</a:t>
            </a:r>
            <a:endParaRPr lang="ru-RU" sz="1600" dirty="0"/>
          </a:p>
          <a:p>
            <a:pPr algn="ctr" indent="0" marL="0">
              <a:buNone/>
            </a:pPr>
            <a:r>
              <a:rPr lang="ru-RU" altLang="en-US" sz="1600" dirty="0">
                <a:solidFill>
                  <a:schemeClr val="tx1"/>
                </a:solidFill>
              </a:rPr>
              <a:t>НРБ‑99/2009, пп. 4.1, 4.3: не более 5 мЗв в год</a:t>
            </a:r>
            <a:endParaRPr lang="ru-RU" sz="1600" dirty="0"/>
          </a:p>
        </p:txBody>
      </p:sp>
      <p:sp>
        <p:nvSpPr>
          <p:cNvPr id="7" name="Shape 5"/>
          <p:cNvSpPr/>
          <p:nvPr/>
        </p:nvSpPr>
        <p:spPr>
          <a:xfrm>
            <a:off x="2263140" y="2011680"/>
            <a:ext cx="0" cy="411480"/>
          </a:xfrm>
          <a:prstGeom prst="line">
            <a:avLst/>
          </a:prstGeom>
          <a:noFill/>
          <a:ln w="15875">
            <a:solidFill>
              <a:schemeClr val="tx1"/>
            </a:solidFill>
            <a:prstDash val="solid"/>
            <a:tailEnd type="triangle"/>
          </a:ln>
        </p:spPr>
      </p:sp>
      <p:sp>
        <p:nvSpPr>
          <p:cNvPr id="8" name="Shape 6"/>
          <p:cNvSpPr/>
          <p:nvPr/>
        </p:nvSpPr>
        <p:spPr>
          <a:xfrm>
            <a:off x="2263140" y="3520440"/>
            <a:ext cx="2601468" cy="411480"/>
          </a:xfrm>
          <a:prstGeom prst="line">
            <a:avLst/>
          </a:prstGeom>
          <a:noFill/>
          <a:ln w="15875">
            <a:solidFill>
              <a:schemeClr val="tx1"/>
            </a:solidFill>
            <a:prstDash val="solid"/>
            <a:tailEnd type="triangle"/>
          </a:ln>
        </p:spPr>
      </p:sp>
      <p:sp>
        <p:nvSpPr>
          <p:cNvPr id="9" name="Shape 7"/>
          <p:cNvSpPr/>
          <p:nvPr/>
        </p:nvSpPr>
        <p:spPr>
          <a:xfrm>
            <a:off x="4381348" y="2423160"/>
            <a:ext cx="3429000" cy="1097280"/>
          </a:xfrm>
          <a:prstGeom prst="rect">
            <a:avLst/>
          </a:prstGeom>
          <a:solidFill>
            <a:schemeClr val="bg1"/>
          </a:solidFill>
          <a:ln w="12700">
            <a:solidFill>
              <a:schemeClr val="tx1"/>
            </a:solidFill>
            <a:prstDash val="solid"/>
          </a:ln>
        </p:spPr>
      </p:sp>
      <p:sp>
        <p:nvSpPr>
          <p:cNvPr id="10" name="Text 8"/>
          <p:cNvSpPr txBox="1"/>
          <p:nvPr/>
        </p:nvSpPr>
        <p:spPr>
          <a:xfrm>
            <a:off x="4472788" y="2459736"/>
            <a:ext cx="3246120" cy="1024128"/>
          </a:xfrm>
          <a:prstGeom prst="rect">
            <a:avLst/>
          </a:prstGeom>
          <a:noFill/>
          <a:ln/>
        </p:spPr>
        <p:txBody>
          <a:bodyPr wrap="square" lIns="635" tIns="635" rIns="635" bIns="635" rtlCol="0" anchor="ctr"/>
          <a:lstStyle/>
          <a:p>
            <a:pPr algn="ctr" indent="0" marL="0">
              <a:buNone/>
            </a:pPr>
            <a:r>
              <a:rPr lang="ru-RU" altLang="en-US" sz="1600" b="1" dirty="0">
                <a:solidFill>
                  <a:schemeClr val="tx1"/>
                </a:solidFill>
              </a:rPr>
              <a:t>Охрана труда</a:t>
            </a:r>
            <a:endParaRPr lang="ru-RU" sz="1600" dirty="0"/>
          </a:p>
          <a:p>
            <a:pPr algn="ctr" indent="0" marL="0">
              <a:buNone/>
            </a:pPr>
            <a:r>
              <a:rPr lang="ru-RU" altLang="en-US" sz="1600" dirty="0">
                <a:solidFill>
                  <a:schemeClr val="tx1"/>
                </a:solidFill>
              </a:rPr>
              <a:t>приказ Минтруда № 255н: СОУТ в контрольном полёте</a:t>
            </a:r>
            <a:endParaRPr lang="ru-RU" sz="1600" dirty="0"/>
          </a:p>
        </p:txBody>
      </p:sp>
      <p:sp>
        <p:nvSpPr>
          <p:cNvPr id="11" name="Shape 9"/>
          <p:cNvSpPr/>
          <p:nvPr/>
        </p:nvSpPr>
        <p:spPr>
          <a:xfrm>
            <a:off x="6095848" y="2011680"/>
            <a:ext cx="0" cy="411480"/>
          </a:xfrm>
          <a:prstGeom prst="line">
            <a:avLst/>
          </a:prstGeom>
          <a:noFill/>
          <a:ln w="15875">
            <a:solidFill>
              <a:schemeClr val="tx1"/>
            </a:solidFill>
            <a:prstDash val="solid"/>
            <a:tailEnd type="triangle"/>
          </a:ln>
        </p:spPr>
      </p:sp>
      <p:sp>
        <p:nvSpPr>
          <p:cNvPr id="12" name="Shape 10"/>
          <p:cNvSpPr/>
          <p:nvPr/>
        </p:nvSpPr>
        <p:spPr>
          <a:xfrm>
            <a:off x="6095848" y="3520440"/>
            <a:ext cx="3200" cy="411480"/>
          </a:xfrm>
          <a:prstGeom prst="line">
            <a:avLst/>
          </a:prstGeom>
          <a:noFill/>
          <a:ln w="15875">
            <a:solidFill>
              <a:schemeClr val="tx1"/>
            </a:solidFill>
            <a:prstDash val="solid"/>
            <a:tailEnd type="triangle"/>
          </a:ln>
        </p:spPr>
      </p:sp>
      <p:sp>
        <p:nvSpPr>
          <p:cNvPr id="13" name="Shape 11"/>
          <p:cNvSpPr/>
          <p:nvPr/>
        </p:nvSpPr>
        <p:spPr>
          <a:xfrm>
            <a:off x="8214055" y="2423160"/>
            <a:ext cx="3429000" cy="1097280"/>
          </a:xfrm>
          <a:prstGeom prst="rect">
            <a:avLst/>
          </a:prstGeom>
          <a:solidFill>
            <a:schemeClr val="bg1"/>
          </a:solidFill>
          <a:ln w="12700">
            <a:solidFill>
              <a:schemeClr val="tx1"/>
            </a:solidFill>
            <a:prstDash val="solid"/>
          </a:ln>
        </p:spPr>
      </p:sp>
      <p:sp>
        <p:nvSpPr>
          <p:cNvPr id="14" name="Text 12"/>
          <p:cNvSpPr txBox="1"/>
          <p:nvPr/>
        </p:nvSpPr>
        <p:spPr>
          <a:xfrm>
            <a:off x="8305495" y="2459736"/>
            <a:ext cx="3246120" cy="1024128"/>
          </a:xfrm>
          <a:prstGeom prst="rect">
            <a:avLst/>
          </a:prstGeom>
          <a:noFill/>
          <a:ln/>
        </p:spPr>
        <p:txBody>
          <a:bodyPr wrap="square" lIns="635" tIns="635" rIns="635" bIns="635" rtlCol="0" anchor="ctr"/>
          <a:lstStyle/>
          <a:p>
            <a:pPr algn="ctr" indent="0" marL="0">
              <a:buNone/>
            </a:pPr>
            <a:r>
              <a:rPr lang="ru-RU" altLang="en-US" sz="1600" b="1" dirty="0">
                <a:solidFill>
                  <a:schemeClr val="tx1"/>
                </a:solidFill>
              </a:rPr>
              <a:t>Режим труда</a:t>
            </a:r>
            <a:endParaRPr lang="ru-RU" sz="1600" dirty="0"/>
          </a:p>
          <a:p>
            <a:pPr algn="ctr" indent="0" marL="0">
              <a:buNone/>
            </a:pPr>
            <a:r>
              <a:rPr lang="ru-RU" altLang="en-US" sz="1600" dirty="0">
                <a:solidFill>
                  <a:schemeClr val="tx1"/>
                </a:solidFill>
              </a:rPr>
              <a:t>приказ Минтранса № 381: до 800 ч в год, с согласия – до 900 ч</a:t>
            </a:r>
            <a:endParaRPr lang="ru-RU" sz="1600" dirty="0"/>
          </a:p>
        </p:txBody>
      </p:sp>
      <p:sp>
        <p:nvSpPr>
          <p:cNvPr id="15" name="Shape 13"/>
          <p:cNvSpPr/>
          <p:nvPr/>
        </p:nvSpPr>
        <p:spPr>
          <a:xfrm>
            <a:off x="9928555" y="2011680"/>
            <a:ext cx="0" cy="411480"/>
          </a:xfrm>
          <a:prstGeom prst="line">
            <a:avLst/>
          </a:prstGeom>
          <a:noFill/>
          <a:ln w="15875">
            <a:solidFill>
              <a:schemeClr val="tx1"/>
            </a:solidFill>
            <a:prstDash val="solid"/>
            <a:tailEnd type="triangle"/>
          </a:ln>
        </p:spPr>
      </p:sp>
      <p:sp>
        <p:nvSpPr>
          <p:cNvPr id="16" name="Shape 14"/>
          <p:cNvSpPr/>
          <p:nvPr/>
        </p:nvSpPr>
        <p:spPr>
          <a:xfrm flipH="1">
            <a:off x="7333488" y="3520440"/>
            <a:ext cx="2595067" cy="411480"/>
          </a:xfrm>
          <a:prstGeom prst="line">
            <a:avLst/>
          </a:prstGeom>
          <a:noFill/>
          <a:ln w="15875">
            <a:solidFill>
              <a:schemeClr val="tx1"/>
            </a:solidFill>
            <a:prstDash val="solid"/>
            <a:tailEnd type="triangle"/>
          </a:ln>
        </p:spPr>
      </p:sp>
      <p:sp>
        <p:nvSpPr>
          <p:cNvPr id="17" name="Shape 15"/>
          <p:cNvSpPr/>
          <p:nvPr/>
        </p:nvSpPr>
        <p:spPr>
          <a:xfrm>
            <a:off x="4041648" y="3931920"/>
            <a:ext cx="4114800" cy="685800"/>
          </a:xfrm>
          <a:prstGeom prst="rect">
            <a:avLst/>
          </a:prstGeom>
          <a:solidFill>
            <a:schemeClr val="bg1"/>
          </a:solidFill>
          <a:ln w="12700">
            <a:solidFill>
              <a:schemeClr val="tx1"/>
            </a:solidFill>
            <a:prstDash val="solid"/>
          </a:ln>
        </p:spPr>
      </p:sp>
      <p:sp>
        <p:nvSpPr>
          <p:cNvPr id="18" name="Text 16"/>
          <p:cNvSpPr txBox="1"/>
          <p:nvPr/>
        </p:nvSpPr>
        <p:spPr>
          <a:xfrm>
            <a:off x="4133088" y="3968496"/>
            <a:ext cx="3931920" cy="612648"/>
          </a:xfrm>
          <a:prstGeom prst="rect">
            <a:avLst/>
          </a:prstGeom>
          <a:noFill/>
          <a:ln/>
        </p:spPr>
        <p:txBody>
          <a:bodyPr wrap="square" lIns="635" tIns="635" rIns="635" bIns="635" rtlCol="0" anchor="ctr"/>
          <a:lstStyle/>
          <a:p>
            <a:pPr algn="ctr" indent="0" marL="0">
              <a:buNone/>
            </a:pPr>
            <a:r>
              <a:rPr lang="ru-RU" altLang="en-US" sz="1600" b="1" dirty="0">
                <a:solidFill>
                  <a:schemeClr val="tx1"/>
                </a:solidFill>
              </a:rPr>
              <a:t>Член экипажа</a:t>
            </a:r>
            <a:endParaRPr lang="ru-RU" sz="1600" dirty="0"/>
          </a:p>
          <a:p>
            <a:pPr algn="ctr" indent="0" marL="0">
              <a:buNone/>
            </a:pPr>
            <a:r>
              <a:rPr lang="ru-RU" altLang="en-US" sz="1600" dirty="0">
                <a:solidFill>
                  <a:schemeClr val="tx1"/>
                </a:solidFill>
              </a:rPr>
              <a:t>лётный и кабинный экипаж</a:t>
            </a:r>
            <a:endParaRPr lang="ru-RU" sz="1600" dirty="0"/>
          </a:p>
        </p:txBody>
      </p:sp>
      <p:sp>
        <p:nvSpPr>
          <p:cNvPr id="19" name="Shape 17"/>
          <p:cNvSpPr/>
          <p:nvPr/>
        </p:nvSpPr>
        <p:spPr>
          <a:xfrm>
            <a:off x="548640" y="4892040"/>
            <a:ext cx="5349240" cy="777240"/>
          </a:xfrm>
          <a:prstGeom prst="rect">
            <a:avLst/>
          </a:prstGeom>
          <a:solidFill>
            <a:schemeClr val="bg1"/>
          </a:solidFill>
          <a:ln w="12700">
            <a:solidFill>
              <a:schemeClr val="tx1"/>
            </a:solidFill>
            <a:prstDash val="dash"/>
          </a:ln>
        </p:spPr>
      </p:sp>
      <p:sp>
        <p:nvSpPr>
          <p:cNvPr id="20" name="Text 18"/>
          <p:cNvSpPr txBox="1"/>
          <p:nvPr/>
        </p:nvSpPr>
        <p:spPr>
          <a:xfrm>
            <a:off x="640080" y="4928616"/>
            <a:ext cx="5166360" cy="704088"/>
          </a:xfrm>
          <a:prstGeom prst="rect">
            <a:avLst/>
          </a:prstGeom>
          <a:noFill/>
          <a:ln/>
        </p:spPr>
        <p:txBody>
          <a:bodyPr wrap="square" lIns="635" tIns="635" rIns="635" bIns="635" rtlCol="0" anchor="ctr"/>
          <a:lstStyle/>
          <a:p>
            <a:pPr algn="ctr" indent="0" marL="0">
              <a:buNone/>
            </a:pPr>
            <a:r>
              <a:rPr lang="ru-RU" altLang="en-US" sz="1600" b="1" dirty="0">
                <a:solidFill>
                  <a:schemeClr val="tx1"/>
                </a:solidFill>
              </a:rPr>
              <a:t>Утратили силу:</a:t>
            </a:r>
            <a:endParaRPr lang="ru-RU" sz="1600" dirty="0"/>
          </a:p>
          <a:p>
            <a:pPr algn="ctr" indent="0" marL="0">
              <a:buNone/>
            </a:pPr>
            <a:r>
              <a:rPr lang="ru-RU" altLang="en-US" sz="1600" dirty="0">
                <a:solidFill>
                  <a:schemeClr val="tx1"/>
                </a:solidFill>
              </a:rPr>
              <a:t>СанПиН 2.5.1.2423‑08 (2021), СанПиН 2.6.1.2800‑10 (2025)</a:t>
            </a:r>
            <a:endParaRPr lang="ru-RU" sz="1600" dirty="0"/>
          </a:p>
        </p:txBody>
      </p:sp>
      <p:sp>
        <p:nvSpPr>
          <p:cNvPr id="21" name="Shape 19"/>
          <p:cNvSpPr/>
          <p:nvPr/>
        </p:nvSpPr>
        <p:spPr>
          <a:xfrm>
            <a:off x="6293815" y="4892040"/>
            <a:ext cx="5349240" cy="777240"/>
          </a:xfrm>
          <a:prstGeom prst="rect">
            <a:avLst/>
          </a:prstGeom>
          <a:solidFill>
            <a:schemeClr val="bg1"/>
          </a:solidFill>
          <a:ln w="12700">
            <a:solidFill>
              <a:schemeClr val="tx1"/>
            </a:solidFill>
            <a:prstDash val="dash"/>
          </a:ln>
        </p:spPr>
      </p:sp>
      <p:sp>
        <p:nvSpPr>
          <p:cNvPr id="22" name="Text 20"/>
          <p:cNvSpPr txBox="1"/>
          <p:nvPr/>
        </p:nvSpPr>
        <p:spPr>
          <a:xfrm>
            <a:off x="6385255" y="4928616"/>
            <a:ext cx="5166360" cy="704088"/>
          </a:xfrm>
          <a:prstGeom prst="rect">
            <a:avLst/>
          </a:prstGeom>
          <a:noFill/>
          <a:ln/>
        </p:spPr>
        <p:txBody>
          <a:bodyPr wrap="square" lIns="635" tIns="635" rIns="635" bIns="635" rtlCol="0" anchor="ctr"/>
          <a:lstStyle/>
          <a:p>
            <a:pPr algn="ctr" indent="0" marL="0">
              <a:buNone/>
            </a:pPr>
            <a:r>
              <a:rPr lang="ru-RU" altLang="en-US" sz="1600" b="1" dirty="0">
                <a:solidFill>
                  <a:schemeClr val="tx1"/>
                </a:solidFill>
              </a:rPr>
              <a:t>Не установлено:</a:t>
            </a:r>
            <a:endParaRPr lang="ru-RU" sz="1600" dirty="0"/>
          </a:p>
          <a:p>
            <a:pPr algn="ctr" indent="0" marL="0">
              <a:buNone/>
            </a:pPr>
            <a:r>
              <a:rPr lang="ru-RU" altLang="en-US" sz="1600" dirty="0">
                <a:solidFill>
                  <a:schemeClr val="tx1"/>
                </a:solidFill>
              </a:rPr>
              <a:t>кто и как рассчитывает индивидуальную дозу</a:t>
            </a:r>
            <a:endParaRPr lang="ru-RU" sz="1600" dirty="0"/>
          </a:p>
        </p:txBody>
      </p:sp>
      <p:sp>
        <p:nvSpPr>
          <p:cNvPr id="23" name="Подпись"/>
          <p:cNvSpPr txBox="1"/>
          <p:nvPr/>
        </p:nvSpPr>
        <p:spPr>
          <a:xfrm>
            <a:off x="548640" y="5760720"/>
            <a:ext cx="11094415" cy="594360"/>
          </a:xfrm>
          <a:prstGeom prst="rect">
            <a:avLst/>
          </a:prstGeom>
          <a:noFill/>
          <a:ln/>
        </p:spPr>
        <p:txBody>
          <a:bodyPr wrap="square" lIns="635" tIns="635" rIns="635" bIns="635" rtlCol="0" anchor="t"/>
          <a:lstStyle/>
          <a:p>
            <a:pPr algn="ctr" indent="0" marL="0">
              <a:buNone/>
            </a:pPr>
            <a:r>
              <a:rPr lang="ru-RU" altLang="en-US" sz="1600" dirty="0">
                <a:solidFill>
                  <a:schemeClr val="tx1"/>
                </a:solidFill>
              </a:rPr>
              <a:t>Рисунок 2 – Система правового регулирования защиты членов экипажей от космического излучения (составлено авторами)</a:t>
            </a:r>
            <a:endParaRPr lang="ru-RU" sz="1600" dirty="0"/>
          </a:p>
        </p:txBody>
      </p:sp>
      <p:sp>
        <p:nvSpPr>
          <p:cNvPr id="25" name="Slide Number Placeholder 0"/>
          <p:cNvSpPr>
            <a:spLocks noGrp="1"/>
          </p:cNvSpPr>
          <p:nvPr>
            <p:ph type="sldNum" sz="quarter" idx="4294967295"/>
          </p:nvPr>
        </p:nvSpPr>
        <p:spPr>
          <a:xfrm>
            <a:off x="11002975" y="635508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ru-RU"/>
              <a:t>6</a:t>
            </a:fld>
            <a:endParaRPr lang="ru-RU"/>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1325880" y="274320"/>
            <a:ext cx="9539935" cy="914400"/>
          </a:xfrm>
          <a:prstGeom prst="rect">
            <a:avLst/>
          </a:prstGeom>
          <a:noFill/>
          <a:ln/>
        </p:spPr>
        <p:txBody>
          <a:bodyPr wrap="square" lIns="635" tIns="635" rIns="635" bIns="635" rtlCol="0" anchor="ctr"/>
          <a:lstStyle/>
          <a:p>
            <a:pPr algn="ctr" indent="0" marL="0">
              <a:buNone/>
            </a:pPr>
            <a:r>
              <a:rPr lang="ru-RU" altLang="en-US" sz="3200" b="1" dirty="0">
                <a:solidFill>
                  <a:schemeClr val="tx1"/>
                </a:solidFill>
              </a:rPr>
              <a:t>Изменения специального регулирования</a:t>
            </a:r>
            <a:endParaRPr lang="ru-RU" sz="3200" dirty="0"/>
          </a:p>
        </p:txBody>
      </p:sp>
      <p:sp>
        <p:nvSpPr>
          <p:cNvPr id="3" name="Text 1"/>
          <p:cNvSpPr txBox="1"/>
          <p:nvPr/>
        </p:nvSpPr>
        <p:spPr>
          <a:xfrm>
            <a:off x="548640" y="1280160"/>
            <a:ext cx="11094415" cy="411480"/>
          </a:xfrm>
          <a:prstGeom prst="rect">
            <a:avLst/>
          </a:prstGeom>
          <a:noFill/>
          <a:ln/>
        </p:spPr>
        <p:txBody>
          <a:bodyPr wrap="square" lIns="635" tIns="635" rIns="635" bIns="635" rtlCol="0" anchor="t"/>
          <a:lstStyle/>
          <a:p>
            <a:pPr indent="0" marL="0">
              <a:buNone/>
            </a:pPr>
            <a:r>
              <a:rPr lang="ru-RU" altLang="en-US" sz="2000" dirty="0">
                <a:solidFill>
                  <a:schemeClr val="tx1"/>
                </a:solidFill>
              </a:rPr>
              <a:t>Таблица 2 – Акты, в которых выделялись экипажи воздушных судов</a:t>
            </a:r>
            <a:endParaRPr lang="ru-RU" sz="2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3749040"/>
                <a:gridCol w="4572000"/>
                <a:gridCol w="2770632"/>
              </a:tblGrid>
              <a:tr h="0">
                <a:tc>
                  <a:txBody>
                    <a:bodyPr/>
                    <a:lstStyle/>
                    <a:p>
                      <a:pPr algn="ctr" indent="0" marL="0">
                        <a:buNone/>
                      </a:pPr>
                      <a:r>
                        <a:rPr lang="ru-RU" sz="2000" b="1" dirty="0">
                          <a:solidFill>
                            <a:schemeClr val="tx1"/>
                          </a:solidFill>
                          <a:latin typeface="Times New Roman" pitchFamily="34" charset="0"/>
                          <a:ea typeface="Times New Roman" pitchFamily="34" charset="-122"/>
                          <a:cs typeface="Times New Roman" pitchFamily="34" charset="-120"/>
                        </a:rPr>
                        <a:t>Акт</a:t>
                      </a:r>
                      <a:endParaRPr lang="ru-RU" sz="20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ru-RU" sz="2000" b="1" dirty="0">
                          <a:solidFill>
                            <a:schemeClr val="tx1"/>
                          </a:solidFill>
                          <a:latin typeface="Times New Roman" pitchFamily="34" charset="0"/>
                          <a:ea typeface="Times New Roman" pitchFamily="34" charset="-122"/>
                          <a:cs typeface="Times New Roman" pitchFamily="34" charset="-120"/>
                        </a:rPr>
                        <a:t>Что устанавливал</a:t>
                      </a:r>
                      <a:endParaRPr lang="ru-RU" sz="20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ru-RU" sz="2000" b="1" dirty="0">
                          <a:solidFill>
                            <a:schemeClr val="tx1"/>
                          </a:solidFill>
                          <a:latin typeface="Times New Roman" pitchFamily="34" charset="0"/>
                          <a:ea typeface="Times New Roman" pitchFamily="34" charset="-122"/>
                          <a:cs typeface="Times New Roman" pitchFamily="34" charset="-120"/>
                        </a:rPr>
                        <a:t>Статус</a:t>
                      </a:r>
                      <a:endParaRPr lang="ru-RU" sz="20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l" indent="0" marL="0">
                        <a:buNone/>
                      </a:pPr>
                      <a:r>
                        <a:rPr lang="ru-RU" sz="2000" dirty="0">
                          <a:solidFill>
                            <a:schemeClr val="tx1"/>
                          </a:solidFill>
                          <a:latin typeface="Times New Roman" pitchFamily="34" charset="0"/>
                          <a:ea typeface="Times New Roman" pitchFamily="34" charset="-122"/>
                          <a:cs typeface="Times New Roman" pitchFamily="34" charset="-120"/>
                        </a:rPr>
                        <a:t>СанПиН 2.5.1.2423‑08 (условия труда и отдыха лётного состава ГА)</a:t>
                      </a:r>
                      <a:endParaRPr lang="ru-RU" sz="20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indent="0" marL="0">
                        <a:buNone/>
                      </a:pPr>
                      <a:r>
                        <a:rPr lang="ru-RU" sz="2000" dirty="0">
                          <a:solidFill>
                            <a:schemeClr val="tx1"/>
                          </a:solidFill>
                          <a:latin typeface="Times New Roman" pitchFamily="34" charset="0"/>
                          <a:ea typeface="Times New Roman" pitchFamily="34" charset="-122"/>
                          <a:cs typeface="Times New Roman" pitchFamily="34" charset="-120"/>
                        </a:rPr>
                        <a:t>доза космического облучения экипажей – не более 5 мЗв в год</a:t>
                      </a:r>
                      <a:endParaRPr lang="ru-RU" sz="20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indent="0" marL="0">
                        <a:buNone/>
                      </a:pPr>
                      <a:r>
                        <a:rPr lang="ru-RU" sz="2000" dirty="0">
                          <a:solidFill>
                            <a:schemeClr val="tx1"/>
                          </a:solidFill>
                          <a:latin typeface="Times New Roman" pitchFamily="34" charset="0"/>
                          <a:ea typeface="Times New Roman" pitchFamily="34" charset="-122"/>
                          <a:cs typeface="Times New Roman" pitchFamily="34" charset="-120"/>
                        </a:rPr>
                        <a:t>утратил силу с 01.01.2021 [8]</a:t>
                      </a:r>
                      <a:endParaRPr lang="ru-RU" sz="20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l" indent="0" marL="0">
                        <a:buNone/>
                      </a:pPr>
                      <a:r>
                        <a:rPr lang="ru-RU" sz="2000" dirty="0">
                          <a:solidFill>
                            <a:schemeClr val="tx1"/>
                          </a:solidFill>
                          <a:latin typeface="Times New Roman" pitchFamily="34" charset="0"/>
                          <a:ea typeface="Times New Roman" pitchFamily="34" charset="-122"/>
                          <a:cs typeface="Times New Roman" pitchFamily="34" charset="-120"/>
                        </a:rPr>
                        <a:t>СанПиН 2.6.1.2800‑10 (природные источники излучения)</a:t>
                      </a:r>
                      <a:endParaRPr lang="ru-RU" sz="20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indent="0" marL="0">
                        <a:buNone/>
                      </a:pPr>
                      <a:r>
                        <a:rPr lang="ru-RU" sz="2000" dirty="0">
                          <a:solidFill>
                            <a:schemeClr val="tx1"/>
                          </a:solidFill>
                          <a:latin typeface="Times New Roman" pitchFamily="34" charset="0"/>
                          <a:ea typeface="Times New Roman" pitchFamily="34" charset="-122"/>
                          <a:cs typeface="Times New Roman" pitchFamily="34" charset="-120"/>
                        </a:rPr>
                        <a:t>отдельный раздел об облучении экипажей ВС гражданской авиации</a:t>
                      </a:r>
                      <a:endParaRPr lang="ru-RU" sz="20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indent="0" marL="0">
                        <a:buNone/>
                      </a:pPr>
                      <a:r>
                        <a:rPr lang="ru-RU" sz="2000" dirty="0">
                          <a:solidFill>
                            <a:schemeClr val="tx1"/>
                          </a:solidFill>
                          <a:latin typeface="Times New Roman" pitchFamily="34" charset="0"/>
                          <a:ea typeface="Times New Roman" pitchFamily="34" charset="-122"/>
                          <a:cs typeface="Times New Roman" pitchFamily="34" charset="-120"/>
                        </a:rPr>
                        <a:t>утратил силу с 01.09.2025 [9]</a:t>
                      </a:r>
                      <a:endParaRPr lang="ru-RU" sz="20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l" indent="0" marL="0">
                        <a:buNone/>
                      </a:pPr>
                      <a:r>
                        <a:rPr lang="ru-RU" sz="2000" dirty="0">
                          <a:solidFill>
                            <a:schemeClr val="tx1"/>
                          </a:solidFill>
                          <a:latin typeface="Times New Roman" pitchFamily="34" charset="0"/>
                          <a:ea typeface="Times New Roman" pitchFamily="34" charset="-122"/>
                          <a:cs typeface="Times New Roman" pitchFamily="34" charset="-120"/>
                        </a:rPr>
                        <a:t>НРБ‑99/2009, п. 4.3</a:t>
                      </a:r>
                      <a:endParaRPr lang="ru-RU" sz="20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indent="0" marL="0">
                        <a:buNone/>
                      </a:pPr>
                      <a:r>
                        <a:rPr lang="ru-RU" sz="2000" dirty="0">
                          <a:solidFill>
                            <a:schemeClr val="tx1"/>
                          </a:solidFill>
                          <a:latin typeface="Times New Roman" pitchFamily="34" charset="0"/>
                          <a:ea typeface="Times New Roman" pitchFamily="34" charset="-122"/>
                          <a:cs typeface="Times New Roman" pitchFamily="34" charset="-120"/>
                        </a:rPr>
                        <a:t>облучение экипажей нормируется по п. 4.1 (5 мЗв в год)</a:t>
                      </a:r>
                      <a:endParaRPr lang="ru-RU" sz="20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indent="0" marL="0">
                        <a:buNone/>
                      </a:pPr>
                      <a:r>
                        <a:rPr lang="ru-RU" sz="2000" dirty="0">
                          <a:solidFill>
                            <a:schemeClr val="tx1"/>
                          </a:solidFill>
                          <a:latin typeface="Times New Roman" pitchFamily="34" charset="0"/>
                          <a:ea typeface="Times New Roman" pitchFamily="34" charset="-122"/>
                          <a:cs typeface="Times New Roman" pitchFamily="34" charset="-120"/>
                        </a:rPr>
                        <a:t>действует [6]</a:t>
                      </a:r>
                      <a:endParaRPr lang="ru-RU" sz="20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 name="Text 2"/>
          <p:cNvSpPr txBox="1"/>
          <p:nvPr/>
        </p:nvSpPr>
        <p:spPr>
          <a:xfrm>
            <a:off x="548640" y="5257800"/>
            <a:ext cx="11094415" cy="822960"/>
          </a:xfrm>
          <a:prstGeom prst="rect">
            <a:avLst/>
          </a:prstGeom>
          <a:noFill/>
          <a:ln/>
        </p:spPr>
        <p:txBody>
          <a:bodyPr wrap="square" lIns="635" tIns="635" rIns="635" bIns="635" rtlCol="0" anchor="t"/>
          <a:lstStyle/>
          <a:p>
            <a:pPr indent="0" marL="0">
              <a:buNone/>
            </a:pPr>
            <a:r>
              <a:rPr lang="ru-RU" altLang="en-US" sz="2000" b="1" dirty="0">
                <a:solidFill>
                  <a:schemeClr val="tx1"/>
                </a:solidFill>
              </a:rPr>
              <a:t>Итог: предел дозы сохранился, но специальных требований к его соблюдению в действующих актах не обнаружено</a:t>
            </a:r>
            <a:endParaRPr lang="ru-RU" sz="2000" dirty="0"/>
          </a:p>
        </p:txBody>
      </p:sp>
      <p:sp>
        <p:nvSpPr>
          <p:cNvPr id="25" name="Slide Number Placeholder 0"/>
          <p:cNvSpPr>
            <a:spLocks noGrp="1"/>
          </p:cNvSpPr>
          <p:nvPr>
            <p:ph type="sldNum" sz="quarter" idx="4294967295"/>
          </p:nvPr>
        </p:nvSpPr>
        <p:spPr>
          <a:xfrm>
            <a:off x="11002975" y="635508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ru-RU"/>
              <a:t>7</a:t>
            </a:fld>
            <a:endParaRPr lang="ru-RU"/>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1325880" y="274320"/>
            <a:ext cx="9539935" cy="914400"/>
          </a:xfrm>
          <a:prstGeom prst="rect">
            <a:avLst/>
          </a:prstGeom>
          <a:noFill/>
          <a:ln/>
        </p:spPr>
        <p:txBody>
          <a:bodyPr wrap="square" lIns="635" tIns="635" rIns="635" bIns="635" rtlCol="0" anchor="ctr"/>
          <a:lstStyle/>
          <a:p>
            <a:pPr algn="ctr" indent="0" marL="0">
              <a:buNone/>
            </a:pPr>
            <a:r>
              <a:rPr lang="ru-RU" altLang="en-US" sz="3200" b="1" dirty="0">
                <a:solidFill>
                  <a:schemeClr val="tx1"/>
                </a:solidFill>
              </a:rPr>
              <a:t>Выявленные пробелы (1)</a:t>
            </a:r>
            <a:endParaRPr lang="ru-RU" sz="3200" dirty="0"/>
          </a:p>
        </p:txBody>
      </p:sp>
      <p:sp>
        <p:nvSpPr>
          <p:cNvPr id="3" name="Text 0"/>
          <p:cNvSpPr/>
          <p:nvPr>
            <p:ph idx="102" type="body" hasCustomPrompt="1"/>
          </p:nvPr>
        </p:nvSpPr>
        <p:spPr>
          <a:xfrm>
            <a:off x="548640" y="1371600"/>
            <a:ext cx="11094415" cy="4846320"/>
          </a:xfrm>
          <a:prstGeom prst="rect">
            <a:avLst/>
          </a:prstGeom>
          <a:noFill/>
          <a:ln/>
        </p:spPr>
        <p:txBody>
          <a:bodyPr wrap="square" lIns="635" tIns="635" rIns="635" bIns="635" rtlCol="0" anchor="t"/>
          <a:lstStyle/>
          <a:p>
            <a:pPr algn="l" marL="304800" indent="-304800">
              <a:spcAft>
                <a:spcPts val="1000"/>
              </a:spcAft>
              <a:buSzPct val="100000"/>
              <a:buChar char="–"/>
            </a:pPr>
            <a:r>
              <a:rPr lang="ru-RU" altLang="en-US" sz="2400" dirty="0">
                <a:solidFill>
                  <a:schemeClr val="tx1"/>
                </a:solidFill>
              </a:rPr>
              <a:t>Кроме п. 4.3 НРБ‑99/2009, специальных норм об облучении экипажей в действующих актах не обнаружено</a:t>
            </a:r>
            <a:endParaRPr lang="ru-RU" sz="2400" dirty="0"/>
          </a:p>
          <a:p>
            <a:pPr algn="l" marL="304800" indent="-304800">
              <a:spcAft>
                <a:spcPts val="1000"/>
              </a:spcAft>
              <a:buSzPct val="100000"/>
              <a:buChar char="–"/>
            </a:pPr>
            <a:r>
              <a:rPr lang="ru-RU" altLang="en-US" sz="2400" dirty="0">
                <a:solidFill>
                  <a:schemeClr val="tx1"/>
                </a:solidFill>
              </a:rPr>
              <a:t>Не установлено, кто обязан рассчитывать индивидуальную дозу члена экипажа и по какой методике</a:t>
            </a:r>
            <a:endParaRPr lang="ru-RU" sz="2400" dirty="0"/>
          </a:p>
          <a:p>
            <a:pPr algn="l" marL="304800" indent="-304800">
              <a:spcAft>
                <a:spcPts val="1000"/>
              </a:spcAft>
              <a:buSzPct val="100000"/>
              <a:buChar char="–"/>
            </a:pPr>
            <a:r>
              <a:rPr lang="ru-RU" altLang="en-US" sz="2400" dirty="0">
                <a:solidFill>
                  <a:schemeClr val="tx1"/>
                </a:solidFill>
              </a:rPr>
              <a:t>Не обнаружен порядок передачи доз экипажей в ЕСКИД, хотя ст. 18 закона № 3‑ФЗ требует учёта доз [4]</a:t>
            </a:r>
            <a:endParaRPr lang="ru-RU" sz="2400" dirty="0"/>
          </a:p>
          <a:p>
            <a:pPr algn="l" marL="304800" indent="-304800">
              <a:spcAft>
                <a:spcPts val="1000"/>
              </a:spcAft>
              <a:buSzPct val="100000"/>
              <a:buChar char="–"/>
            </a:pPr>
            <a:r>
              <a:rPr lang="ru-RU" altLang="en-US" sz="2400" dirty="0">
                <a:solidFill>
                  <a:schemeClr val="tx1"/>
                </a:solidFill>
              </a:rPr>
              <a:t>Следствие: соблюдение предела 5 мЗв в год для конкретного человека проверить нельзя</a:t>
            </a:r>
            <a:endParaRPr lang="ru-RU" sz="2400" dirty="0"/>
          </a:p>
        </p:txBody>
      </p:sp>
      <p:sp>
        <p:nvSpPr>
          <p:cNvPr id="25" name="Slide Number Placeholder 0"/>
          <p:cNvSpPr>
            <a:spLocks noGrp="1"/>
          </p:cNvSpPr>
          <p:nvPr>
            <p:ph type="sldNum" sz="quarter" idx="4294967295"/>
          </p:nvPr>
        </p:nvSpPr>
        <p:spPr>
          <a:xfrm>
            <a:off x="11002975" y="635508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ru-RU"/>
              <a:t>8</a:t>
            </a:fld>
            <a:endParaRPr lang="ru-RU"/>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1325880" y="274320"/>
            <a:ext cx="9539935" cy="914400"/>
          </a:xfrm>
          <a:prstGeom prst="rect">
            <a:avLst/>
          </a:prstGeom>
          <a:noFill/>
          <a:ln/>
        </p:spPr>
        <p:txBody>
          <a:bodyPr wrap="square" lIns="635" tIns="635" rIns="635" bIns="635" rtlCol="0" anchor="ctr"/>
          <a:lstStyle/>
          <a:p>
            <a:pPr algn="ctr" indent="0" marL="0">
              <a:buNone/>
            </a:pPr>
            <a:r>
              <a:rPr lang="ru-RU" altLang="en-US" sz="3200" b="1" dirty="0">
                <a:solidFill>
                  <a:schemeClr val="tx1"/>
                </a:solidFill>
              </a:rPr>
              <a:t>Выявленные пробелы (2)</a:t>
            </a:r>
            <a:endParaRPr lang="ru-RU" sz="3200" dirty="0"/>
          </a:p>
        </p:txBody>
      </p:sp>
      <p:sp>
        <p:nvSpPr>
          <p:cNvPr id="3" name="Text 0"/>
          <p:cNvSpPr/>
          <p:nvPr>
            <p:ph idx="102" type="body" hasCustomPrompt="1"/>
          </p:nvPr>
        </p:nvSpPr>
        <p:spPr>
          <a:xfrm>
            <a:off x="548640" y="1371600"/>
            <a:ext cx="11094415" cy="4846320"/>
          </a:xfrm>
          <a:prstGeom prst="rect">
            <a:avLst/>
          </a:prstGeom>
          <a:noFill/>
          <a:ln/>
        </p:spPr>
        <p:txBody>
          <a:bodyPr wrap="square" lIns="635" tIns="635" rIns="635" bIns="635" rtlCol="0" anchor="t"/>
          <a:lstStyle/>
          <a:p>
            <a:pPr algn="l" marL="304800" indent="-304800">
              <a:spcAft>
                <a:spcPts val="1000"/>
              </a:spcAft>
              <a:buSzPct val="100000"/>
              <a:buChar char="–"/>
            </a:pPr>
            <a:r>
              <a:rPr lang="ru-RU" altLang="en-US" sz="2400" dirty="0">
                <a:solidFill>
                  <a:schemeClr val="tx1"/>
                </a:solidFill>
              </a:rPr>
              <a:t>СОУТ проводится в одном контрольном полёте и не отражает годовую дозу на разных маршрутах [11]</a:t>
            </a:r>
            <a:endParaRPr lang="ru-RU" sz="2400" dirty="0"/>
          </a:p>
          <a:p>
            <a:pPr algn="l" marL="304800" indent="-304800">
              <a:spcAft>
                <a:spcPts val="1000"/>
              </a:spcAft>
              <a:buSzPct val="100000"/>
              <a:buChar char="–"/>
            </a:pPr>
            <a:r>
              <a:rPr lang="ru-RU" altLang="en-US" sz="2400" dirty="0">
                <a:solidFill>
                  <a:schemeClr val="tx1"/>
                </a:solidFill>
              </a:rPr>
              <a:t>Лимиты налёта (800 ч, с согласия – 900 ч в год) не учитывают дозу; согласие даётся без знания своей дозы [12]</a:t>
            </a:r>
            <a:endParaRPr lang="ru-RU" sz="2400" dirty="0"/>
          </a:p>
          <a:p>
            <a:pPr algn="l" marL="304800" indent="-304800">
              <a:spcAft>
                <a:spcPts val="1000"/>
              </a:spcAft>
              <a:buSzPct val="100000"/>
              <a:buChar char="–"/>
            </a:pPr>
            <a:r>
              <a:rPr lang="ru-RU" altLang="en-US" sz="2400" dirty="0">
                <a:solidFill>
                  <a:schemeClr val="tx1"/>
                </a:solidFill>
              </a:rPr>
              <a:t>Общая обязанность информировать о рисках есть (ст. 214 ТК РФ), но сообщать работнику его индивидуальную дозу никто не обязан</a:t>
            </a:r>
            <a:endParaRPr lang="ru-RU" sz="2400" dirty="0"/>
          </a:p>
          <a:p>
            <a:pPr algn="l" marL="304800" indent="-304800">
              <a:spcAft>
                <a:spcPts val="1000"/>
              </a:spcAft>
              <a:buSzPct val="100000"/>
              <a:buChar char="–"/>
            </a:pPr>
            <a:r>
              <a:rPr lang="ru-RU" altLang="en-US" sz="2400" dirty="0">
                <a:solidFill>
                  <a:schemeClr val="tx1"/>
                </a:solidFill>
              </a:rPr>
              <a:t>Для беременных членов экипажа нет дозового правила – действуют только общие гарантии ст. 254 ТК РФ</a:t>
            </a:r>
            <a:endParaRPr lang="ru-RU" sz="2400" dirty="0"/>
          </a:p>
        </p:txBody>
      </p:sp>
      <p:sp>
        <p:nvSpPr>
          <p:cNvPr id="25" name="Slide Number Placeholder 0"/>
          <p:cNvSpPr>
            <a:spLocks noGrp="1"/>
          </p:cNvSpPr>
          <p:nvPr>
            <p:ph type="sldNum" sz="quarter" idx="4294967295"/>
          </p:nvPr>
        </p:nvSpPr>
        <p:spPr>
          <a:xfrm>
            <a:off x="11002975" y="635508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ru-RU"/>
              <a:t>9</a:t>
            </a:fld>
            <a:endParaRPr lang="ru-RU"/>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1325880" y="274320"/>
            <a:ext cx="9539935" cy="914400"/>
          </a:xfrm>
          <a:prstGeom prst="rect">
            <a:avLst/>
          </a:prstGeom>
          <a:noFill/>
          <a:ln/>
        </p:spPr>
        <p:txBody>
          <a:bodyPr wrap="square" lIns="635" tIns="635" rIns="635" bIns="635" rtlCol="0" anchor="ctr"/>
          <a:lstStyle/>
          <a:p>
            <a:pPr algn="ctr" indent="0" marL="0">
              <a:buNone/>
            </a:pPr>
            <a:r>
              <a:rPr lang="ru-RU" altLang="en-US" sz="3200" b="1" dirty="0">
                <a:solidFill>
                  <a:schemeClr val="tx1"/>
                </a:solidFill>
              </a:rPr>
              <a:t>Зарубежный опыт</a:t>
            </a:r>
            <a:endParaRPr lang="ru-RU" sz="3200" dirty="0"/>
          </a:p>
        </p:txBody>
      </p:sp>
      <p:sp>
        <p:nvSpPr>
          <p:cNvPr id="3" name="Text 1"/>
          <p:cNvSpPr txBox="1"/>
          <p:nvPr/>
        </p:nvSpPr>
        <p:spPr>
          <a:xfrm>
            <a:off x="548640" y="1280160"/>
            <a:ext cx="11094415" cy="411480"/>
          </a:xfrm>
          <a:prstGeom prst="rect">
            <a:avLst/>
          </a:prstGeom>
          <a:noFill/>
          <a:ln/>
        </p:spPr>
        <p:txBody>
          <a:bodyPr wrap="square" lIns="635" tIns="635" rIns="635" bIns="635" rtlCol="0" anchor="t"/>
          <a:lstStyle/>
          <a:p>
            <a:pPr indent="0" marL="0">
              <a:buNone/>
            </a:pPr>
            <a:r>
              <a:rPr lang="ru-RU" altLang="en-US" sz="2000" dirty="0">
                <a:solidFill>
                  <a:schemeClr val="tx1"/>
                </a:solidFill>
              </a:rPr>
              <a:t>Таблица 3 – Сравнение правового регулирования облучения экипажей</a:t>
            </a:r>
            <a:endParaRPr lang="ru-RU" sz="2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3108960"/>
                <a:gridCol w="2514600"/>
                <a:gridCol w="2834640"/>
                <a:gridCol w="2633472"/>
              </a:tblGrid>
              <a:tr h="566928">
                <a:tc>
                  <a:txBody>
                    <a:bodyPr/>
                    <a:lstStyle/>
                    <a:p>
                      <a:pPr algn="ctr" indent="0" marL="0">
                        <a:buNone/>
                      </a:pPr>
                      <a:r>
                        <a:rPr lang="ru-RU" sz="1800" b="1" dirty="0">
                          <a:solidFill>
                            <a:schemeClr val="tx1"/>
                          </a:solidFill>
                          <a:latin typeface="Times New Roman" pitchFamily="34" charset="0"/>
                          <a:ea typeface="Times New Roman" pitchFamily="34" charset="-122"/>
                          <a:cs typeface="Times New Roman" pitchFamily="34" charset="-120"/>
                        </a:rPr>
                        <a:t>Требование</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ru-RU" sz="1800" b="1" dirty="0">
                          <a:solidFill>
                            <a:schemeClr val="tx1"/>
                          </a:solidFill>
                          <a:latin typeface="Times New Roman" pitchFamily="34" charset="0"/>
                          <a:ea typeface="Times New Roman" pitchFamily="34" charset="-122"/>
                          <a:cs typeface="Times New Roman" pitchFamily="34" charset="-120"/>
                        </a:rPr>
                        <a:t>Россия</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ru-RU" sz="1800" b="1" dirty="0">
                          <a:solidFill>
                            <a:schemeClr val="tx1"/>
                          </a:solidFill>
                          <a:latin typeface="Times New Roman" pitchFamily="34" charset="0"/>
                          <a:ea typeface="Times New Roman" pitchFamily="34" charset="-122"/>
                          <a:cs typeface="Times New Roman" pitchFamily="34" charset="-120"/>
                        </a:rPr>
                        <a:t>ЕС (Директива 2013/59/Евратом) [13]</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indent="0" marL="0">
                        <a:buNone/>
                      </a:pPr>
                      <a:r>
                        <a:rPr lang="ru-RU" sz="1800" b="1" dirty="0">
                          <a:solidFill>
                            <a:schemeClr val="tx1"/>
                          </a:solidFill>
                          <a:latin typeface="Times New Roman" pitchFamily="34" charset="0"/>
                          <a:ea typeface="Times New Roman" pitchFamily="34" charset="-122"/>
                          <a:cs typeface="Times New Roman" pitchFamily="34" charset="-120"/>
                        </a:rPr>
                        <a:t>Германия [14, 15]</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66928">
                <a:tc>
                  <a:txBody>
                    <a:bodyPr/>
                    <a:lstStyle/>
                    <a:p>
                      <a:pPr algn="l" indent="0" marL="0">
                        <a:buNone/>
                      </a:pPr>
                      <a:r>
                        <a:rPr lang="ru-RU" sz="1800" dirty="0">
                          <a:solidFill>
                            <a:schemeClr val="tx1"/>
                          </a:solidFill>
                          <a:latin typeface="Times New Roman" pitchFamily="34" charset="0"/>
                          <a:ea typeface="Times New Roman" pitchFamily="34" charset="-122"/>
                          <a:cs typeface="Times New Roman" pitchFamily="34" charset="-120"/>
                        </a:rPr>
                        <a:t>Порог обязательных мер</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indent="0" marL="0">
                        <a:buNone/>
                      </a:pPr>
                      <a:r>
                        <a:rPr lang="ru-RU" sz="1800" dirty="0">
                          <a:solidFill>
                            <a:schemeClr val="tx1"/>
                          </a:solidFill>
                          <a:latin typeface="Times New Roman" pitchFamily="34" charset="0"/>
                          <a:ea typeface="Times New Roman" pitchFamily="34" charset="-122"/>
                          <a:cs typeface="Times New Roman" pitchFamily="34" charset="-120"/>
                        </a:rPr>
                        <a:t>не установлен</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indent="0" marL="0">
                        <a:buNone/>
                      </a:pPr>
                      <a:r>
                        <a:rPr lang="ru-RU" sz="1800" dirty="0">
                          <a:solidFill>
                            <a:schemeClr val="tx1"/>
                          </a:solidFill>
                          <a:latin typeface="Times New Roman" pitchFamily="34" charset="0"/>
                          <a:ea typeface="Times New Roman" pitchFamily="34" charset="-122"/>
                          <a:cs typeface="Times New Roman" pitchFamily="34" charset="-120"/>
                        </a:rPr>
                        <a:t>более 1 мЗв в год (ст. 35, п. 3)</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indent="0" marL="0">
                        <a:buNone/>
                      </a:pPr>
                      <a:r>
                        <a:rPr lang="ru-RU" sz="1800" dirty="0">
                          <a:solidFill>
                            <a:schemeClr val="tx1"/>
                          </a:solidFill>
                          <a:latin typeface="Times New Roman" pitchFamily="34" charset="0"/>
                          <a:ea typeface="Times New Roman" pitchFamily="34" charset="-122"/>
                          <a:cs typeface="Times New Roman" pitchFamily="34" charset="-120"/>
                        </a:rPr>
                        <a:t>более 1 мЗв в год</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66928">
                <a:tc>
                  <a:txBody>
                    <a:bodyPr/>
                    <a:lstStyle/>
                    <a:p>
                      <a:pPr algn="l" indent="0" marL="0">
                        <a:buNone/>
                      </a:pPr>
                      <a:r>
                        <a:rPr lang="ru-RU" sz="1800" dirty="0">
                          <a:solidFill>
                            <a:schemeClr val="tx1"/>
                          </a:solidFill>
                          <a:latin typeface="Times New Roman" pitchFamily="34" charset="0"/>
                          <a:ea typeface="Times New Roman" pitchFamily="34" charset="-122"/>
                          <a:cs typeface="Times New Roman" pitchFamily="34" charset="-120"/>
                        </a:rPr>
                        <a:t>Расчёт индивидуальной дозы</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indent="0" marL="0">
                        <a:buNone/>
                      </a:pPr>
                      <a:r>
                        <a:rPr lang="ru-RU" sz="1800" dirty="0">
                          <a:solidFill>
                            <a:schemeClr val="tx1"/>
                          </a:solidFill>
                          <a:latin typeface="Times New Roman" pitchFamily="34" charset="0"/>
                          <a:ea typeface="Times New Roman" pitchFamily="34" charset="-122"/>
                          <a:cs typeface="Times New Roman" pitchFamily="34" charset="-120"/>
                        </a:rPr>
                        <a:t>не установлен</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indent="0" marL="0">
                        <a:buNone/>
                      </a:pPr>
                      <a:r>
                        <a:rPr lang="ru-RU" sz="1800" dirty="0">
                          <a:solidFill>
                            <a:schemeClr val="tx1"/>
                          </a:solidFill>
                          <a:latin typeface="Times New Roman" pitchFamily="34" charset="0"/>
                          <a:ea typeface="Times New Roman" pitchFamily="34" charset="-122"/>
                          <a:cs typeface="Times New Roman" pitchFamily="34" charset="-120"/>
                        </a:rPr>
                        <a:t>обязателен</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indent="0" marL="0">
                        <a:buNone/>
                      </a:pPr>
                      <a:r>
                        <a:rPr lang="ru-RU" sz="1800" dirty="0">
                          <a:solidFill>
                            <a:schemeClr val="tx1"/>
                          </a:solidFill>
                          <a:latin typeface="Times New Roman" pitchFamily="34" charset="0"/>
                          <a:ea typeface="Times New Roman" pitchFamily="34" charset="-122"/>
                          <a:cs typeface="Times New Roman" pitchFamily="34" charset="-120"/>
                        </a:rPr>
                        <a:t>признанной программой</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66928">
                <a:tc>
                  <a:txBody>
                    <a:bodyPr/>
                    <a:lstStyle/>
                    <a:p>
                      <a:pPr algn="l" indent="0" marL="0">
                        <a:buNone/>
                      </a:pPr>
                      <a:r>
                        <a:rPr lang="ru-RU" sz="1800" dirty="0">
                          <a:solidFill>
                            <a:schemeClr val="tx1"/>
                          </a:solidFill>
                          <a:latin typeface="Times New Roman" pitchFamily="34" charset="0"/>
                          <a:ea typeface="Times New Roman" pitchFamily="34" charset="-122"/>
                          <a:cs typeface="Times New Roman" pitchFamily="34" charset="-120"/>
                        </a:rPr>
                        <a:t>Учёт дозы при составлении графиков</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indent="0" marL="0">
                        <a:buNone/>
                      </a:pPr>
                      <a:r>
                        <a:rPr lang="ru-RU" sz="1800" dirty="0">
                          <a:solidFill>
                            <a:schemeClr val="tx1"/>
                          </a:solidFill>
                          <a:latin typeface="Times New Roman" pitchFamily="34" charset="0"/>
                          <a:ea typeface="Times New Roman" pitchFamily="34" charset="-122"/>
                          <a:cs typeface="Times New Roman" pitchFamily="34" charset="-120"/>
                        </a:rPr>
                        <a:t>не предусмотрен</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indent="0" marL="0">
                        <a:buNone/>
                      </a:pPr>
                      <a:r>
                        <a:rPr lang="ru-RU" sz="1800" dirty="0">
                          <a:solidFill>
                            <a:schemeClr val="tx1"/>
                          </a:solidFill>
                          <a:latin typeface="Times New Roman" pitchFamily="34" charset="0"/>
                          <a:ea typeface="Times New Roman" pitchFamily="34" charset="-122"/>
                          <a:cs typeface="Times New Roman" pitchFamily="34" charset="-120"/>
                        </a:rPr>
                        <a:t>обязателен</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indent="0" marL="0">
                        <a:buNone/>
                      </a:pPr>
                      <a:r>
                        <a:rPr lang="ru-RU" sz="1800" dirty="0">
                          <a:solidFill>
                            <a:schemeClr val="tx1"/>
                          </a:solidFill>
                          <a:latin typeface="Times New Roman" pitchFamily="34" charset="0"/>
                          <a:ea typeface="Times New Roman" pitchFamily="34" charset="-122"/>
                          <a:cs typeface="Times New Roman" pitchFamily="34" charset="-120"/>
                        </a:rPr>
                        <a:t>обязателен</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66928">
                <a:tc>
                  <a:txBody>
                    <a:bodyPr/>
                    <a:lstStyle/>
                    <a:p>
                      <a:pPr algn="l" indent="0" marL="0">
                        <a:buNone/>
                      </a:pPr>
                      <a:r>
                        <a:rPr lang="ru-RU" sz="1800" dirty="0">
                          <a:solidFill>
                            <a:schemeClr val="tx1"/>
                          </a:solidFill>
                          <a:latin typeface="Times New Roman" pitchFamily="34" charset="0"/>
                          <a:ea typeface="Times New Roman" pitchFamily="34" charset="-122"/>
                          <a:cs typeface="Times New Roman" pitchFamily="34" charset="-120"/>
                        </a:rPr>
                        <a:t>Сообщение работнику его дозы</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indent="0" marL="0">
                        <a:buNone/>
                      </a:pPr>
                      <a:r>
                        <a:rPr lang="ru-RU" sz="1800" dirty="0">
                          <a:solidFill>
                            <a:schemeClr val="tx1"/>
                          </a:solidFill>
                          <a:latin typeface="Times New Roman" pitchFamily="34" charset="0"/>
                          <a:ea typeface="Times New Roman" pitchFamily="34" charset="-122"/>
                          <a:cs typeface="Times New Roman" pitchFamily="34" charset="-120"/>
                        </a:rPr>
                        <a:t>не предусмотрено</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indent="0" marL="0">
                        <a:buNone/>
                      </a:pPr>
                      <a:r>
                        <a:rPr lang="ru-RU" sz="1800" dirty="0">
                          <a:solidFill>
                            <a:schemeClr val="tx1"/>
                          </a:solidFill>
                          <a:latin typeface="Times New Roman" pitchFamily="34" charset="0"/>
                          <a:ea typeface="Times New Roman" pitchFamily="34" charset="-122"/>
                          <a:cs typeface="Times New Roman" pitchFamily="34" charset="-120"/>
                        </a:rPr>
                        <a:t>обязательно</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indent="0" marL="0">
                        <a:buNone/>
                      </a:pPr>
                      <a:r>
                        <a:rPr lang="ru-RU" sz="1800" dirty="0">
                          <a:solidFill>
                            <a:schemeClr val="tx1"/>
                          </a:solidFill>
                          <a:latin typeface="Times New Roman" pitchFamily="34" charset="0"/>
                          <a:ea typeface="Times New Roman" pitchFamily="34" charset="-122"/>
                          <a:cs typeface="Times New Roman" pitchFamily="34" charset="-120"/>
                        </a:rPr>
                        <a:t>ежегодно, письменно</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66928">
                <a:tc>
                  <a:txBody>
                    <a:bodyPr/>
                    <a:lstStyle/>
                    <a:p>
                      <a:pPr algn="l" indent="0" marL="0">
                        <a:buNone/>
                      </a:pPr>
                      <a:r>
                        <a:rPr lang="ru-RU" sz="1800" dirty="0">
                          <a:solidFill>
                            <a:schemeClr val="tx1"/>
                          </a:solidFill>
                          <a:latin typeface="Times New Roman" pitchFamily="34" charset="0"/>
                          <a:ea typeface="Times New Roman" pitchFamily="34" charset="-122"/>
                          <a:cs typeface="Times New Roman" pitchFamily="34" charset="-120"/>
                        </a:rPr>
                        <a:t>Защита беременных</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indent="0" marL="0">
                        <a:buNone/>
                      </a:pPr>
                      <a:r>
                        <a:rPr lang="ru-RU" sz="1800" dirty="0">
                          <a:solidFill>
                            <a:schemeClr val="tx1"/>
                          </a:solidFill>
                          <a:latin typeface="Times New Roman" pitchFamily="34" charset="0"/>
                          <a:ea typeface="Times New Roman" pitchFamily="34" charset="-122"/>
                          <a:cs typeface="Times New Roman" pitchFamily="34" charset="-120"/>
                        </a:rPr>
                        <a:t>общие гарантии ТК РФ</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indent="0" marL="0">
                        <a:buNone/>
                      </a:pPr>
                      <a:r>
                        <a:rPr lang="ru-RU" sz="1800" dirty="0">
                          <a:solidFill>
                            <a:schemeClr val="tx1"/>
                          </a:solidFill>
                          <a:latin typeface="Times New Roman" pitchFamily="34" charset="0"/>
                          <a:ea typeface="Times New Roman" pitchFamily="34" charset="-122"/>
                          <a:cs typeface="Times New Roman" pitchFamily="34" charset="-120"/>
                        </a:rPr>
                        <a:t>доза плоду не более 1 мЗв</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indent="0" marL="0">
                        <a:buNone/>
                      </a:pPr>
                      <a:r>
                        <a:rPr lang="ru-RU" sz="1800" dirty="0">
                          <a:solidFill>
                            <a:schemeClr val="tx1"/>
                          </a:solidFill>
                          <a:latin typeface="Times New Roman" pitchFamily="34" charset="0"/>
                          <a:ea typeface="Times New Roman" pitchFamily="34" charset="-122"/>
                          <a:cs typeface="Times New Roman" pitchFamily="34" charset="-120"/>
                        </a:rPr>
                        <a:t>доза плоду не более 1 мЗв</a:t>
                      </a:r>
                      <a:endParaRPr lang="ru-RU" sz="1800" dirty="0">
                        <a:latin typeface="Times New Roman" charset="0"/>
                        <a:ea typeface="Times New Roman" charset="0"/>
                        <a:cs typeface="Times New Roman" charset="0"/>
                      </a:endParaRPr>
                    </a:p>
                  </a:txBody>
                  <a:tcPr marL="73152" marR="73152"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02975" y="635508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ru-RU"/>
              <a:t>10</a:t>
            </a:fld>
            <a:endParaRPr lang="ru-RU"/>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1325880" y="274320"/>
            <a:ext cx="9539935" cy="914400"/>
          </a:xfrm>
          <a:prstGeom prst="rect">
            <a:avLst/>
          </a:prstGeom>
          <a:noFill/>
          <a:ln/>
        </p:spPr>
        <p:txBody>
          <a:bodyPr wrap="square" lIns="635" tIns="635" rIns="635" bIns="635" rtlCol="0" anchor="ctr"/>
          <a:lstStyle/>
          <a:p>
            <a:pPr algn="ctr" indent="0" marL="0">
              <a:buNone/>
            </a:pPr>
            <a:r>
              <a:rPr lang="ru-RU" altLang="en-US" sz="3200" b="1" dirty="0">
                <a:solidFill>
                  <a:schemeClr val="tx1"/>
                </a:solidFill>
              </a:rPr>
              <a:t>Предложения по совершенствованию (1)</a:t>
            </a:r>
            <a:endParaRPr lang="ru-RU" sz="3200" dirty="0"/>
          </a:p>
        </p:txBody>
      </p:sp>
      <p:sp>
        <p:nvSpPr>
          <p:cNvPr id="3" name="Text 0"/>
          <p:cNvSpPr/>
          <p:nvPr>
            <p:ph idx="102" type="body" hasCustomPrompt="1"/>
          </p:nvPr>
        </p:nvSpPr>
        <p:spPr>
          <a:xfrm>
            <a:off x="548640" y="1371600"/>
            <a:ext cx="11094415" cy="4846320"/>
          </a:xfrm>
          <a:prstGeom prst="rect">
            <a:avLst/>
          </a:prstGeom>
          <a:noFill/>
          <a:ln/>
        </p:spPr>
        <p:txBody>
          <a:bodyPr wrap="square" lIns="635" tIns="635" rIns="635" bIns="635" rtlCol="0" anchor="t"/>
          <a:lstStyle/>
          <a:p>
            <a:pPr algn="l" marL="304800" indent="-304800">
              <a:spcAft>
                <a:spcPts val="1000"/>
              </a:spcAft>
              <a:buSzPct val="100000"/>
              <a:buChar char="–"/>
            </a:pPr>
            <a:r>
              <a:rPr lang="ru-RU" altLang="en-US" sz="2400" b="1" dirty="0">
                <a:solidFill>
                  <a:schemeClr val="tx1"/>
                </a:solidFill>
              </a:rPr>
              <a:t>Санитарные правила: </a:t>
            </a:r>
            <a:pPr algn="l" marL="304800" indent="-304800">
              <a:spcAft>
                <a:spcPts val="1000"/>
              </a:spcAft>
              <a:buSzPct val="100000"/>
              <a:buChar char="–"/>
            </a:pPr>
            <a:r>
              <a:rPr lang="ru-RU" altLang="en-US" sz="2400" dirty="0">
                <a:solidFill>
                  <a:schemeClr val="tx1"/>
                </a:solidFill>
              </a:rPr>
              <a:t>если доза члена экипажа может превысить 1 мЗв в год, эксплуатант рассчитывает индивидуальную дозу, назначает ответственного и ведёт учёт</a:t>
            </a:r>
            <a:endParaRPr lang="ru-RU" sz="2400" dirty="0"/>
          </a:p>
          <a:p>
            <a:pPr algn="l" marL="304800" indent="-304800">
              <a:spcAft>
                <a:spcPts val="1000"/>
              </a:spcAft>
              <a:buSzPct val="100000"/>
              <a:buChar char="–"/>
            </a:pPr>
            <a:r>
              <a:rPr lang="ru-RU" altLang="en-US" sz="2400" b="1" dirty="0">
                <a:solidFill>
                  <a:schemeClr val="tx1"/>
                </a:solidFill>
              </a:rPr>
              <a:t>Контрольный уровень: </a:t>
            </a:r>
            <a:pPr algn="l" marL="304800" indent="-304800">
              <a:spcAft>
                <a:spcPts val="1000"/>
              </a:spcAft>
              <a:buSzPct val="100000"/>
              <a:buChar char="–"/>
            </a:pPr>
            <a:r>
              <a:rPr lang="ru-RU" altLang="en-US" sz="2400" dirty="0">
                <a:solidFill>
                  <a:schemeClr val="tx1"/>
                </a:solidFill>
              </a:rPr>
              <a:t>ниже предела 5 мЗв в год; при его достижении график члена экипажа корректируется</a:t>
            </a:r>
            <a:endParaRPr lang="ru-RU" sz="2400" dirty="0"/>
          </a:p>
          <a:p>
            <a:pPr algn="l" marL="304800" indent="-304800">
              <a:spcAft>
                <a:spcPts val="1000"/>
              </a:spcAft>
              <a:buSzPct val="100000"/>
              <a:buChar char="–"/>
            </a:pPr>
            <a:r>
              <a:rPr lang="ru-RU" altLang="en-US" sz="2400" b="1" dirty="0">
                <a:solidFill>
                  <a:schemeClr val="tx1"/>
                </a:solidFill>
              </a:rPr>
              <a:t>Методические указания Роспотребнадзора: </a:t>
            </a:r>
            <a:pPr algn="l" marL="304800" indent="-304800">
              <a:spcAft>
                <a:spcPts val="1000"/>
              </a:spcAft>
              <a:buSzPct val="100000"/>
              <a:buChar char="–"/>
            </a:pPr>
            <a:r>
              <a:rPr lang="ru-RU" altLang="en-US" sz="2400" dirty="0">
                <a:solidFill>
                  <a:schemeClr val="tx1"/>
                </a:solidFill>
              </a:rPr>
              <a:t>расчёт дозы по фактическим маршрутам, эшелонам и времени полёта (в перспективе – единый государственный сервис расчёта)</a:t>
            </a:r>
            <a:endParaRPr lang="ru-RU" sz="2400" dirty="0"/>
          </a:p>
        </p:txBody>
      </p:sp>
      <p:sp>
        <p:nvSpPr>
          <p:cNvPr id="25" name="Slide Number Placeholder 0"/>
          <p:cNvSpPr>
            <a:spLocks noGrp="1"/>
          </p:cNvSpPr>
          <p:nvPr>
            <p:ph type="sldNum" sz="quarter" idx="4294967295"/>
          </p:nvPr>
        </p:nvSpPr>
        <p:spPr>
          <a:xfrm>
            <a:off x="11002975" y="635508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ru-RU"/>
              <a:t>11</a:t>
            </a:fld>
            <a:endParaRPr lang="ru-RU"/>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1325880" y="274320"/>
            <a:ext cx="9539935" cy="914400"/>
          </a:xfrm>
          <a:prstGeom prst="rect">
            <a:avLst/>
          </a:prstGeom>
          <a:noFill/>
          <a:ln/>
        </p:spPr>
        <p:txBody>
          <a:bodyPr wrap="square" lIns="635" tIns="635" rIns="635" bIns="635" rtlCol="0" anchor="ctr"/>
          <a:lstStyle/>
          <a:p>
            <a:pPr algn="ctr" indent="0" marL="0">
              <a:buNone/>
            </a:pPr>
            <a:r>
              <a:rPr lang="ru-RU" altLang="en-US" sz="3200" b="1" dirty="0">
                <a:solidFill>
                  <a:schemeClr val="tx1"/>
                </a:solidFill>
              </a:rPr>
              <a:t>Предложения по совершенствованию (2)</a:t>
            </a:r>
            <a:endParaRPr lang="ru-RU" sz="3200" dirty="0"/>
          </a:p>
        </p:txBody>
      </p:sp>
      <p:sp>
        <p:nvSpPr>
          <p:cNvPr id="3" name="Text 0"/>
          <p:cNvSpPr/>
          <p:nvPr>
            <p:ph idx="102" type="body" hasCustomPrompt="1"/>
          </p:nvPr>
        </p:nvSpPr>
        <p:spPr>
          <a:xfrm>
            <a:off x="548640" y="1371600"/>
            <a:ext cx="11094415" cy="4846320"/>
          </a:xfrm>
          <a:prstGeom prst="rect">
            <a:avLst/>
          </a:prstGeom>
          <a:noFill/>
          <a:ln/>
        </p:spPr>
        <p:txBody>
          <a:bodyPr wrap="square" lIns="635" tIns="635" rIns="635" bIns="635" rtlCol="0" anchor="t"/>
          <a:lstStyle/>
          <a:p>
            <a:pPr algn="l" marL="304800" indent="-304800">
              <a:spcAft>
                <a:spcPts val="1000"/>
              </a:spcAft>
              <a:buSzPct val="100000"/>
              <a:buChar char="–"/>
            </a:pPr>
            <a:r>
              <a:rPr lang="ru-RU" altLang="en-US" sz="2400" b="1" dirty="0">
                <a:solidFill>
                  <a:schemeClr val="tx1"/>
                </a:solidFill>
              </a:rPr>
              <a:t>ЕСКИД: </a:t>
            </a:r>
            <a:pPr algn="l" marL="304800" indent="-304800">
              <a:spcAft>
                <a:spcPts val="1000"/>
              </a:spcAft>
              <a:buSzPct val="100000"/>
              <a:buChar char="–"/>
            </a:pPr>
            <a:r>
              <a:rPr lang="ru-RU" altLang="en-US" sz="2400" dirty="0">
                <a:solidFill>
                  <a:schemeClr val="tx1"/>
                </a:solidFill>
              </a:rPr>
              <a:t>дополнить формы учёта дозами членов экипажей; ежегодно и при увольнении сообщать работнику его дозу</a:t>
            </a:r>
            <a:endParaRPr lang="ru-RU" sz="2400" dirty="0"/>
          </a:p>
          <a:p>
            <a:pPr algn="l" marL="304800" indent="-304800">
              <a:spcAft>
                <a:spcPts val="1000"/>
              </a:spcAft>
              <a:buSzPct val="100000"/>
              <a:buChar char="–"/>
            </a:pPr>
            <a:r>
              <a:rPr lang="ru-RU" altLang="en-US" sz="2400" b="1" dirty="0">
                <a:solidFill>
                  <a:schemeClr val="tx1"/>
                </a:solidFill>
              </a:rPr>
              <a:t>Приказ Минтранса № 381 (ст. 329 ТК РФ): </a:t>
            </a:r>
            <a:pPr algn="l" marL="304800" indent="-304800">
              <a:spcAft>
                <a:spcPts val="1000"/>
              </a:spcAft>
              <a:buSzPct val="100000"/>
              <a:buChar char="–"/>
            </a:pPr>
            <a:r>
              <a:rPr lang="ru-RU" altLang="en-US" sz="2400" dirty="0">
                <a:solidFill>
                  <a:schemeClr val="tx1"/>
                </a:solidFill>
              </a:rPr>
              <a:t>учитывать дозу при составлении графиков; согласие на налёт до 900 ч – только после сообщения работнику его дозы</a:t>
            </a:r>
            <a:endParaRPr lang="ru-RU" sz="2400" dirty="0"/>
          </a:p>
          <a:p>
            <a:pPr algn="l" marL="304800" indent="-304800">
              <a:spcAft>
                <a:spcPts val="1000"/>
              </a:spcAft>
              <a:buSzPct val="100000"/>
              <a:buChar char="–"/>
            </a:pPr>
            <a:r>
              <a:rPr lang="ru-RU" altLang="en-US" sz="2400" b="1" dirty="0">
                <a:solidFill>
                  <a:schemeClr val="tx1"/>
                </a:solidFill>
              </a:rPr>
              <a:t>Беременные члены экипажа: </a:t>
            </a:r>
            <a:pPr algn="l" marL="304800" indent="-304800">
              <a:spcAft>
                <a:spcPts val="1000"/>
              </a:spcAft>
              <a:buSzPct val="100000"/>
              <a:buChar char="–"/>
            </a:pPr>
            <a:r>
              <a:rPr lang="ru-RU" altLang="en-US" sz="2400" dirty="0">
                <a:solidFill>
                  <a:schemeClr val="tx1"/>
                </a:solidFill>
              </a:rPr>
              <a:t>после уведомления – перевод на наземную работу или на рейсы, где доза плоду не превысит 1 мЗв</a:t>
            </a:r>
            <a:endParaRPr lang="ru-RU" sz="2400" dirty="0"/>
          </a:p>
          <a:p>
            <a:pPr algn="l" marL="304800" indent="-304800">
              <a:spcAft>
                <a:spcPts val="1000"/>
              </a:spcAft>
              <a:buSzPct val="100000"/>
              <a:buChar char="–"/>
            </a:pPr>
            <a:r>
              <a:rPr lang="ru-RU" altLang="en-US" sz="2400" b="1" dirty="0">
                <a:solidFill>
                  <a:schemeClr val="tx1"/>
                </a:solidFill>
              </a:rPr>
              <a:t>Приказ Минтруда № 255н: </a:t>
            </a:r>
            <a:pPr algn="l" marL="304800" indent="-304800">
              <a:spcAft>
                <a:spcPts val="1000"/>
              </a:spcAft>
              <a:buSzPct val="100000"/>
              <a:buChar char="–"/>
            </a:pPr>
            <a:r>
              <a:rPr lang="ru-RU" altLang="en-US" sz="2400" dirty="0">
                <a:solidFill>
                  <a:schemeClr val="tx1"/>
                </a:solidFill>
              </a:rPr>
              <a:t>при пересмотре (до 01.03.2029) учесть космическое излучение в СОУТ</a:t>
            </a:r>
            <a:endParaRPr lang="ru-RU" sz="2400" dirty="0"/>
          </a:p>
        </p:txBody>
      </p:sp>
      <p:sp>
        <p:nvSpPr>
          <p:cNvPr id="25" name="Slide Number Placeholder 0"/>
          <p:cNvSpPr>
            <a:spLocks noGrp="1"/>
          </p:cNvSpPr>
          <p:nvPr>
            <p:ph type="sldNum" sz="quarter" idx="4294967295"/>
          </p:nvPr>
        </p:nvSpPr>
        <p:spPr>
          <a:xfrm>
            <a:off x="11002975" y="635508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ru-RU"/>
              <a:t>12</a:t>
            </a:fld>
            <a:endParaRPr lang="ru-RU"/>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1325880" y="274320"/>
            <a:ext cx="9539935" cy="914400"/>
          </a:xfrm>
          <a:prstGeom prst="rect">
            <a:avLst/>
          </a:prstGeom>
          <a:noFill/>
          <a:ln/>
        </p:spPr>
        <p:txBody>
          <a:bodyPr wrap="square" lIns="635" tIns="635" rIns="635" bIns="635" rtlCol="0" anchor="ctr"/>
          <a:lstStyle/>
          <a:p>
            <a:pPr algn="ctr" indent="0" marL="0">
              <a:buNone/>
            </a:pPr>
            <a:r>
              <a:rPr lang="ru-RU" altLang="en-US" sz="3200" b="1" dirty="0">
                <a:solidFill>
                  <a:schemeClr val="tx1"/>
                </a:solidFill>
              </a:rPr>
              <a:t>Выводы</a:t>
            </a:r>
            <a:endParaRPr lang="ru-RU" sz="3200" dirty="0"/>
          </a:p>
        </p:txBody>
      </p:sp>
      <p:sp>
        <p:nvSpPr>
          <p:cNvPr id="3" name="Text 0"/>
          <p:cNvSpPr/>
          <p:nvPr>
            <p:ph idx="102" type="body" hasCustomPrompt="1"/>
          </p:nvPr>
        </p:nvSpPr>
        <p:spPr>
          <a:xfrm>
            <a:off x="548640" y="1371600"/>
            <a:ext cx="11094415" cy="4846320"/>
          </a:xfrm>
          <a:prstGeom prst="rect">
            <a:avLst/>
          </a:prstGeom>
          <a:noFill/>
          <a:ln/>
        </p:spPr>
        <p:txBody>
          <a:bodyPr wrap="square" lIns="635" tIns="635" rIns="635" bIns="635" rtlCol="0" anchor="t"/>
          <a:lstStyle/>
          <a:p>
            <a:pPr algn="l" marL="304800" indent="-304800">
              <a:spcAft>
                <a:spcPts val="1000"/>
              </a:spcAft>
              <a:buSzPct val="100000"/>
              <a:buChar char="–"/>
            </a:pPr>
            <a:r>
              <a:rPr lang="ru-RU" altLang="en-US" sz="2400" dirty="0">
                <a:solidFill>
                  <a:schemeClr val="tx1"/>
                </a:solidFill>
              </a:rPr>
              <a:t>Предел дозы для экипажей установлен (5 мЗв в год, пп. 4.1, 4.3 НРБ‑99/2009), но механизм его соблюдения не закреплён</a:t>
            </a:r>
            <a:endParaRPr lang="ru-RU" sz="2400" dirty="0"/>
          </a:p>
          <a:p>
            <a:pPr algn="l" marL="304800" indent="-304800">
              <a:spcAft>
                <a:spcPts val="1000"/>
              </a:spcAft>
              <a:buSzPct val="100000"/>
              <a:buChar char="–"/>
            </a:pPr>
            <a:r>
              <a:rPr lang="ru-RU" altLang="en-US" sz="2400" dirty="0">
                <a:solidFill>
                  <a:schemeClr val="tx1"/>
                </a:solidFill>
              </a:rPr>
              <a:t>После отмены специальных СанПиН не определено, кто и как рассчитывает и учитывает индивидуальную дозу; СОУТ и лимиты налёта этот пробел не закрывают</a:t>
            </a:r>
            <a:endParaRPr lang="ru-RU" sz="2400" dirty="0"/>
          </a:p>
          <a:p>
            <a:pPr algn="l" marL="304800" indent="-304800">
              <a:spcAft>
                <a:spcPts val="1000"/>
              </a:spcAft>
              <a:buSzPct val="100000"/>
              <a:buChar char="–"/>
            </a:pPr>
            <a:r>
              <a:rPr lang="ru-RU" altLang="en-US" sz="2400" dirty="0">
                <a:solidFill>
                  <a:schemeClr val="tx1"/>
                </a:solidFill>
              </a:rPr>
              <a:t>Предлагается закрепить расчёт и учёт индивидуальной дозы, сообщение дозы работнику, учёт дозы в графиках и защиту беременных – по образцу ст. 35 Директивы 2013/59/Евратом</a:t>
            </a:r>
            <a:endParaRPr lang="ru-RU" sz="2400" dirty="0"/>
          </a:p>
        </p:txBody>
      </p:sp>
      <p:sp>
        <p:nvSpPr>
          <p:cNvPr id="25" name="Slide Number Placeholder 0"/>
          <p:cNvSpPr>
            <a:spLocks noGrp="1"/>
          </p:cNvSpPr>
          <p:nvPr>
            <p:ph type="sldNum" sz="quarter" idx="4294967295"/>
          </p:nvPr>
        </p:nvSpPr>
        <p:spPr>
          <a:xfrm>
            <a:off x="11002975" y="635508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ru-RU"/>
              <a:t>13</a:t>
            </a:fld>
            <a:endParaRPr lang="ru-RU"/>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1325880" y="274320"/>
            <a:ext cx="9539935" cy="914400"/>
          </a:xfrm>
          <a:prstGeom prst="rect">
            <a:avLst/>
          </a:prstGeom>
          <a:noFill/>
          <a:ln/>
        </p:spPr>
        <p:txBody>
          <a:bodyPr wrap="square" lIns="635" tIns="635" rIns="635" bIns="635" rtlCol="0" anchor="ctr"/>
          <a:lstStyle/>
          <a:p>
            <a:pPr algn="ctr" indent="0" marL="0">
              <a:buNone/>
            </a:pPr>
            <a:r>
              <a:rPr lang="ru-RU" altLang="en-US" sz="3200" b="1" dirty="0">
                <a:solidFill>
                  <a:schemeClr val="tx1"/>
                </a:solidFill>
              </a:rPr>
              <a:t>Список использованных источников</a:t>
            </a:r>
            <a:endParaRPr lang="ru-RU" sz="3200" dirty="0"/>
          </a:p>
        </p:txBody>
      </p:sp>
      <p:sp>
        <p:nvSpPr>
          <p:cNvPr id="3" name="Text 1"/>
          <p:cNvSpPr txBox="1"/>
          <p:nvPr/>
        </p:nvSpPr>
        <p:spPr>
          <a:xfrm>
            <a:off x="548640" y="1280160"/>
            <a:ext cx="11094415" cy="4983480"/>
          </a:xfrm>
          <a:prstGeom prst="rect">
            <a:avLst/>
          </a:prstGeom>
          <a:noFill/>
          <a:ln/>
        </p:spPr>
        <p:txBody>
          <a:bodyPr wrap="square" lIns="635" tIns="635" rIns="635" bIns="635" rtlCol="0" anchor="t"/>
          <a:lstStyle/>
          <a:p>
            <a:pPr algn="just" marL="342900" indent="-342900">
              <a:spcAft>
                <a:spcPts val="400"/>
              </a:spcAft>
              <a:buSzPct val="100000"/>
              <a:buFont typeface="+mj-lt"/>
              <a:buAutoNum type="arabicPeriod" startAt="1"/>
            </a:pPr>
            <a:r>
              <a:rPr lang="ru-RU" altLang="en-US" sz="1400" dirty="0">
                <a:solidFill>
                  <a:schemeClr val="tx1"/>
                </a:solidFill>
              </a:rPr>
              <a:t>Громова Н. Ю., Шутов Н. Р. Исследование радиационного фона на борту воздушного судна в различных фазах полета и его влияние на радиационную безопасность летного состава : рукопись. – Ульяновск, 2026.</a:t>
            </a:r>
            <a:endParaRPr lang="ru-RU" sz="1400" dirty="0"/>
          </a:p>
          <a:p>
            <a:pPr algn="just" marL="342900" indent="-342900">
              <a:spcAft>
                <a:spcPts val="400"/>
              </a:spcAft>
              <a:buSzPct val="100000"/>
              <a:buFont typeface="+mj-lt"/>
              <a:buAutoNum type="arabicPeriod" startAt="1"/>
            </a:pPr>
            <a:r>
              <a:rPr lang="ru-RU" altLang="en-US" sz="1400" dirty="0">
                <a:solidFill>
                  <a:schemeClr val="tx1"/>
                </a:solidFill>
              </a:rPr>
              <a:t>ICRP Publication 132. Radiological Protection from Cosmic Radiation in Aviation // Annals of the ICRP. – 2016. – Vol. 45, № 1.</a:t>
            </a:r>
            <a:endParaRPr lang="ru-RU" sz="1400" dirty="0"/>
          </a:p>
          <a:p>
            <a:pPr algn="just" marL="342900" indent="-342900">
              <a:spcAft>
                <a:spcPts val="400"/>
              </a:spcAft>
              <a:buSzPct val="100000"/>
              <a:buFont typeface="+mj-lt"/>
              <a:buAutoNum type="arabicPeriod" startAt="1"/>
            </a:pPr>
            <a:r>
              <a:rPr lang="ru-RU" altLang="en-US" sz="1400" dirty="0">
                <a:solidFill>
                  <a:schemeClr val="tx1"/>
                </a:solidFill>
              </a:rPr>
              <a:t>Маткевич Е. И., Бурмистров В. И., Иванов И. В. Оценка доз облучения летного состава воздушных судов и обоснование мероприятий по их снижению // Медицинская радиология и радиационная безопасность. – 2025. – Т. 70, № 6. – С. 28–⁠39.</a:t>
            </a:r>
            <a:endParaRPr lang="ru-RU" sz="1400" dirty="0"/>
          </a:p>
          <a:p>
            <a:pPr algn="just" marL="342900" indent="-342900">
              <a:spcAft>
                <a:spcPts val="400"/>
              </a:spcAft>
              <a:buSzPct val="100000"/>
              <a:buFont typeface="+mj-lt"/>
              <a:buAutoNum type="arabicPeriod" startAt="1"/>
            </a:pPr>
            <a:r>
              <a:rPr lang="ru-RU" altLang="en-US" sz="1400" dirty="0">
                <a:solidFill>
                  <a:schemeClr val="tx1"/>
                </a:solidFill>
              </a:rPr>
              <a:t>О радиационной безопасности населения : Федеральный закон от 09.01.1996 № 3‑ФЗ.</a:t>
            </a:r>
            <a:endParaRPr lang="ru-RU" sz="1400" dirty="0"/>
          </a:p>
          <a:p>
            <a:pPr algn="just" marL="342900" indent="-342900">
              <a:spcAft>
                <a:spcPts val="400"/>
              </a:spcAft>
              <a:buSzPct val="100000"/>
              <a:buFont typeface="+mj-lt"/>
              <a:buAutoNum type="arabicPeriod" startAt="1"/>
            </a:pPr>
            <a:r>
              <a:rPr lang="ru-RU" altLang="en-US" sz="1400" dirty="0">
                <a:solidFill>
                  <a:schemeClr val="tx1"/>
                </a:solidFill>
              </a:rPr>
              <a:t>О санитарно-эпидемиологическом благополучии населения : Федеральный закон от 30.03.1999 № 52‑ФЗ.</a:t>
            </a:r>
            <a:endParaRPr lang="ru-RU" sz="1400" dirty="0"/>
          </a:p>
          <a:p>
            <a:pPr algn="just" marL="342900" indent="-342900">
              <a:spcAft>
                <a:spcPts val="400"/>
              </a:spcAft>
              <a:buSzPct val="100000"/>
              <a:buFont typeface="+mj-lt"/>
              <a:buAutoNum type="arabicPeriod" startAt="1"/>
            </a:pPr>
            <a:r>
              <a:rPr lang="ru-RU" altLang="en-US" sz="1400" dirty="0">
                <a:solidFill>
                  <a:schemeClr val="tx1"/>
                </a:solidFill>
              </a:rPr>
              <a:t>СанПиН 2.6.1.2523‑09. Нормы радиационной безопасности (НРБ‑99/2009) : утв. постановлением Главного государственного санитарного врача РФ от 07.07.2009 № 47.</a:t>
            </a:r>
            <a:endParaRPr lang="ru-RU" sz="1400" dirty="0"/>
          </a:p>
          <a:p>
            <a:pPr algn="just" marL="342900" indent="-342900">
              <a:spcAft>
                <a:spcPts val="400"/>
              </a:spcAft>
              <a:buSzPct val="100000"/>
              <a:buFont typeface="+mj-lt"/>
              <a:buAutoNum type="arabicPeriod" startAt="1"/>
            </a:pPr>
            <a:r>
              <a:rPr lang="ru-RU" altLang="en-US" sz="1400" dirty="0">
                <a:solidFill>
                  <a:schemeClr val="tx1"/>
                </a:solidFill>
              </a:rPr>
              <a:t>Воздушный кодекс Российской Федерации от 19.03.1997 № 60‑ФЗ.</a:t>
            </a:r>
            <a:endParaRPr lang="ru-RU" sz="1400" dirty="0"/>
          </a:p>
          <a:p>
            <a:pPr algn="just" marL="342900" indent="-342900">
              <a:spcAft>
                <a:spcPts val="400"/>
              </a:spcAft>
              <a:buSzPct val="100000"/>
              <a:buFont typeface="+mj-lt"/>
              <a:buAutoNum type="arabicPeriod" startAt="1"/>
            </a:pPr>
            <a:r>
              <a:rPr lang="ru-RU" altLang="en-US" sz="1400" dirty="0">
                <a:solidFill>
                  <a:schemeClr val="tx1"/>
                </a:solidFill>
              </a:rPr>
              <a:t>Постановление Правительства РФ от 08.10.2020 № 1631 (об утрате силы СанПиН 2.5.1.2423‑08 с 01.01.2021).</a:t>
            </a:r>
            <a:endParaRPr lang="ru-RU" sz="1400" dirty="0"/>
          </a:p>
        </p:txBody>
      </p:sp>
      <p:sp>
        <p:nvSpPr>
          <p:cNvPr id="25" name="Slide Number Placeholder 0"/>
          <p:cNvSpPr>
            <a:spLocks noGrp="1"/>
          </p:cNvSpPr>
          <p:nvPr>
            <p:ph type="sldNum" sz="quarter" idx="4294967295"/>
          </p:nvPr>
        </p:nvSpPr>
        <p:spPr>
          <a:xfrm>
            <a:off x="11002975" y="635508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ru-RU"/>
              <a:t>14</a:t>
            </a:fld>
            <a:endParaRPr lang="ru-RU"/>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1325880" y="274320"/>
            <a:ext cx="9539935" cy="914400"/>
          </a:xfrm>
          <a:prstGeom prst="rect">
            <a:avLst/>
          </a:prstGeom>
          <a:noFill/>
          <a:ln/>
        </p:spPr>
        <p:txBody>
          <a:bodyPr wrap="square" lIns="635" tIns="635" rIns="635" bIns="635" rtlCol="0" anchor="ctr"/>
          <a:lstStyle/>
          <a:p>
            <a:pPr algn="ctr" indent="0" marL="0">
              <a:buNone/>
            </a:pPr>
            <a:r>
              <a:rPr lang="ru-RU" altLang="en-US" sz="3200" b="1" dirty="0">
                <a:solidFill>
                  <a:schemeClr val="tx1"/>
                </a:solidFill>
              </a:rPr>
              <a:t>Список использованных источников</a:t>
            </a:r>
            <a:endParaRPr lang="ru-RU" sz="3200" dirty="0"/>
          </a:p>
        </p:txBody>
      </p:sp>
      <p:sp>
        <p:nvSpPr>
          <p:cNvPr id="3" name="Text 1"/>
          <p:cNvSpPr txBox="1"/>
          <p:nvPr/>
        </p:nvSpPr>
        <p:spPr>
          <a:xfrm>
            <a:off x="548640" y="1280160"/>
            <a:ext cx="11094415" cy="4983480"/>
          </a:xfrm>
          <a:prstGeom prst="rect">
            <a:avLst/>
          </a:prstGeom>
          <a:noFill/>
          <a:ln/>
        </p:spPr>
        <p:txBody>
          <a:bodyPr wrap="square" lIns="635" tIns="635" rIns="635" bIns="635" rtlCol="0" anchor="t"/>
          <a:lstStyle/>
          <a:p>
            <a:pPr algn="just" marL="342900" indent="-342900">
              <a:spcAft>
                <a:spcPts val="400"/>
              </a:spcAft>
              <a:buSzPct val="100000"/>
              <a:buFont typeface="+mj-lt"/>
              <a:buAutoNum type="arabicPeriod" startAt="9"/>
            </a:pPr>
            <a:r>
              <a:rPr lang="ru-RU" altLang="en-US" sz="1400" dirty="0">
                <a:solidFill>
                  <a:schemeClr val="tx1"/>
                </a:solidFill>
              </a:rPr>
              <a:t>СанПиН 2.6.4115‑25 : утв. постановлением Главного государственного санитарного врача РФ от 27.03.2025 № 6 (об утрате силы СанПиН 2.6.1.2800‑10 с 01.09.2025).</a:t>
            </a:r>
            <a:endParaRPr lang="ru-RU" sz="1400" dirty="0"/>
          </a:p>
          <a:p>
            <a:pPr algn="just" marL="342900" indent="-342900">
              <a:spcAft>
                <a:spcPts val="400"/>
              </a:spcAft>
              <a:buSzPct val="100000"/>
              <a:buFont typeface="+mj-lt"/>
              <a:buAutoNum type="arabicPeriod" startAt="9"/>
            </a:pPr>
            <a:r>
              <a:rPr lang="ru-RU" altLang="en-US" sz="1400" dirty="0">
                <a:solidFill>
                  <a:schemeClr val="tx1"/>
                </a:solidFill>
              </a:rPr>
              <a:t>Трудовой кодекс Российской Федерации от 30.12.2001 № 197‑ФЗ.</a:t>
            </a:r>
            <a:endParaRPr lang="ru-RU" sz="1400" dirty="0"/>
          </a:p>
          <a:p>
            <a:pPr algn="just" marL="342900" indent="-342900">
              <a:spcAft>
                <a:spcPts val="400"/>
              </a:spcAft>
              <a:buSzPct val="100000"/>
              <a:buFont typeface="+mj-lt"/>
              <a:buAutoNum type="arabicPeriod" startAt="9"/>
            </a:pPr>
            <a:r>
              <a:rPr lang="ru-RU" altLang="en-US" sz="1400" dirty="0">
                <a:solidFill>
                  <a:schemeClr val="tx1"/>
                </a:solidFill>
              </a:rPr>
              <a:t>Об утверждении особенностей проведения специальной оценки условий труда на рабочих местах членов летных и кабинных экипажей воздушных судов гражданской авиации : приказ Минтруда России от 06.05.2024 № 255н.</a:t>
            </a:r>
            <a:endParaRPr lang="ru-RU" sz="1400" dirty="0"/>
          </a:p>
          <a:p>
            <a:pPr algn="just" marL="342900" indent="-342900">
              <a:spcAft>
                <a:spcPts val="400"/>
              </a:spcAft>
              <a:buSzPct val="100000"/>
              <a:buFont typeface="+mj-lt"/>
              <a:buAutoNum type="arabicPeriod" startAt="9"/>
            </a:pPr>
            <a:r>
              <a:rPr lang="ru-RU" altLang="en-US" sz="1400" dirty="0">
                <a:solidFill>
                  <a:schemeClr val="tx1"/>
                </a:solidFill>
              </a:rPr>
              <a:t>Приказ Минтранса России от 10.11.2025 № 381 «Об установлении Особенностей режима рабочего времени и времени отдыха специалистов авиационного персонала гражданской авиации…». – Введ. 01.03.2026.</a:t>
            </a:r>
            <a:endParaRPr lang="ru-RU" sz="1400" dirty="0"/>
          </a:p>
          <a:p>
            <a:pPr algn="just" marL="342900" indent="-342900">
              <a:spcAft>
                <a:spcPts val="400"/>
              </a:spcAft>
              <a:buSzPct val="100000"/>
              <a:buFont typeface="+mj-lt"/>
              <a:buAutoNum type="arabicPeriod" startAt="9"/>
            </a:pPr>
            <a:r>
              <a:rPr lang="ru-RU" altLang="en-US" sz="1400" dirty="0">
                <a:solidFill>
                  <a:schemeClr val="tx1"/>
                </a:solidFill>
              </a:rPr>
              <a:t>Council Directive 2013/59/Euratom of 5 December 2013 laying down basic safety standards for protection against the dangers arising from exposure to ionising radiation.</a:t>
            </a:r>
            <a:endParaRPr lang="ru-RU" sz="1400" dirty="0"/>
          </a:p>
          <a:p>
            <a:pPr algn="just" marL="342900" indent="-342900">
              <a:spcAft>
                <a:spcPts val="400"/>
              </a:spcAft>
              <a:buSzPct val="100000"/>
              <a:buFont typeface="+mj-lt"/>
              <a:buAutoNum type="arabicPeriod" startAt="9"/>
            </a:pPr>
            <a:r>
              <a:rPr lang="ru-RU" altLang="en-US" sz="1400" dirty="0">
                <a:solidFill>
                  <a:schemeClr val="tx1"/>
                </a:solidFill>
              </a:rPr>
              <a:t>Gesetz zum Schutz vor der schädlichen Wirkung ionisierender Strahlung (Strahlenschutzgesetz – StrlSchG) vom 27.06.2017.</a:t>
            </a:r>
            <a:endParaRPr lang="ru-RU" sz="1400" dirty="0"/>
          </a:p>
          <a:p>
            <a:pPr algn="just" marL="342900" indent="-342900">
              <a:spcAft>
                <a:spcPts val="400"/>
              </a:spcAft>
              <a:buSzPct val="100000"/>
              <a:buFont typeface="+mj-lt"/>
              <a:buAutoNum type="arabicPeriod" startAt="9"/>
            </a:pPr>
            <a:r>
              <a:rPr lang="ru-RU" altLang="en-US" sz="1400" dirty="0">
                <a:solidFill>
                  <a:schemeClr val="tx1"/>
                </a:solidFill>
              </a:rPr>
              <a:t>Verordnung zum Schutz vor der schädlichen Wirkung ionisierender Strahlung (Strahlenschutzverordnung – StrlSchV) vom 29.11.2018.</a:t>
            </a:r>
            <a:endParaRPr lang="ru-RU" sz="1400" dirty="0"/>
          </a:p>
        </p:txBody>
      </p:sp>
      <p:sp>
        <p:nvSpPr>
          <p:cNvPr id="25" name="Slide Number Placeholder 0"/>
          <p:cNvSpPr>
            <a:spLocks noGrp="1"/>
          </p:cNvSpPr>
          <p:nvPr>
            <p:ph type="sldNum" sz="quarter" idx="4294967295"/>
          </p:nvPr>
        </p:nvSpPr>
        <p:spPr>
          <a:xfrm>
            <a:off x="11002975" y="6355080"/>
            <a:ext cx="731520" cy="320040"/>
          </a:xfrm>
          <a:prstGeom prst="rect">
            <a:avLst/>
          </a:prstGeom>
          <a:extLst>
            <a:ext uri="{C572A759-6A51-4108-AA02-DFA0A04FC94B}">
              <ma14:wrappingTextBoxFlag xmlns:ma14="http://schemas.microsoft.com/office/mac/drawingml/2011/main" val="0"/>
            </a:ext>
          </a:extLst>
        </p:spPr>
        <p:txBody>
          <a:bodyPr/>
          <a:lstStyle>
            <a:lvl1pPr>
              <a:defRPr sz="1400">
                <a:solidFill>
                  <a:schemeClr val="tx1"/>
                </a:solidFill>
              </a:defRPr>
            </a:lvl1pPr>
          </a:lstStyle>
          <a:p>
            <a:pPr algn="r"/>
            <a:fld id="{F7021451-1387-4CA6-816F-3879F97B5CBC}" type="slidenum">
              <a:rPr b="0" lang="ru-RU"/>
              <a:t>15</a:t>
            </a:fld>
            <a:endParaRPr lang="ru-RU"/>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Эмблема УИ ГА">    </p:cNvPr>
          <p:cNvPicPr>
            <a:picLocks noChangeAspect="1"/>
          </p:cNvPicPr>
          <p:nvPr/>
        </p:nvPicPr>
        <p:blipFill>
          <a:blip r:embed="rId1"/>
          <a:stretch>
            <a:fillRect/>
          </a:stretch>
        </p:blipFill>
        <p:spPr>
          <a:xfrm>
            <a:off x="5547208" y="1097280"/>
            <a:ext cx="1097280" cy="1097280"/>
          </a:xfrm>
          <a:prstGeom prst="rect">
            <a:avLst/>
          </a:prstGeom>
        </p:spPr>
      </p:pic>
      <p:sp>
        <p:nvSpPr>
          <p:cNvPr id="3" name="Text 0"/>
          <p:cNvSpPr txBox="1"/>
          <p:nvPr/>
        </p:nvSpPr>
        <p:spPr>
          <a:xfrm>
            <a:off x="548640" y="2377440"/>
            <a:ext cx="11094415" cy="914400"/>
          </a:xfrm>
          <a:prstGeom prst="rect">
            <a:avLst/>
          </a:prstGeom>
          <a:noFill/>
          <a:ln/>
        </p:spPr>
        <p:txBody>
          <a:bodyPr wrap="square" lIns="635" tIns="635" rIns="635" bIns="635" rtlCol="0" anchor="ctr"/>
          <a:lstStyle/>
          <a:p>
            <a:pPr algn="ctr" indent="0" marL="0">
              <a:buNone/>
            </a:pPr>
            <a:r>
              <a:rPr lang="ru-RU" altLang="en-US" sz="3600" b="1" dirty="0">
                <a:solidFill>
                  <a:schemeClr val="tx1"/>
                </a:solidFill>
              </a:rPr>
              <a:t>Спасибо за внимание!</a:t>
            </a:r>
            <a:endParaRPr lang="ru-RU" sz="3600" dirty="0"/>
          </a:p>
        </p:txBody>
      </p:sp>
      <p:sp>
        <p:nvSpPr>
          <p:cNvPr id="4" name="Text 1"/>
          <p:cNvSpPr txBox="1"/>
          <p:nvPr/>
        </p:nvSpPr>
        <p:spPr>
          <a:xfrm>
            <a:off x="1097280" y="3383280"/>
            <a:ext cx="9994392" cy="914400"/>
          </a:xfrm>
          <a:prstGeom prst="rect">
            <a:avLst/>
          </a:prstGeom>
          <a:noFill/>
          <a:ln/>
        </p:spPr>
        <p:txBody>
          <a:bodyPr wrap="square" lIns="635" tIns="635" rIns="635" bIns="635" rtlCol="0" anchor="ctr"/>
          <a:lstStyle/>
          <a:p>
            <a:pPr algn="ctr" indent="0" marL="0">
              <a:buNone/>
            </a:pPr>
            <a:r>
              <a:rPr lang="ru-RU" altLang="en-US" sz="2000" dirty="0">
                <a:solidFill>
                  <a:schemeClr val="tx1"/>
                </a:solidFill>
              </a:rPr>
              <a:t>«Космическое облучение членов экипажей воздушных судов и их правовая защита в Российской Федерации»</a:t>
            </a:r>
            <a:endParaRPr lang="ru-RU" sz="2000" dirty="0"/>
          </a:p>
        </p:txBody>
      </p:sp>
    </p:spTree>
  </p:cSld>
  <p:clrMapOvr>
    <a:masterClrMapping/>
  </p:clrMapOvr>
</p:sld>
</file>

<file path=ppt/theme/theme1.xml><?xml version="1.0" encoding="utf-8"?>
<a:theme xmlns:a="http://schemas.openxmlformats.org/drawingml/2006/main" name="Office">
  <a:themeElements>
    <a:clrScheme name="Office">
      <a:dk1>
        <a:srgbClr val="000000"/>
      </a:dk1>
      <a:lt1>
        <a:srgbClr val="FFFFFF"/>
      </a:lt1>
      <a:dk2>
        <a:srgbClr val="000000"/>
      </a:dk2>
      <a:lt2>
        <a:srgbClr val="FFFFFF"/>
      </a:lt2>
      <a:accent1>
        <a:srgbClr val="000000"/>
      </a:accent1>
      <a:accent2>
        <a:srgbClr val="7F7F7F"/>
      </a:accent2>
      <a:accent3>
        <a:srgbClr val="C00000"/>
      </a:accent3>
      <a:accent4>
        <a:srgbClr val="BFBFBF"/>
      </a:accent4>
      <a:accent5>
        <a:srgbClr val="595959"/>
      </a:accent5>
      <a:accent6>
        <a:srgbClr val="D9D9D9"/>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УИ ГА</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Космическое облучение членов экипажей воздушных судов и их правовая защита в Российской Федерации</dc:title>
  <dc:subject>Воздушное право</dc:subject>
  <dc:creator>Шутов Н. Р., Ролдугин И. Д.</dc:creator>
  <cp:lastModifiedBy>Шутов Н. Р., Ролдугин И. Д.</cp:lastModifiedBy>
  <cp:revision>1</cp:revision>
  <dcterms:created xsi:type="dcterms:W3CDTF">2026-10-10T09:07:04Z</dcterms:created>
  <dcterms:modified xsi:type="dcterms:W3CDTF">2026-10-10T09:07:04Z</dcterms:modified>
</cp:coreProperties>
</file>